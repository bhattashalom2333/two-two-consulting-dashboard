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drawings/drawing1.xml" ContentType="application/vnd.openxmlformats-officedocument.drawingml.chartshap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256" r:id="rId2"/>
    <p:sldId id="267" r:id="rId3"/>
    <p:sldId id="257"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849"/>
  </p:normalViewPr>
  <p:slideViewPr>
    <p:cSldViewPr snapToGrid="0" snapToObjects="1">
      <p:cViewPr varScale="1">
        <p:scale>
          <a:sx n="103" d="100"/>
          <a:sy n="103" d="100"/>
        </p:scale>
        <p:origin x="14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Revenue growth</c:v>
          </c:tx>
          <c:spPr>
            <a:ln w="38100">
              <a:solidFill>
                <a:srgbClr val="F26B21"/>
              </a:solidFill>
              <a:prstDash val="solid"/>
            </a:ln>
          </c:spPr>
          <c:marker>
            <c:symbol val="circle"/>
            <c:size val="10"/>
            <c:spPr>
              <a:solidFill>
                <a:srgbClr val="F26B21"/>
              </a:solidFill>
            </c:spPr>
          </c:marker>
          <c:dLbls>
            <c:spPr>
              <a:noFill/>
              <a:ln>
                <a:noFill/>
              </a:ln>
              <a:effectLst/>
            </c:spPr>
            <c:txPr>
              <a:bodyPr anchorCtr="1"/>
              <a:lstStyle/>
              <a:p>
                <a:pPr>
                  <a:defRPr sz="900" b="1">
                    <a:solidFill>
                      <a:srgbClr val="20272E"/>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Data'!$A$2:$A$5</c:f>
              <c:numCache>
                <c:formatCode>General</c:formatCode>
                <c:ptCount val="4"/>
                <c:pt idx="0">
                  <c:v>2022</c:v>
                </c:pt>
                <c:pt idx="1">
                  <c:v>2023</c:v>
                </c:pt>
                <c:pt idx="2">
                  <c:v>2024</c:v>
                </c:pt>
                <c:pt idx="3">
                  <c:v>2025</c:v>
                </c:pt>
              </c:numCache>
            </c:numRef>
          </c:cat>
          <c:val>
            <c:numRef>
              <c:f>'Chart Data'!$B$2:$B$5</c:f>
              <c:numCache>
                <c:formatCode>0.0"%"</c:formatCode>
                <c:ptCount val="4"/>
                <c:pt idx="0">
                  <c:v>5.8</c:v>
                </c:pt>
                <c:pt idx="1">
                  <c:v>8.1</c:v>
                </c:pt>
                <c:pt idx="2">
                  <c:v>10.4</c:v>
                </c:pt>
                <c:pt idx="3">
                  <c:v>12.7</c:v>
                </c:pt>
              </c:numCache>
            </c:numRef>
          </c:val>
          <c:smooth val="1"/>
          <c:extLst>
            <c:ext xmlns:c16="http://schemas.microsoft.com/office/drawing/2014/chart" uri="{C3380CC4-5D6E-409C-BE32-E72D297353CC}">
              <c16:uniqueId val="{00000000-F100-2F41-917D-B1E756BE62CE}"/>
            </c:ext>
          </c:extLst>
        </c:ser>
        <c:ser>
          <c:idx val="1"/>
          <c:order val="1"/>
          <c:tx>
            <c:v>Profit growth</c:v>
          </c:tx>
          <c:spPr>
            <a:ln w="38100">
              <a:solidFill>
                <a:srgbClr val="3B4248"/>
              </a:solidFill>
              <a:prstDash val="solid"/>
            </a:ln>
          </c:spPr>
          <c:marker>
            <c:symbol val="circle"/>
            <c:size val="10"/>
            <c:spPr>
              <a:solidFill>
                <a:srgbClr val="3B4248"/>
              </a:solidFill>
            </c:spPr>
          </c:marker>
          <c:dLbls>
            <c:spPr>
              <a:noFill/>
              <a:ln>
                <a:noFill/>
              </a:ln>
              <a:effectLst/>
            </c:spPr>
            <c:txPr>
              <a:bodyPr anchorCtr="1"/>
              <a:lstStyle/>
              <a:p>
                <a:pPr>
                  <a:defRPr sz="900" b="1">
                    <a:solidFill>
                      <a:srgbClr val="20272E"/>
                    </a:solidFill>
                    <a:latin typeface="Arial"/>
                    <a:ea typeface="Arial"/>
                    <a:cs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Data'!$C$2:$C$5</c:f>
              <c:numCache>
                <c:formatCode>General</c:formatCode>
                <c:ptCount val="4"/>
                <c:pt idx="0">
                  <c:v>2022</c:v>
                </c:pt>
                <c:pt idx="1">
                  <c:v>2023</c:v>
                </c:pt>
                <c:pt idx="2">
                  <c:v>2024</c:v>
                </c:pt>
                <c:pt idx="3">
                  <c:v>2025</c:v>
                </c:pt>
              </c:numCache>
            </c:numRef>
          </c:cat>
          <c:val>
            <c:numRef>
              <c:f>'Chart Data'!$D$2:$D$5</c:f>
              <c:numCache>
                <c:formatCode>0.0"%"</c:formatCode>
                <c:ptCount val="4"/>
                <c:pt idx="0">
                  <c:v>3.2</c:v>
                </c:pt>
                <c:pt idx="1">
                  <c:v>0.5</c:v>
                </c:pt>
                <c:pt idx="2">
                  <c:v>-2.1</c:v>
                </c:pt>
                <c:pt idx="3">
                  <c:v>-4.8</c:v>
                </c:pt>
              </c:numCache>
            </c:numRef>
          </c:val>
          <c:smooth val="1"/>
          <c:extLst>
            <c:ext xmlns:c16="http://schemas.microsoft.com/office/drawing/2014/chart" uri="{C3380CC4-5D6E-409C-BE32-E72D297353CC}">
              <c16:uniqueId val="{00000001-F100-2F41-917D-B1E756BE62CE}"/>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low"/>
        <c:spPr>
          <a:ln w="9525">
            <a:solidFill>
              <a:srgbClr val="AAB2B8"/>
            </a:solidFill>
            <a:prstDash val="solid"/>
          </a:ln>
        </c:spPr>
        <c:txPr>
          <a:bodyPr anchorCtr="1"/>
          <a:lstStyle/>
          <a:p>
            <a:pPr>
              <a:defRPr sz="900">
                <a:solidFill>
                  <a:srgbClr val="6571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6"/>
          <c:min val="-8"/>
        </c:scaling>
        <c:delete val="0"/>
        <c:axPos val="l"/>
        <c:majorGridlines>
          <c:spPr>
            <a:ln w="9525">
              <a:solidFill>
                <a:srgbClr val="D7DDE1"/>
              </a:solidFill>
              <a:prstDash val="solid"/>
            </a:ln>
          </c:spPr>
        </c:majorGridlines>
        <c:numFmt formatCode="0.0&quot;%&quot;" sourceLinked="1"/>
        <c:majorTickMark val="none"/>
        <c:minorTickMark val="none"/>
        <c:tickLblPos val="nextTo"/>
        <c:spPr>
          <a:ln w="9525">
            <a:solidFill>
              <a:srgbClr val="AAB2B8"/>
            </a:solidFill>
            <a:prstDash val="solid"/>
          </a:ln>
        </c:spPr>
        <c:txPr>
          <a:bodyPr anchorCtr="1"/>
          <a:lstStyle/>
          <a:p>
            <a:pPr>
              <a:defRPr sz="900">
                <a:solidFill>
                  <a:srgbClr val="65717A"/>
                </a:solidFill>
                <a:latin typeface="Arial"/>
                <a:ea typeface="Arial"/>
                <a:cs typeface="Arial"/>
              </a:defRPr>
            </a:pPr>
            <a:endParaRPr lang="en-US"/>
          </a:p>
        </c:txPr>
        <c:crossAx val="48650112"/>
        <c:crosses val="autoZero"/>
        <c:crossBetween val="between"/>
        <c:majorUnit val="4"/>
      </c:valAx>
      <c:spPr>
        <a:noFill/>
        <a:ln w="0">
          <a:noFill/>
          <a:prstDash val="solid"/>
        </a:ln>
      </c:spPr>
    </c:plotArea>
    <c:legend>
      <c:legendPos val="b"/>
      <c:overlay val="0"/>
      <c:txPr>
        <a:bodyPr anchorCtr="1"/>
        <a:lstStyle/>
        <a:p>
          <a:pPr>
            <a:defRPr sz="975">
              <a:solidFill>
                <a:srgbClr val="65717A"/>
              </a:solidFill>
              <a:latin typeface="Arial"/>
              <a:ea typeface="Arial"/>
              <a:cs typeface="Arial"/>
            </a:defRPr>
          </a:pPr>
          <a:endParaRPr lang="en-US"/>
        </a:p>
      </c:txPr>
    </c:legend>
    <c:plotVisOnly val="1"/>
    <c:dispBlanksAs val="zero"/>
    <c:showDLblsOverMax val="1"/>
  </c:chart>
  <c:spPr>
    <a:no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947164213169005E-2"/>
          <c:y val="4.4358839760414562E-2"/>
          <c:w val="0.89613496139069571"/>
          <c:h val="0.92478632478632483"/>
        </c:manualLayout>
      </c:layout>
      <c:barChart>
        <c:barDir val="col"/>
        <c:grouping val="clustered"/>
        <c:varyColors val="0"/>
        <c:ser>
          <c:idx val="0"/>
          <c:order val="0"/>
          <c:tx>
            <c:v>Profit margin</c:v>
          </c:tx>
          <c:spPr>
            <a:solidFill>
              <a:srgbClr val="AAB2B8"/>
            </a:solidFill>
          </c:spPr>
          <c:invertIfNegative val="0"/>
          <c:dPt>
            <c:idx val="0"/>
            <c:invertIfNegative val="0"/>
            <c:bubble3D val="0"/>
            <c:spPr>
              <a:solidFill>
                <a:srgbClr val="2D7A58"/>
              </a:solidFill>
            </c:spPr>
            <c:extLst>
              <c:ext xmlns:c16="http://schemas.microsoft.com/office/drawing/2014/chart" uri="{C3380CC4-5D6E-409C-BE32-E72D297353CC}">
                <c16:uniqueId val="{00000001-EC11-FD42-B913-84DAD026AFC3}"/>
              </c:ext>
            </c:extLst>
          </c:dPt>
          <c:dPt>
            <c:idx val="1"/>
            <c:invertIfNegative val="0"/>
            <c:bubble3D val="0"/>
            <c:spPr>
              <a:solidFill>
                <a:srgbClr val="F26B21"/>
              </a:solidFill>
            </c:spPr>
            <c:extLst>
              <c:ext xmlns:c16="http://schemas.microsoft.com/office/drawing/2014/chart" uri="{C3380CC4-5D6E-409C-BE32-E72D297353CC}">
                <c16:uniqueId val="{00000003-EC11-FD42-B913-84DAD026AFC3}"/>
              </c:ext>
            </c:extLst>
          </c:dPt>
          <c:dPt>
            <c:idx val="2"/>
            <c:invertIfNegative val="0"/>
            <c:bubble3D val="0"/>
            <c:spPr>
              <a:solidFill>
                <a:srgbClr val="E7A66F"/>
              </a:solidFill>
            </c:spPr>
            <c:extLst>
              <c:ext xmlns:c16="http://schemas.microsoft.com/office/drawing/2014/chart" uri="{C3380CC4-5D6E-409C-BE32-E72D297353CC}">
                <c16:uniqueId val="{00000005-EC11-FD42-B913-84DAD026AFC3}"/>
              </c:ext>
            </c:extLst>
          </c:dPt>
          <c:dPt>
            <c:idx val="3"/>
            <c:invertIfNegative val="0"/>
            <c:bubble3D val="0"/>
            <c:spPr>
              <a:solidFill>
                <a:srgbClr val="B6382F"/>
              </a:solidFill>
            </c:spPr>
            <c:extLst>
              <c:ext xmlns:c16="http://schemas.microsoft.com/office/drawing/2014/chart" uri="{C3380CC4-5D6E-409C-BE32-E72D297353CC}">
                <c16:uniqueId val="{00000007-EC11-FD42-B913-84DAD026AFC3}"/>
              </c:ext>
            </c:extLst>
          </c:dPt>
          <c:dPt>
            <c:idx val="4"/>
            <c:invertIfNegative val="0"/>
            <c:bubble3D val="0"/>
            <c:spPr>
              <a:solidFill>
                <a:srgbClr val="7E2621"/>
              </a:solidFill>
            </c:spPr>
            <c:extLst>
              <c:ext xmlns:c16="http://schemas.microsoft.com/office/drawing/2014/chart" uri="{C3380CC4-5D6E-409C-BE32-E72D297353CC}">
                <c16:uniqueId val="{00000009-EC11-FD42-B913-84DAD026AFC3}"/>
              </c:ext>
            </c:extLst>
          </c:dPt>
          <c:dLbls>
            <c:spPr>
              <a:noFill/>
              <a:ln>
                <a:noFill/>
              </a:ln>
              <a:effectLst/>
            </c:spPr>
            <c:txPr>
              <a:bodyPr anchorCtr="1"/>
              <a:lstStyle/>
              <a:p>
                <a:pPr>
                  <a:defRPr sz="900" b="1">
                    <a:solidFill>
                      <a:srgbClr val="20272E"/>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No promotion</c:v>
                </c:pt>
                <c:pt idx="1">
                  <c:v>10% off</c:v>
                </c:pt>
                <c:pt idx="2">
                  <c:v>20% off</c:v>
                </c:pt>
                <c:pt idx="3">
                  <c:v>BOGO</c:v>
                </c:pt>
                <c:pt idx="4">
                  <c:v>Clearance</c:v>
                </c:pt>
              </c:strCache>
            </c:strRef>
          </c:cat>
          <c:val>
            <c:numRef>
              <c:f>'Chart Data'!$B$2:$B$6</c:f>
              <c:numCache>
                <c:formatCode>0.0%</c:formatCode>
                <c:ptCount val="5"/>
                <c:pt idx="0">
                  <c:v>0.23403099999999999</c:v>
                </c:pt>
                <c:pt idx="1">
                  <c:v>0.16053899999999999</c:v>
                </c:pt>
                <c:pt idx="2">
                  <c:v>5.0673999999999997E-2</c:v>
                </c:pt>
                <c:pt idx="3">
                  <c:v>-0.163961</c:v>
                </c:pt>
                <c:pt idx="4">
                  <c:v>-0.35644999999999999</c:v>
                </c:pt>
              </c:numCache>
            </c:numRef>
          </c:val>
          <c:extLst>
            <c:ext xmlns:c16="http://schemas.microsoft.com/office/drawing/2014/chart" uri="{C3380CC4-5D6E-409C-BE32-E72D297353CC}">
              <c16:uniqueId val="{0000000A-EC11-FD42-B913-84DAD026AFC3}"/>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0.3"/>
          <c:min val="-0.45"/>
        </c:scaling>
        <c:delete val="0"/>
        <c:axPos val="l"/>
        <c:majorGridlines>
          <c:spPr>
            <a:ln w="9525">
              <a:solidFill>
                <a:srgbClr val="D7DDE1"/>
              </a:solidFill>
              <a:prstDash val="solid"/>
            </a:ln>
          </c:spPr>
        </c:majorGridlines>
        <c:numFmt formatCode="0.0%" sourceLinked="1"/>
        <c:majorTickMark val="none"/>
        <c:minorTickMark val="none"/>
        <c:tickLblPos val="nextTo"/>
        <c:spPr>
          <a:ln w="9525">
            <a:solidFill>
              <a:srgbClr val="AAB2B8"/>
            </a:solidFill>
            <a:prstDash val="solid"/>
          </a:ln>
        </c:spPr>
        <c:txPr>
          <a:bodyPr anchorCtr="1"/>
          <a:lstStyle/>
          <a:p>
            <a:pPr>
              <a:defRPr sz="900">
                <a:solidFill>
                  <a:srgbClr val="65717A"/>
                </a:solidFill>
                <a:latin typeface="Arial"/>
                <a:ea typeface="Arial"/>
                <a:cs typeface="Arial"/>
              </a:defRPr>
            </a:pPr>
            <a:endParaRPr lang="en-US"/>
          </a:p>
        </c:txPr>
        <c:crossAx val="48650112"/>
        <c:crosses val="autoZero"/>
        <c:crossBetween val="between"/>
        <c:majorUnit val="0.15"/>
      </c:valAx>
      <c:spPr>
        <a:noFill/>
        <a:ln w="0">
          <a:noFill/>
          <a:prstDash val="solid"/>
        </a:ln>
      </c:spPr>
    </c:plotArea>
    <c:plotVisOnly val="1"/>
    <c:dispBlanksAs val="zero"/>
    <c:showDLblsOverMax val="1"/>
  </c:chart>
  <c:spPr>
    <a:noFill/>
    <a:ln w="0">
      <a:noFill/>
      <a:prstDash val="solid"/>
    </a:ln>
  </c:sp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0.11966</cdr:x>
      <cdr:y>0.44952</cdr:y>
    </cdr:from>
    <cdr:to>
      <cdr:x>0.20427</cdr:x>
      <cdr:y>0.47315</cdr:y>
    </cdr:to>
    <cdr:sp macro="" textlink="">
      <cdr:nvSpPr>
        <cdr:cNvPr id="2" name="TextBox 1">
          <a:extLst xmlns:a="http://schemas.openxmlformats.org/drawingml/2006/main">
            <a:ext uri="{FF2B5EF4-FFF2-40B4-BE49-F238E27FC236}">
              <a16:creationId xmlns:a16="http://schemas.microsoft.com/office/drawing/2014/main" id="{36BF8827-F69F-3AD5-59A7-9A45D655D93E}"/>
            </a:ext>
          </a:extLst>
        </cdr:cNvPr>
        <cdr:cNvSpPr txBox="1"/>
      </cdr:nvSpPr>
      <cdr:spPr>
        <a:xfrm xmlns:a="http://schemas.openxmlformats.org/drawingml/2006/main">
          <a:off x="786456" y="1669841"/>
          <a:ext cx="556054" cy="8778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kern="1200"/>
        </a:p>
      </cdr:txBody>
    </cdr:sp>
  </cdr:relSizeAnchor>
  <cdr:relSizeAnchor xmlns:cdr="http://schemas.openxmlformats.org/drawingml/2006/chartDrawing">
    <cdr:from>
      <cdr:x>0.09334</cdr:x>
      <cdr:y>0.42186</cdr:y>
    </cdr:from>
    <cdr:to>
      <cdr:x>0.25127</cdr:x>
      <cdr:y>0.47509</cdr:y>
    </cdr:to>
    <cdr:sp macro="" textlink="">
      <cdr:nvSpPr>
        <cdr:cNvPr id="3" name="TextBox 2">
          <a:extLst xmlns:a="http://schemas.openxmlformats.org/drawingml/2006/main">
            <a:ext uri="{FF2B5EF4-FFF2-40B4-BE49-F238E27FC236}">
              <a16:creationId xmlns:a16="http://schemas.microsoft.com/office/drawing/2014/main" id="{B1B8CDD3-CB55-A107-63E6-8798A900207F}"/>
            </a:ext>
          </a:extLst>
        </cdr:cNvPr>
        <cdr:cNvSpPr txBox="1"/>
      </cdr:nvSpPr>
      <cdr:spPr>
        <a:xfrm xmlns:a="http://schemas.openxmlformats.org/drawingml/2006/main">
          <a:off x="613461" y="1567121"/>
          <a:ext cx="1037967" cy="19770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b="1" kern="1200"/>
            <a:t>No Promotion</a:t>
          </a:r>
        </a:p>
      </cdr:txBody>
    </cdr:sp>
  </cdr:relSizeAnchor>
  <cdr:relSizeAnchor xmlns:cdr="http://schemas.openxmlformats.org/drawingml/2006/chartDrawing">
    <cdr:from>
      <cdr:x>0.8197</cdr:x>
      <cdr:y>0.33808</cdr:y>
    </cdr:from>
    <cdr:to>
      <cdr:x>0.97763</cdr:x>
      <cdr:y>0.3913</cdr:y>
    </cdr:to>
    <cdr:sp macro="" textlink="">
      <cdr:nvSpPr>
        <cdr:cNvPr id="4" name="TextBox 1">
          <a:extLst xmlns:a="http://schemas.openxmlformats.org/drawingml/2006/main">
            <a:ext uri="{FF2B5EF4-FFF2-40B4-BE49-F238E27FC236}">
              <a16:creationId xmlns:a16="http://schemas.microsoft.com/office/drawing/2014/main" id="{7E2E081C-687C-0411-37CF-FA6C424F4873}"/>
            </a:ext>
          </a:extLst>
        </cdr:cNvPr>
        <cdr:cNvSpPr txBox="1"/>
      </cdr:nvSpPr>
      <cdr:spPr>
        <a:xfrm xmlns:a="http://schemas.openxmlformats.org/drawingml/2006/main">
          <a:off x="5387288" y="1255890"/>
          <a:ext cx="1037967" cy="19770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b="1" kern="1200"/>
            <a:t>Clearance</a:t>
          </a:r>
          <a:endParaRPr lang="en-US" sz="1100" b="1" kern="1200"/>
        </a:p>
      </cdr:txBody>
    </cdr:sp>
  </cdr:relSizeAnchor>
  <cdr:relSizeAnchor xmlns:cdr="http://schemas.openxmlformats.org/drawingml/2006/chartDrawing">
    <cdr:from>
      <cdr:x>0.65732</cdr:x>
      <cdr:y>0.33808</cdr:y>
    </cdr:from>
    <cdr:to>
      <cdr:x>0.81525</cdr:x>
      <cdr:y>0.3913</cdr:y>
    </cdr:to>
    <cdr:sp macro="" textlink="">
      <cdr:nvSpPr>
        <cdr:cNvPr id="5" name="TextBox 1">
          <a:extLst xmlns:a="http://schemas.openxmlformats.org/drawingml/2006/main">
            <a:ext uri="{FF2B5EF4-FFF2-40B4-BE49-F238E27FC236}">
              <a16:creationId xmlns:a16="http://schemas.microsoft.com/office/drawing/2014/main" id="{7E2E081C-687C-0411-37CF-FA6C424F4873}"/>
            </a:ext>
          </a:extLst>
        </cdr:cNvPr>
        <cdr:cNvSpPr txBox="1"/>
      </cdr:nvSpPr>
      <cdr:spPr>
        <a:xfrm xmlns:a="http://schemas.openxmlformats.org/drawingml/2006/main">
          <a:off x="4320069" y="1255890"/>
          <a:ext cx="1037967" cy="19770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b="1" kern="1200"/>
            <a:t>BOGO</a:t>
          </a:r>
          <a:endParaRPr lang="en-US" sz="1100" b="1" kern="1200"/>
        </a:p>
      </cdr:txBody>
    </cdr:sp>
  </cdr:relSizeAnchor>
  <cdr:relSizeAnchor xmlns:cdr="http://schemas.openxmlformats.org/drawingml/2006/chartDrawing">
    <cdr:from>
      <cdr:x>0.46985</cdr:x>
      <cdr:y>0.41992</cdr:y>
    </cdr:from>
    <cdr:to>
      <cdr:x>0.62779</cdr:x>
      <cdr:y>0.47315</cdr:y>
    </cdr:to>
    <cdr:sp macro="" textlink="">
      <cdr:nvSpPr>
        <cdr:cNvPr id="6" name="TextBox 1">
          <a:extLst xmlns:a="http://schemas.openxmlformats.org/drawingml/2006/main">
            <a:ext uri="{FF2B5EF4-FFF2-40B4-BE49-F238E27FC236}">
              <a16:creationId xmlns:a16="http://schemas.microsoft.com/office/drawing/2014/main" id="{7E2E081C-687C-0411-37CF-FA6C424F4873}"/>
            </a:ext>
          </a:extLst>
        </cdr:cNvPr>
        <cdr:cNvSpPr txBox="1"/>
      </cdr:nvSpPr>
      <cdr:spPr>
        <a:xfrm xmlns:a="http://schemas.openxmlformats.org/drawingml/2006/main">
          <a:off x="3087998" y="1559913"/>
          <a:ext cx="1037967" cy="19770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b="1" kern="1200"/>
            <a:t>20% Off</a:t>
          </a:r>
          <a:endParaRPr lang="en-US" sz="1100" b="1" kern="1200"/>
        </a:p>
      </cdr:txBody>
    </cdr:sp>
  </cdr:relSizeAnchor>
  <cdr:relSizeAnchor xmlns:cdr="http://schemas.openxmlformats.org/drawingml/2006/chartDrawing">
    <cdr:from>
      <cdr:x>0.28344</cdr:x>
      <cdr:y>0.41992</cdr:y>
    </cdr:from>
    <cdr:to>
      <cdr:x>0.44138</cdr:x>
      <cdr:y>0.47315</cdr:y>
    </cdr:to>
    <cdr:sp macro="" textlink="">
      <cdr:nvSpPr>
        <cdr:cNvPr id="7" name="TextBox 1">
          <a:extLst xmlns:a="http://schemas.openxmlformats.org/drawingml/2006/main">
            <a:ext uri="{FF2B5EF4-FFF2-40B4-BE49-F238E27FC236}">
              <a16:creationId xmlns:a16="http://schemas.microsoft.com/office/drawing/2014/main" id="{7E2E081C-687C-0411-37CF-FA6C424F4873}"/>
            </a:ext>
          </a:extLst>
        </cdr:cNvPr>
        <cdr:cNvSpPr txBox="1"/>
      </cdr:nvSpPr>
      <cdr:spPr>
        <a:xfrm xmlns:a="http://schemas.openxmlformats.org/drawingml/2006/main">
          <a:off x="1862868" y="1559913"/>
          <a:ext cx="1037967" cy="19770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b="1" kern="1200"/>
            <a:t>10</a:t>
          </a:r>
          <a:r>
            <a:rPr lang="en-US" kern="1200"/>
            <a:t> </a:t>
          </a:r>
          <a:r>
            <a:rPr lang="en-US" b="1" kern="1200"/>
            <a:t>%</a:t>
          </a:r>
          <a:r>
            <a:rPr lang="en-US" kern="1200"/>
            <a:t> </a:t>
          </a:r>
          <a:r>
            <a:rPr lang="en-US" b="1" kern="1200"/>
            <a:t>Off</a:t>
          </a:r>
          <a:endParaRPr lang="en-US" sz="1100" b="1"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Two Two Consulting. We will start with the outcome HRG wants, demonstrate the dashboard, then walk through the evidence, the action plan, and the three decisions required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is the central problem. Revenue growth rose from 5.8 percent in 2022 to 12.7 percent in 2025. Profit growth moved the other way, from positive 3.2 percent to negative 4.8 percent. The 2025 gap is 17.5 percentage points. Our objective is not to slow growth. It is to make more of that growth profitable by correcting promotion economics, focusing retention spending, and addressing operating risk.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base-case destination is 12 million dollars in verified net annual profit uplift. The planning bridge starts with 18 million dollars in gross benefit and a 6 million dollar implementation envelope. Finance records value only after the evidence clears the agreed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dashboard baseline is 388.4 million dollars in revenue, 38.4 million dollars in profit, and a 9.9 percent margin. The base case projects 50.4 million dollars in profit at a 13 percent margin. More than half of the retail observations are negative: 8,171 of 15,000.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HRG has seven problem areas. Q1 and Q2 focus on promotion margin, loss-making sales, churn risk, and customer value because those problems support immediate owners and controlled tests. Finance reconciles the operating baseline in Q2 before supply chain and logistics begin in Q3.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dashboard assigns 4.2 million dollars to promotion guardrails, 3.8 million dollars to loss-pocket ownership, 2.5 million dollars to the Protect now pilot, and 1.5 million dollars to the next 15 </a:t>
            </a:r>
            <a:r>
              <a:rPr lang="en-US"/>
              <a:t>Loss Making Combinations</a:t>
            </a:r>
            <a:r>
              <a:t>s. Together, the four recommended actions produce the 12 million dollar planning case.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promotion benchmarks match the dashboard: no promotion delivers a 23.4 percent margin, a 10 percent offer delivers 16.1 percent, BOGO loses 16.4 percent, and Clearance loses 35.6 percent. HRG should require at least 5 percent margin and 50 percent campaign return before launch.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dashboard identifies 1,408 Protect now customers with 61.7 percent average modeled risk. Average customer lifetime value is 5,062 dollars, while the top quartile holds 55 percent of total value. The pilot uses a 15 percent untreated holdout and a 90-day retained-value readout.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downside case adds 5.5 million dollars and reaches 43.9 million dollars in profit at an 11.3 percent margin. The base case adds 12 million dollars and reaches 50.4 million dollars at 13 percent. The upside case adds 17 million dollars and reaches 55.4 million dollars at 14.3 percent.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plan runs for 180 days. HRG controls leakage, runs two narrow pilots, proves incremental value, and scales only the rules that clear the evidence threshold. During the prove phase, the team closes the next 15 </a:t>
            </a:r>
            <a:r>
              <a:rPr lang="en-US"/>
              <a:t>Loss Making Combinations</a:t>
            </a:r>
            <a:r>
              <a:t>s and measures retained customer value against the holdout.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need three decisions today: approve the promotion guardrails, name one executive value owner, and fund the dashboard and two controlled pilots within the 6 million dollar envelope. The Q3 operating case returns after Finance completes the reconciliation.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D900E-ECD2-433E-B81F-442687CFA176}"/>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61BD4869-9B3E-440D-AF86-18C1CBBEB51D}"/>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219B00F-66FF-49CC-AA85-BF19E3A80DA5}"/>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3FFE179-6F9D-4617-85EE-299A058C604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7D55571-EB8D-4056-B86B-4098F0821C8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EA962-1233-47C8-837D-F7E2E9CD1E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8750668-FC77-4074-A0F1-2028A29719B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7DC51FC-B662-43E5-8A7E-5CCCF1030EA5}"/>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E5D8B3A-4DBA-4B2A-8A6C-4132C713964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95D6CFD-7FD5-4ADC-A704-755DF2004D9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1EBF-BBB4-4DC1-9D59-277F9FDB40B4}"/>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755BBBB5-7369-43CF-BABD-30C6339E48C4}"/>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59A260B3-5175-4EDA-9D34-0D1D2739AC1D}"/>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135549EB-F39D-4139-8017-0F0E8C5F027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98F087-0CAE-4349-BB40-53EB427311C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8F7F4-3318-4E4E-B394-6678F18E468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2288C36-556A-4454-A11C-CE4F9DDFA63B}"/>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EAC4BFE1-38CC-4D86-8D58-EF4EAA9E2A08}"/>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B14D5B48-A8D5-47E6-98FF-B48168A592DF}"/>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0B3CD64F-407F-4FDF-8083-D24E4885096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3E2763E-AA0F-42FD-9A98-E0F677CF3B6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71E4-571F-48FD-86D9-0AC1F3F2757F}"/>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FF219F39-B298-4390-BE75-AE1DE529988B}"/>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D8854A5-4F75-4CFB-BE84-26854AE1A13A}"/>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F873AF90-1583-4F5B-914D-76C2E4B4681F}"/>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520B309B-76D3-498C-B6C4-66B79AD0E5C1}"/>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8CC2D97B-4CFE-4871-AA69-86E5E53B6D4A}"/>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A332D607-960E-47BC-92A2-A42E551C4561}"/>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EC697106-2922-4F77-8C9A-37E8F33E1D6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B100E-7D11-4CB3-9B1F-5BEA51B4ED5A}"/>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90224C0E-952A-4665-843A-9C2E002575A4}"/>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1849BBA3-F867-469C-A8D0-19D2E1490D6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6E2C7643-09BE-4FF1-A2C3-CDB647AA56A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2732CE-D01F-4B41-B7DE-2F1E597A01DC}"/>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40772CFD-30A0-4F7C-B31A-569AA7BE9BCD}"/>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E24543A1-B11D-459F-99A4-97F1DCDA05A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31861-9ED2-41E3-89E2-175E7EBD68DA}"/>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9C8E8181-FBDB-4413-BB70-BF07854D0F71}"/>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E5D8778D-9C83-43DB-9E79-65A832071811}"/>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FBFCCA38-F26A-4E9F-9239-832A8A52222D}"/>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75F89DBD-AE18-4B11-BFC4-C94EE3F0FE4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3D103DA-48E6-4DD5-A33B-A9F73ACFE189}"/>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C425C-D3C0-4975-BC43-3B5E3CB78BF3}"/>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6E1C89F9-D94F-4963-B527-53B7A84DC43A}"/>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79FBF938-F7A9-4116-899B-4B634AA56B31}"/>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1EB5933-D50D-4321-AC8A-2AFD572F8B03}"/>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020DB4DF-DCB7-499C-8107-4855435D91D7}"/>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C30CF6C-7341-4383-ABFD-805C2EED78A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DD65-2E40-460A-92B3-F338763103C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8D1613C-3017-43D8-922B-E6FFC70DCFA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27D4D5C-06B4-4B5E-BAD2-BAC93ACD2238}"/>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07FB2AFD-3F3F-4600-9FE5-1AFAD07A036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48779DD-70FC-4592-B557-FAADE4D5375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8599FD-430E-4C1B-8FAD-4E39059ED692}"/>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D3D6342-FCE3-4387-BEC3-7691E0708A91}"/>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897957F-3E3B-4BBF-B4BA-BB30F462D07C}"/>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EA58273-D34C-4B40-90A0-F0BA76457E7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84550A4-E735-477B-AC72-3FBA5B238792}"/>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6613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99A41D-99F3-42F9-873C-B96784C77970}"/>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7FF8BFA2-D5D8-41D4-9C86-8BF1D535BBF5}"/>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30E7937-A811-4C44-BC49-2C2B6645C6F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4D3B7CBD-0959-4D21-A038-9186464D8625}"/>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0962906B-781D-400D-9ECB-F4836F32A55B}"/>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9B519F-236A-4C94-AAD8-4C6C7DC5C212}"/>
              </a:ext>
            </a:extLst>
          </p:cNvPr>
          <p:cNvSpPr>
            <a:spLocks noGrp="1"/>
          </p:cNvSpPr>
          <p:nvPr/>
        </p:nvSpPr>
        <p:spPr>
          <a:xfrm>
            <a:off x="533400" y="5695950"/>
            <a:ext cx="11125200" cy="6286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E89788E5-5BEA-4B22-80E8-76EC3D22EFDF}"/>
              </a:ext>
            </a:extLst>
          </p:cNvPr>
          <p:cNvSpPr>
            <a:spLocks noGrp="1"/>
          </p:cNvSpPr>
          <p:nvPr/>
        </p:nvSpPr>
        <p:spPr>
          <a:xfrm>
            <a:off x="533400" y="5695950"/>
            <a:ext cx="11125200" cy="952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A44105B4-E27D-402B-A369-93E22A82A6F6}"/>
              </a:ext>
            </a:extLst>
          </p:cNvPr>
          <p:cNvSpPr>
            <a:spLocks noGrp="1"/>
          </p:cNvSpPr>
          <p:nvPr/>
        </p:nvSpPr>
        <p:spPr>
          <a:xfrm>
            <a:off x="533400" y="533400"/>
            <a:ext cx="438150" cy="333375"/>
          </a:xfrm>
          <a:prstGeom prst="roundRect">
            <a:avLst>
              <a:gd name="adj" fmla="val 17142"/>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42761-2F8A-4B73-948A-16794AFCE77D}"/>
              </a:ext>
            </a:extLst>
          </p:cNvPr>
          <p:cNvSpPr>
            <a:spLocks noGrp="1"/>
          </p:cNvSpPr>
          <p:nvPr/>
        </p:nvSpPr>
        <p:spPr>
          <a:xfrm>
            <a:off x="9477375" y="609600"/>
            <a:ext cx="2714625"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94A3B8"/>
                </a:solidFill>
                <a:latin typeface="Arial"/>
                <a:ea typeface="Arial"/>
                <a:cs typeface="Arial"/>
              </a:rPr>
              <a:t>Board of Directors Presentation</a:t>
            </a:r>
          </a:p>
        </p:txBody>
      </p:sp>
      <p:sp>
        <p:nvSpPr>
          <p:cNvPr id="6" name="TextBox 5">
            <a:extLst>
              <a:ext uri="{FF2B5EF4-FFF2-40B4-BE49-F238E27FC236}">
                <a16:creationId xmlns:a16="http://schemas.microsoft.com/office/drawing/2014/main" id="{3C0ECE49-7FB5-4F2F-B253-719626ECE421}"/>
              </a:ext>
            </a:extLst>
          </p:cNvPr>
          <p:cNvSpPr>
            <a:spLocks noGrp="1"/>
          </p:cNvSpPr>
          <p:nvPr/>
        </p:nvSpPr>
        <p:spPr>
          <a:xfrm>
            <a:off x="533400" y="2149822"/>
            <a:ext cx="10953750"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HORIZON RETAIL GROUP (HRG)</a:t>
            </a:r>
          </a:p>
        </p:txBody>
      </p:sp>
      <p:sp>
        <p:nvSpPr>
          <p:cNvPr id="7" name="TextBox 6">
            <a:extLst>
              <a:ext uri="{FF2B5EF4-FFF2-40B4-BE49-F238E27FC236}">
                <a16:creationId xmlns:a16="http://schemas.microsoft.com/office/drawing/2014/main" id="{83CE11A9-557D-43EA-830D-B53E05CA380E}"/>
              </a:ext>
            </a:extLst>
          </p:cNvPr>
          <p:cNvSpPr>
            <a:spLocks noGrp="1"/>
          </p:cNvSpPr>
          <p:nvPr/>
        </p:nvSpPr>
        <p:spPr>
          <a:xfrm>
            <a:off x="533400" y="2473672"/>
            <a:ext cx="9301162" cy="1139130"/>
          </a:xfrm>
          <a:prstGeom prst="rect">
            <a:avLst/>
          </a:prstGeom>
          <a:noFill/>
        </p:spPr>
        <p:txBody>
          <a:bodyPr wrap="square" lIns="0" tIns="0" rIns="0" bIns="0" anchor="t">
            <a:spAutoFit/>
          </a:bodyPr>
          <a:lstStyle/>
          <a:p>
            <a:pPr algn="l">
              <a:lnSpc>
                <a:spcPts val="4484"/>
              </a:lnSpc>
              <a:buNone/>
              <a:defRPr>
                <a:latin typeface="Arial"/>
                <a:ea typeface="Arial"/>
                <a:cs typeface="Arial"/>
              </a:defRPr>
            </a:pPr>
            <a:r>
              <a:rPr sz="3900" b="1" i="0" u="none">
                <a:solidFill>
                  <a:srgbClr val="FFFFFF"/>
                </a:solidFill>
                <a:latin typeface="Arial"/>
                <a:ea typeface="Arial"/>
                <a:cs typeface="Arial"/>
              </a:rPr>
              <a:t>Turning Growth into Profitable Customer Value</a:t>
            </a:r>
          </a:p>
        </p:txBody>
      </p:sp>
      <p:sp>
        <p:nvSpPr>
          <p:cNvPr id="8" name="TextBox 7">
            <a:extLst>
              <a:ext uri="{FF2B5EF4-FFF2-40B4-BE49-F238E27FC236}">
                <a16:creationId xmlns:a16="http://schemas.microsoft.com/office/drawing/2014/main" id="{BFBC3DB9-F60E-4E02-9C3A-A5F67199C547}"/>
              </a:ext>
            </a:extLst>
          </p:cNvPr>
          <p:cNvSpPr>
            <a:spLocks noGrp="1"/>
          </p:cNvSpPr>
          <p:nvPr/>
        </p:nvSpPr>
        <p:spPr>
          <a:xfrm>
            <a:off x="533400" y="3841402"/>
            <a:ext cx="7334250" cy="571500"/>
          </a:xfrm>
          <a:prstGeom prst="rect">
            <a:avLst/>
          </a:prstGeom>
          <a:noFill/>
        </p:spPr>
        <p:txBody>
          <a:bodyPr wrap="square" lIns="0" tIns="0" rIns="0" bIns="0" anchor="t">
            <a:spAutoFit/>
          </a:bodyPr>
          <a:lstStyle/>
          <a:p>
            <a:pPr algn="l">
              <a:lnSpc>
                <a:spcPts val="2250"/>
              </a:lnSpc>
              <a:buNone/>
              <a:defRPr>
                <a:latin typeface="Arial"/>
                <a:ea typeface="Arial"/>
                <a:cs typeface="Arial"/>
              </a:defRPr>
            </a:pPr>
            <a:r>
              <a:rPr sz="1500" b="0" i="0" u="none">
                <a:solidFill>
                  <a:srgbClr val="94A3B8"/>
                </a:solidFill>
                <a:latin typeface="Arial"/>
                <a:ea typeface="Arial"/>
                <a:cs typeface="Arial"/>
              </a:rPr>
              <a:t>A focused Q1–Q2 plan to recover $12.0M in net annual profit and prepare the Q3 operating case.</a:t>
            </a:r>
          </a:p>
        </p:txBody>
      </p:sp>
      <p:sp>
        <p:nvSpPr>
          <p:cNvPr id="9" name="TextBox 8">
            <a:extLst>
              <a:ext uri="{FF2B5EF4-FFF2-40B4-BE49-F238E27FC236}">
                <a16:creationId xmlns:a16="http://schemas.microsoft.com/office/drawing/2014/main" id="{1AA67E3A-AB1C-4F2F-9D37-8A8DC4770186}"/>
              </a:ext>
            </a:extLst>
          </p:cNvPr>
          <p:cNvSpPr>
            <a:spLocks noGrp="1"/>
          </p:cNvSpPr>
          <p:nvPr/>
        </p:nvSpPr>
        <p:spPr>
          <a:xfrm>
            <a:off x="647700" y="590550"/>
            <a:ext cx="304800" cy="219075"/>
          </a:xfrm>
          <a:prstGeom prst="rect">
            <a:avLst/>
          </a:prstGeom>
          <a:noFill/>
        </p:spPr>
        <p:txBody>
          <a:bodyPr wrap="square" lIns="0" tIns="0" rIns="0" bIns="0" anchor="t">
            <a:spAutoFit/>
          </a:bodyPr>
          <a:lstStyle/>
          <a:p>
            <a:pPr algn="l">
              <a:buNone/>
              <a:defRPr>
                <a:latin typeface="Arial"/>
                <a:ea typeface="Arial"/>
                <a:cs typeface="Arial"/>
              </a:defRPr>
            </a:pPr>
            <a:r>
              <a:rPr sz="1350" b="1" i="0" u="none">
                <a:solidFill>
                  <a:srgbClr val="FFFFFF"/>
                </a:solidFill>
                <a:latin typeface="Arial"/>
                <a:ea typeface="Arial"/>
                <a:cs typeface="Arial"/>
              </a:rPr>
              <a:t>22</a:t>
            </a:r>
          </a:p>
        </p:txBody>
      </p:sp>
      <p:sp>
        <p:nvSpPr>
          <p:cNvPr id="10" name="TextBox 9">
            <a:extLst>
              <a:ext uri="{FF2B5EF4-FFF2-40B4-BE49-F238E27FC236}">
                <a16:creationId xmlns:a16="http://schemas.microsoft.com/office/drawing/2014/main" id="{F54A9FE6-A746-4C25-92F0-B60DF57044BD}"/>
              </a:ext>
            </a:extLst>
          </p:cNvPr>
          <p:cNvSpPr>
            <a:spLocks noGrp="1"/>
          </p:cNvSpPr>
          <p:nvPr/>
        </p:nvSpPr>
        <p:spPr>
          <a:xfrm>
            <a:off x="1085850" y="600075"/>
            <a:ext cx="2464593" cy="200025"/>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FFFFFF"/>
                </a:solidFill>
                <a:latin typeface="Arial"/>
                <a:ea typeface="Arial"/>
                <a:cs typeface="Arial"/>
              </a:rPr>
              <a:t>TWO TWO CONSULTING</a:t>
            </a:r>
          </a:p>
        </p:txBody>
      </p:sp>
      <p:sp>
        <p:nvSpPr>
          <p:cNvPr id="12" name="TextBox 11">
            <a:extLst>
              <a:ext uri="{FF2B5EF4-FFF2-40B4-BE49-F238E27FC236}">
                <a16:creationId xmlns:a16="http://schemas.microsoft.com/office/drawing/2014/main" id="{0450BFC9-D0CE-4D06-B39E-D417B9098830}"/>
              </a:ext>
            </a:extLst>
          </p:cNvPr>
          <p:cNvSpPr>
            <a:spLocks noGrp="1"/>
          </p:cNvSpPr>
          <p:nvPr/>
        </p:nvSpPr>
        <p:spPr>
          <a:xfrm>
            <a:off x="383381" y="5934075"/>
            <a:ext cx="9601200" cy="369332"/>
          </a:xfrm>
          <a:prstGeom prst="rect">
            <a:avLst/>
          </a:prstGeom>
          <a:noFill/>
        </p:spPr>
        <p:txBody>
          <a:bodyPr wrap="square" lIns="0" tIns="0" rIns="0" bIns="0" anchor="t">
            <a:spAutoFit/>
          </a:bodyPr>
          <a:lstStyle/>
          <a:p>
            <a:pPr>
              <a:defRPr>
                <a:latin typeface="Arial"/>
                <a:ea typeface="Arial"/>
                <a:cs typeface="Arial"/>
              </a:defRPr>
            </a:pPr>
            <a:r>
              <a:rPr sz="1200">
                <a:solidFill>
                  <a:schemeClr val="bg1"/>
                </a:solidFill>
                <a:latin typeface="Arial"/>
                <a:ea typeface="Arial"/>
                <a:cs typeface="Arial"/>
              </a:rPr>
              <a:t>Team (Group 2): Shalom Bhatta, Sangam Dahal, Suyashkumar Chavan, Jiabao Chen, Rohit Varma Chekuri, Gopal Rao Desineni, Kanhav Bhatt, Abhishek Dipakkumar Contractor, Andrea Miguel Colmenares, Maria Eduarda Cesconetto</a:t>
            </a:r>
            <a:endParaRPr sz="1200">
              <a:solidFill>
                <a:schemeClr val="bg1"/>
              </a:solidFill>
            </a:endParaRPr>
          </a:p>
        </p:txBody>
      </p:sp>
      <p:sp>
        <p:nvSpPr>
          <p:cNvPr id="13" name="TextBox 12">
            <a:extLst>
              <a:ext uri="{FF2B5EF4-FFF2-40B4-BE49-F238E27FC236}">
                <a16:creationId xmlns:a16="http://schemas.microsoft.com/office/drawing/2014/main" id="{516C40C5-CCE9-4AE9-8FEB-9E3610060317}"/>
              </a:ext>
            </a:extLst>
          </p:cNvPr>
          <p:cNvSpPr>
            <a:spLocks noGrp="1"/>
          </p:cNvSpPr>
          <p:nvPr/>
        </p:nvSpPr>
        <p:spPr>
          <a:xfrm>
            <a:off x="10439400" y="5934075"/>
            <a:ext cx="1524000"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64748B"/>
                </a:solidFill>
                <a:latin typeface="Arial"/>
                <a:ea typeface="Arial"/>
                <a:cs typeface="Arial"/>
              </a:rPr>
              <a:t>DATE</a:t>
            </a:r>
          </a:p>
        </p:txBody>
      </p:sp>
      <p:sp>
        <p:nvSpPr>
          <p:cNvPr id="14" name="TextBox 13">
            <a:extLst>
              <a:ext uri="{FF2B5EF4-FFF2-40B4-BE49-F238E27FC236}">
                <a16:creationId xmlns:a16="http://schemas.microsoft.com/office/drawing/2014/main" id="{49E11921-3E24-4DCC-8E11-2FB2042A2ED1}"/>
              </a:ext>
            </a:extLst>
          </p:cNvPr>
          <p:cNvSpPr>
            <a:spLocks noGrp="1"/>
          </p:cNvSpPr>
          <p:nvPr/>
        </p:nvSpPr>
        <p:spPr>
          <a:xfrm>
            <a:off x="10414686" y="6134100"/>
            <a:ext cx="1611018" cy="184666"/>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F8FAFC"/>
                </a:solidFill>
                <a:latin typeface="Arial"/>
                <a:ea typeface="Arial"/>
                <a:cs typeface="Arial"/>
              </a:rPr>
              <a:t>September</a:t>
            </a:r>
            <a:r>
              <a:rPr lang="en-US" sz="1200" b="1" i="0" u="none">
                <a:solidFill>
                  <a:srgbClr val="F8FAFC"/>
                </a:solidFill>
                <a:latin typeface="Arial"/>
                <a:ea typeface="Arial"/>
                <a:cs typeface="Arial"/>
              </a:rPr>
              <a:t> 18-20</a:t>
            </a:r>
            <a:r>
              <a:rPr sz="1200" b="1" i="0" u="none">
                <a:solidFill>
                  <a:srgbClr val="F8FAFC"/>
                </a:solidFill>
                <a:latin typeface="Arial"/>
                <a:ea typeface="Arial"/>
                <a:cs typeface="Arial"/>
              </a:rPr>
              <a:t> 2026</a:t>
            </a:r>
          </a:p>
        </p:txBody>
      </p:sp>
    </p:spTree>
    <p:extLst>
      <p:ext uri="{BB962C8B-B14F-4D97-AF65-F5344CB8AC3E}">
        <p14:creationId xmlns:p14="http://schemas.microsoft.com/office/powerpoint/2010/main" val="185505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0CB3796-CF3B-494C-8BD8-232722A0762F}"/>
              </a:ext>
            </a:extLst>
          </p:cNvPr>
          <p:cNvSpPr>
            <a:spLocks noGrp="1"/>
          </p:cNvSpPr>
          <p:nvPr/>
        </p:nvSpPr>
        <p:spPr>
          <a:xfrm>
            <a:off x="533400" y="381000"/>
            <a:ext cx="7239000" cy="171450"/>
          </a:xfrm>
          <a:prstGeom prst="rect">
            <a:avLst/>
          </a:prstGeom>
          <a:noFill/>
          <a:ln w="0">
            <a:noFill/>
            <a:prstDash val="solid"/>
          </a:ln>
        </p:spPr>
        <p:txBody>
          <a:bodyPr>
            <a:normAutofit fontScale="71136" lnSpcReduction="20000"/>
          </a:bodyPr>
          <a:lstStyle/>
          <a:p>
            <a:pPr>
              <a:defRPr sz="825" b="1">
                <a:solidFill>
                  <a:srgbClr val="F26B21"/>
                </a:solidFill>
                <a:latin typeface="Arial"/>
                <a:ea typeface="Arial"/>
                <a:cs typeface="Arial"/>
              </a:defRPr>
            </a:pPr>
            <a:r>
              <a:rPr sz="825" b="1">
                <a:solidFill>
                  <a:srgbClr val="F26B21"/>
                </a:solidFill>
                <a:latin typeface="Arial"/>
                <a:ea typeface="Arial"/>
                <a:cs typeface="Arial"/>
              </a:rPr>
              <a:t>THE MAIN ISSUE</a:t>
            </a:r>
          </a:p>
        </p:txBody>
      </p:sp>
      <p:sp>
        <p:nvSpPr>
          <p:cNvPr id="2" name="Rectangle 1">
            <a:extLst>
              <a:ext uri="{FF2B5EF4-FFF2-40B4-BE49-F238E27FC236}">
                <a16:creationId xmlns:a16="http://schemas.microsoft.com/office/drawing/2014/main" id="{DC93EE66-FC59-45F0-9F03-F6C36C159BB4}"/>
              </a:ext>
            </a:extLst>
          </p:cNvPr>
          <p:cNvSpPr>
            <a:spLocks noGrp="1"/>
          </p:cNvSpPr>
          <p:nvPr/>
        </p:nvSpPr>
        <p:spPr>
          <a:xfrm>
            <a:off x="533400" y="619125"/>
            <a:ext cx="8667750" cy="514350"/>
          </a:xfrm>
          <a:prstGeom prst="rect">
            <a:avLst/>
          </a:prstGeom>
          <a:noFill/>
          <a:ln w="0">
            <a:noFill/>
            <a:prstDash val="solid"/>
          </a:ln>
        </p:spPr>
        <p:txBody>
          <a:bodyPr>
            <a:normAutofit fontScale="78407" lnSpcReduction="10000"/>
          </a:bodyPr>
          <a:lstStyle/>
          <a:p>
            <a:pPr>
              <a:defRPr sz="2550" b="1">
                <a:solidFill>
                  <a:srgbClr val="20272E"/>
                </a:solidFill>
                <a:latin typeface="Arial"/>
                <a:ea typeface="Arial"/>
                <a:cs typeface="Arial"/>
              </a:defRPr>
            </a:pPr>
            <a:r>
              <a:rPr sz="2550" b="1">
                <a:solidFill>
                  <a:srgbClr val="20272E"/>
                </a:solidFill>
                <a:latin typeface="Arial"/>
                <a:ea typeface="Arial"/>
                <a:cs typeface="Arial"/>
              </a:rPr>
              <a:t>Revenue growth accelerated while profit growth turned negative</a:t>
            </a:r>
          </a:p>
        </p:txBody>
      </p:sp>
      <p:sp>
        <p:nvSpPr>
          <p:cNvPr id="3" name="Rectangle 2">
            <a:extLst>
              <a:ext uri="{FF2B5EF4-FFF2-40B4-BE49-F238E27FC236}">
                <a16:creationId xmlns:a16="http://schemas.microsoft.com/office/drawing/2014/main" id="{B02B4C45-CD48-445E-883C-0589A6893CC1}"/>
              </a:ext>
            </a:extLst>
          </p:cNvPr>
          <p:cNvSpPr>
            <a:spLocks noGrp="1"/>
          </p:cNvSpPr>
          <p:nvPr/>
        </p:nvSpPr>
        <p:spPr>
          <a:xfrm>
            <a:off x="9715500" y="504825"/>
            <a:ext cx="276225" cy="276225"/>
          </a:xfrm>
          <a:prstGeom prst="rect">
            <a:avLst/>
          </a:prstGeom>
          <a:noFill/>
          <a:ln w="9525">
            <a:solidFill>
              <a:srgbClr val="D7DDE1"/>
            </a:solidFill>
            <a:prstDash val="solid"/>
          </a:ln>
        </p:spPr>
        <p:txBody>
          <a:bodyPr/>
          <a:lstStyle/>
          <a:p>
            <a:endParaRPr lang="en-US"/>
          </a:p>
        </p:txBody>
      </p:sp>
      <p:sp>
        <p:nvSpPr>
          <p:cNvPr id="4" name="Rectangle 3">
            <a:extLst>
              <a:ext uri="{FF2B5EF4-FFF2-40B4-BE49-F238E27FC236}">
                <a16:creationId xmlns:a16="http://schemas.microsoft.com/office/drawing/2014/main" id="{6DAB1CA6-E6FD-4AED-8ECB-931870C490D3}"/>
              </a:ext>
            </a:extLst>
          </p:cNvPr>
          <p:cNvSpPr>
            <a:spLocks noGrp="1"/>
          </p:cNvSpPr>
          <p:nvPr/>
        </p:nvSpPr>
        <p:spPr>
          <a:xfrm>
            <a:off x="9744075" y="552450"/>
            <a:ext cx="238125" cy="171450"/>
          </a:xfrm>
          <a:prstGeom prst="rect">
            <a:avLst/>
          </a:prstGeom>
          <a:noFill/>
          <a:ln w="0">
            <a:noFill/>
            <a:prstDash val="solid"/>
          </a:ln>
        </p:spPr>
        <p:txBody>
          <a:bodyPr>
            <a:normAutofit fontScale="27443" lnSpcReduction="20000"/>
          </a:bodyPr>
          <a:lstStyle/>
          <a:p>
            <a:pPr algn="ctr">
              <a:defRPr sz="1125" b="1">
                <a:solidFill>
                  <a:srgbClr val="F26B21"/>
                </a:solidFill>
                <a:latin typeface="Arial"/>
                <a:ea typeface="Arial"/>
                <a:cs typeface="Arial"/>
              </a:defRPr>
            </a:pPr>
            <a:r>
              <a:rPr sz="1125" b="1">
                <a:solidFill>
                  <a:srgbClr val="F26B21"/>
                </a:solidFill>
                <a:latin typeface="Arial"/>
                <a:ea typeface="Arial"/>
                <a:cs typeface="Arial"/>
              </a:rPr>
              <a:t>22</a:t>
            </a:r>
          </a:p>
        </p:txBody>
      </p:sp>
      <p:sp>
        <p:nvSpPr>
          <p:cNvPr id="5" name="Rectangle 4">
            <a:extLst>
              <a:ext uri="{FF2B5EF4-FFF2-40B4-BE49-F238E27FC236}">
                <a16:creationId xmlns:a16="http://schemas.microsoft.com/office/drawing/2014/main" id="{664921DE-3234-47F7-A741-3B0B374565F8}"/>
              </a:ext>
            </a:extLst>
          </p:cNvPr>
          <p:cNvSpPr>
            <a:spLocks noGrp="1"/>
          </p:cNvSpPr>
          <p:nvPr/>
        </p:nvSpPr>
        <p:spPr>
          <a:xfrm>
            <a:off x="10077450" y="552450"/>
            <a:ext cx="1714500" cy="171450"/>
          </a:xfrm>
          <a:prstGeom prst="rect">
            <a:avLst/>
          </a:prstGeom>
          <a:noFill/>
          <a:ln w="0">
            <a:noFill/>
            <a:prstDash val="solid"/>
          </a:ln>
        </p:spPr>
        <p:txBody>
          <a:bodyPr>
            <a:normAutofit fontScale="71136" lnSpcReduction="20000"/>
          </a:bodyPr>
          <a:lstStyle/>
          <a:p>
            <a:pPr algn="l">
              <a:defRPr sz="825" b="1">
                <a:solidFill>
                  <a:srgbClr val="20272E"/>
                </a:solidFill>
                <a:latin typeface="Arial"/>
                <a:ea typeface="Arial"/>
                <a:cs typeface="Arial"/>
              </a:defRPr>
            </a:pPr>
            <a:r>
              <a:rPr sz="825" b="1">
                <a:solidFill>
                  <a:srgbClr val="20272E"/>
                </a:solidFill>
                <a:latin typeface="Arial"/>
                <a:ea typeface="Arial"/>
                <a:cs typeface="Arial"/>
              </a:rPr>
              <a:t>TWO TWO CONSULTING</a:t>
            </a:r>
          </a:p>
        </p:txBody>
      </p:sp>
      <p:sp>
        <p:nvSpPr>
          <p:cNvPr id="6" name="Rectangle 5">
            <a:extLst>
              <a:ext uri="{FF2B5EF4-FFF2-40B4-BE49-F238E27FC236}">
                <a16:creationId xmlns:a16="http://schemas.microsoft.com/office/drawing/2014/main" id="{BC8BC57E-C4D8-46FB-9754-D8C6325B365B}"/>
              </a:ext>
            </a:extLst>
          </p:cNvPr>
          <p:cNvSpPr>
            <a:spLocks noGrp="1"/>
          </p:cNvSpPr>
          <p:nvPr/>
        </p:nvSpPr>
        <p:spPr>
          <a:xfrm>
            <a:off x="11525250" y="6438900"/>
            <a:ext cx="323850" cy="152400"/>
          </a:xfrm>
          <a:prstGeom prst="rect">
            <a:avLst/>
          </a:prstGeom>
          <a:noFill/>
          <a:ln w="0">
            <a:noFill/>
            <a:prstDash val="solid"/>
          </a:ln>
        </p:spPr>
        <p:txBody>
          <a:bodyPr>
            <a:normAutofit fontScale="60833" lnSpcReduction="20000"/>
          </a:bodyPr>
          <a:lstStyle/>
          <a:p>
            <a:pPr algn="r">
              <a:defRPr sz="750" b="1">
                <a:solidFill>
                  <a:srgbClr val="F26B21"/>
                </a:solidFill>
                <a:latin typeface="Arial"/>
                <a:ea typeface="Arial"/>
                <a:cs typeface="Arial"/>
              </a:defRPr>
            </a:pPr>
            <a:r>
              <a:rPr sz="750" b="1">
                <a:solidFill>
                  <a:srgbClr val="F26B21"/>
                </a:solidFill>
                <a:latin typeface="Arial"/>
                <a:ea typeface="Arial"/>
                <a:cs typeface="Arial"/>
              </a:rPr>
              <a:t>02</a:t>
            </a:r>
          </a:p>
        </p:txBody>
      </p:sp>
      <p:graphicFrame>
        <p:nvGraphicFramePr>
          <p:cNvPr id="22" name="Chart"/>
          <p:cNvGraphicFramePr/>
          <p:nvPr/>
        </p:nvGraphicFramePr>
        <p:xfrm>
          <a:off x="552450" y="1676400"/>
          <a:ext cx="7810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a:extLst>
              <a:ext uri="{FF2B5EF4-FFF2-40B4-BE49-F238E27FC236}">
                <a16:creationId xmlns:a16="http://schemas.microsoft.com/office/drawing/2014/main" id="{68EA46DC-48FC-47D3-B2B3-C635470CDA61}"/>
              </a:ext>
            </a:extLst>
          </p:cNvPr>
          <p:cNvSpPr>
            <a:spLocks noGrp="1"/>
          </p:cNvSpPr>
          <p:nvPr/>
        </p:nvSpPr>
        <p:spPr>
          <a:xfrm>
            <a:off x="8667750" y="1905000"/>
            <a:ext cx="2952750" cy="1485900"/>
          </a:xfrm>
          <a:prstGeom prst="roundRect">
            <a:avLst>
              <a:gd name="adj" fmla="val 7692"/>
            </a:avLst>
          </a:prstGeom>
          <a:solidFill>
            <a:srgbClr val="111A2B"/>
          </a:solidFill>
          <a:ln w="9525">
            <a:solidFill>
              <a:srgbClr val="111A2B"/>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9" name="Rectangle 8">
            <a:extLst>
              <a:ext uri="{FF2B5EF4-FFF2-40B4-BE49-F238E27FC236}">
                <a16:creationId xmlns:a16="http://schemas.microsoft.com/office/drawing/2014/main" id="{8E47E6D3-A695-43ED-892D-151D1F7BA09C}"/>
              </a:ext>
            </a:extLst>
          </p:cNvPr>
          <p:cNvSpPr>
            <a:spLocks noGrp="1"/>
          </p:cNvSpPr>
          <p:nvPr/>
        </p:nvSpPr>
        <p:spPr>
          <a:xfrm>
            <a:off x="8915400" y="2152650"/>
            <a:ext cx="2476500" cy="457200"/>
          </a:xfrm>
          <a:prstGeom prst="rect">
            <a:avLst/>
          </a:prstGeom>
          <a:noFill/>
          <a:ln w="0">
            <a:noFill/>
            <a:prstDash val="solid"/>
          </a:ln>
        </p:spPr>
        <p:txBody>
          <a:bodyPr>
            <a:normAutofit fontScale="91711" lnSpcReduction="10000"/>
          </a:bodyPr>
          <a:lstStyle/>
          <a:p>
            <a:pPr>
              <a:defRPr sz="2850" b="1">
                <a:solidFill>
                  <a:srgbClr val="F26B21"/>
                </a:solidFill>
                <a:latin typeface="Arial"/>
                <a:ea typeface="Arial"/>
                <a:cs typeface="Arial"/>
              </a:defRPr>
            </a:pPr>
            <a:r>
              <a:rPr sz="2850" b="1">
                <a:solidFill>
                  <a:srgbClr val="F26B21"/>
                </a:solidFill>
                <a:latin typeface="Arial"/>
                <a:ea typeface="Arial"/>
                <a:cs typeface="Arial"/>
              </a:rPr>
              <a:t>17.5 pts</a:t>
            </a:r>
          </a:p>
        </p:txBody>
      </p:sp>
      <p:sp>
        <p:nvSpPr>
          <p:cNvPr id="10" name="Rectangle 9">
            <a:extLst>
              <a:ext uri="{FF2B5EF4-FFF2-40B4-BE49-F238E27FC236}">
                <a16:creationId xmlns:a16="http://schemas.microsoft.com/office/drawing/2014/main" id="{F45599BA-2DF3-462E-B445-A41505565B2D}"/>
              </a:ext>
            </a:extLst>
          </p:cNvPr>
          <p:cNvSpPr>
            <a:spLocks noGrp="1"/>
          </p:cNvSpPr>
          <p:nvPr/>
        </p:nvSpPr>
        <p:spPr>
          <a:xfrm>
            <a:off x="8915400" y="2667000"/>
            <a:ext cx="2381250" cy="323850"/>
          </a:xfrm>
          <a:prstGeom prst="rect">
            <a:avLst/>
          </a:prstGeom>
          <a:noFill/>
          <a:ln w="0">
            <a:noFill/>
            <a:prstDash val="solid"/>
          </a:ln>
        </p:spPr>
        <p:txBody>
          <a:bodyPr>
            <a:normAutofit/>
          </a:bodyPr>
          <a:lstStyle/>
          <a:p>
            <a:pPr>
              <a:defRPr sz="1050" b="1">
                <a:solidFill>
                  <a:srgbClr val="FFFFFF"/>
                </a:solidFill>
                <a:latin typeface="Arial"/>
                <a:ea typeface="Arial"/>
                <a:cs typeface="Arial"/>
              </a:defRPr>
            </a:pPr>
            <a:r>
              <a:rPr sz="1050" b="1">
                <a:solidFill>
                  <a:srgbClr val="FFFFFF"/>
                </a:solidFill>
                <a:latin typeface="Arial"/>
                <a:ea typeface="Arial"/>
                <a:cs typeface="Arial"/>
              </a:rPr>
              <a:t>2025 growth-to-profit gap</a:t>
            </a:r>
          </a:p>
        </p:txBody>
      </p:sp>
      <p:sp>
        <p:nvSpPr>
          <p:cNvPr id="11" name="Rectangle 10">
            <a:extLst>
              <a:ext uri="{FF2B5EF4-FFF2-40B4-BE49-F238E27FC236}">
                <a16:creationId xmlns:a16="http://schemas.microsoft.com/office/drawing/2014/main" id="{94DBB2EF-322E-4E2E-94E8-1BD494BCC7F3}"/>
              </a:ext>
            </a:extLst>
          </p:cNvPr>
          <p:cNvSpPr>
            <a:spLocks noGrp="1"/>
          </p:cNvSpPr>
          <p:nvPr/>
        </p:nvSpPr>
        <p:spPr>
          <a:xfrm>
            <a:off x="8915400" y="3019425"/>
            <a:ext cx="2381250" cy="276225"/>
          </a:xfrm>
          <a:prstGeom prst="rect">
            <a:avLst/>
          </a:prstGeom>
          <a:noFill/>
          <a:ln w="0">
            <a:noFill/>
            <a:prstDash val="solid"/>
          </a:ln>
        </p:spPr>
        <p:txBody>
          <a:bodyPr>
            <a:normAutofit fontScale="76412" lnSpcReduction="20000"/>
          </a:bodyPr>
          <a:lstStyle/>
          <a:p>
            <a:pPr>
              <a:defRPr sz="900">
                <a:solidFill>
                  <a:srgbClr val="BAC5D5"/>
                </a:solidFill>
                <a:latin typeface="Arial"/>
                <a:ea typeface="Arial"/>
                <a:cs typeface="Arial"/>
              </a:defRPr>
            </a:pPr>
            <a:r>
              <a:rPr sz="900">
                <a:solidFill>
                  <a:srgbClr val="BAC5D5"/>
                </a:solidFill>
                <a:latin typeface="Arial"/>
                <a:ea typeface="Arial"/>
                <a:cs typeface="Arial"/>
              </a:rPr>
              <a:t>Revenue can keep growing while economics deteriorate.</a:t>
            </a:r>
          </a:p>
        </p:txBody>
      </p:sp>
      <p:sp>
        <p:nvSpPr>
          <p:cNvPr id="12" name="Rounded Rectangle 11">
            <a:extLst>
              <a:ext uri="{FF2B5EF4-FFF2-40B4-BE49-F238E27FC236}">
                <a16:creationId xmlns:a16="http://schemas.microsoft.com/office/drawing/2014/main" id="{4E99812F-95CD-4491-9A72-608397157BDF}"/>
              </a:ext>
            </a:extLst>
          </p:cNvPr>
          <p:cNvSpPr>
            <a:spLocks noGrp="1"/>
          </p:cNvSpPr>
          <p:nvPr/>
        </p:nvSpPr>
        <p:spPr>
          <a:xfrm>
            <a:off x="8667750" y="3581400"/>
            <a:ext cx="2952750" cy="1657350"/>
          </a:xfrm>
          <a:prstGeom prst="roundRect">
            <a:avLst>
              <a:gd name="adj" fmla="val 6897"/>
            </a:avLst>
          </a:prstGeom>
          <a:solidFill>
            <a:srgbClr val="FFF0E6"/>
          </a:solidFill>
          <a:ln w="9525">
            <a:solidFill>
              <a:srgbClr val="F7C8AA"/>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Rectangle 12">
            <a:extLst>
              <a:ext uri="{FF2B5EF4-FFF2-40B4-BE49-F238E27FC236}">
                <a16:creationId xmlns:a16="http://schemas.microsoft.com/office/drawing/2014/main" id="{5CCB498E-779A-4243-89A0-33FA48BE3E5E}"/>
              </a:ext>
            </a:extLst>
          </p:cNvPr>
          <p:cNvSpPr>
            <a:spLocks noGrp="1"/>
          </p:cNvSpPr>
          <p:nvPr/>
        </p:nvSpPr>
        <p:spPr>
          <a:xfrm>
            <a:off x="8915400" y="3800475"/>
            <a:ext cx="2362200" cy="171450"/>
          </a:xfrm>
          <a:prstGeom prst="rect">
            <a:avLst/>
          </a:prstGeom>
          <a:noFill/>
          <a:ln w="0">
            <a:noFill/>
            <a:prstDash val="solid"/>
          </a:ln>
        </p:spPr>
        <p:txBody>
          <a:bodyPr>
            <a:normAutofit fontScale="77500" lnSpcReduction="20000"/>
          </a:bodyPr>
          <a:lstStyle/>
          <a:p>
            <a:pPr>
              <a:defRPr sz="750" b="1">
                <a:solidFill>
                  <a:srgbClr val="F26B21"/>
                </a:solidFill>
                <a:latin typeface="Arial"/>
                <a:ea typeface="Arial"/>
                <a:cs typeface="Arial"/>
              </a:defRPr>
            </a:pPr>
            <a:r>
              <a:rPr sz="750" b="1">
                <a:solidFill>
                  <a:srgbClr val="F26B21"/>
                </a:solidFill>
                <a:latin typeface="Arial"/>
                <a:ea typeface="Arial"/>
                <a:cs typeface="Arial"/>
              </a:rPr>
              <a:t>WHAT HRG MUST CHANGE</a:t>
            </a:r>
          </a:p>
        </p:txBody>
      </p:sp>
      <p:sp>
        <p:nvSpPr>
          <p:cNvPr id="14" name="Rectangle 13">
            <a:extLst>
              <a:ext uri="{FF2B5EF4-FFF2-40B4-BE49-F238E27FC236}">
                <a16:creationId xmlns:a16="http://schemas.microsoft.com/office/drawing/2014/main" id="{3A7CD6DB-1421-443C-B140-3414218B224B}"/>
              </a:ext>
            </a:extLst>
          </p:cNvPr>
          <p:cNvSpPr>
            <a:spLocks noGrp="1"/>
          </p:cNvSpPr>
          <p:nvPr/>
        </p:nvSpPr>
        <p:spPr>
          <a:xfrm>
            <a:off x="8915400" y="4095750"/>
            <a:ext cx="2362200" cy="876300"/>
          </a:xfrm>
          <a:prstGeom prst="rect">
            <a:avLst/>
          </a:prstGeom>
          <a:noFill/>
          <a:ln w="0">
            <a:noFill/>
            <a:prstDash val="solid"/>
          </a:ln>
        </p:spPr>
        <p:txBody>
          <a:bodyPr>
            <a:normAutofit fontScale="87479"/>
          </a:bodyPr>
          <a:lstStyle/>
          <a:p>
            <a:pPr>
              <a:defRPr sz="1275" b="1">
                <a:solidFill>
                  <a:srgbClr val="20272E"/>
                </a:solidFill>
                <a:latin typeface="Arial"/>
                <a:ea typeface="Arial"/>
                <a:cs typeface="Arial"/>
              </a:defRPr>
            </a:pPr>
            <a:r>
              <a:rPr sz="1275" b="1">
                <a:solidFill>
                  <a:srgbClr val="20272E"/>
                </a:solidFill>
                <a:latin typeface="Arial"/>
                <a:ea typeface="Arial"/>
                <a:cs typeface="Arial"/>
              </a:rPr>
              <a:t>Return profit growth to positive territory, then narrow the gap by fixing margin leakage, customer targeting, and operating risk.</a:t>
            </a:r>
          </a:p>
        </p:txBody>
      </p:sp>
      <p:sp>
        <p:nvSpPr>
          <p:cNvPr id="15" name="Rectangle 14">
            <a:extLst>
              <a:ext uri="{FF2B5EF4-FFF2-40B4-BE49-F238E27FC236}">
                <a16:creationId xmlns:a16="http://schemas.microsoft.com/office/drawing/2014/main" id="{C1A26611-54B8-46F2-8444-9234F67D3BD6}"/>
              </a:ext>
            </a:extLst>
          </p:cNvPr>
          <p:cNvSpPr>
            <a:spLocks noGrp="1"/>
          </p:cNvSpPr>
          <p:nvPr/>
        </p:nvSpPr>
        <p:spPr>
          <a:xfrm>
            <a:off x="533400" y="6410325"/>
            <a:ext cx="10287000" cy="152400"/>
          </a:xfrm>
          <a:prstGeom prst="rect">
            <a:avLst/>
          </a:prstGeom>
          <a:noFill/>
          <a:ln w="0">
            <a:noFill/>
            <a:prstDash val="solid"/>
          </a:ln>
        </p:spPr>
        <p:txBody>
          <a:bodyPr>
            <a:normAutofit fontScale="66759" lnSpcReduction="20000"/>
          </a:bodyPr>
          <a:lstStyle/>
          <a:p>
            <a:pPr>
              <a:defRPr sz="675">
                <a:solidFill>
                  <a:srgbClr val="7F8A91"/>
                </a:solidFill>
                <a:latin typeface="Arial"/>
                <a:ea typeface="Arial"/>
                <a:cs typeface="Arial"/>
              </a:defRPr>
            </a:pPr>
            <a:r>
              <a:rPr sz="675">
                <a:solidFill>
                  <a:srgbClr val="7F8A91"/>
                </a:solidFill>
                <a:latin typeface="Arial"/>
                <a:ea typeface="Arial"/>
                <a:cs typeface="Arial"/>
              </a:rPr>
              <a:t>Source: HRG Retail Consulting Engagement Packet, Historical Performance, 2022–2025.</a:t>
            </a:r>
          </a:p>
        </p:txBody>
      </p:sp>
    </p:spTree>
    <p:extLst>
      <p:ext uri="{BB962C8B-B14F-4D97-AF65-F5344CB8AC3E}">
        <p14:creationId xmlns:p14="http://schemas.microsoft.com/office/powerpoint/2010/main" val="1824894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3DC9D74B-93A1-4613-B240-1DD54D943505}"/>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1DD3C70F-4A89-49AD-85A4-0AEDACC65018}"/>
              </a:ext>
            </a:extLst>
          </p:cNvPr>
          <p:cNvSpPr>
            <a:spLocks noGrp="1"/>
          </p:cNvSpPr>
          <p:nvPr/>
        </p:nvSpPr>
        <p:spPr>
          <a:xfrm>
            <a:off x="533400" y="2326927"/>
            <a:ext cx="3581400" cy="1666875"/>
          </a:xfrm>
          <a:prstGeom prst="roundRect">
            <a:avLst>
              <a:gd name="adj" fmla="val 571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280FF517-8DC0-4DE7-BFAD-9AD2B527C2FE}"/>
              </a:ext>
            </a:extLst>
          </p:cNvPr>
          <p:cNvSpPr>
            <a:spLocks noGrp="1"/>
          </p:cNvSpPr>
          <p:nvPr/>
        </p:nvSpPr>
        <p:spPr>
          <a:xfrm>
            <a:off x="4305300" y="2326927"/>
            <a:ext cx="3581400" cy="1666875"/>
          </a:xfrm>
          <a:prstGeom prst="roundRect">
            <a:avLst>
              <a:gd name="adj" fmla="val 571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939432FD-62DA-45BD-9997-C90614AAC73D}"/>
              </a:ext>
            </a:extLst>
          </p:cNvPr>
          <p:cNvSpPr>
            <a:spLocks noGrp="1"/>
          </p:cNvSpPr>
          <p:nvPr/>
        </p:nvSpPr>
        <p:spPr>
          <a:xfrm>
            <a:off x="8077200" y="2326927"/>
            <a:ext cx="3581400" cy="1666875"/>
          </a:xfrm>
          <a:prstGeom prst="roundRect">
            <a:avLst>
              <a:gd name="adj" fmla="val 571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98C2F6BA-E7AE-4058-A5F5-1EC7DCCB8FD1}"/>
              </a:ext>
            </a:extLst>
          </p:cNvPr>
          <p:cNvSpPr>
            <a:spLocks noGrp="1"/>
          </p:cNvSpPr>
          <p:nvPr/>
        </p:nvSpPr>
        <p:spPr>
          <a:xfrm>
            <a:off x="533400" y="4260502"/>
            <a:ext cx="3606849" cy="1047750"/>
          </a:xfrm>
          <a:prstGeom prst="roundRect">
            <a:avLst>
              <a:gd name="adj" fmla="val 7272"/>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CCBC8976-4650-4DDE-A2BB-5ADAB331F85E}"/>
              </a:ext>
            </a:extLst>
          </p:cNvPr>
          <p:cNvSpPr>
            <a:spLocks noGrp="1"/>
          </p:cNvSpPr>
          <p:nvPr/>
        </p:nvSpPr>
        <p:spPr>
          <a:xfrm>
            <a:off x="4292649" y="4260502"/>
            <a:ext cx="3606849" cy="1047750"/>
          </a:xfrm>
          <a:prstGeom prst="roundRect">
            <a:avLst>
              <a:gd name="adj" fmla="val 7272"/>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0255E3BA-D53A-4316-8BC0-73EF7AA7836B}"/>
              </a:ext>
            </a:extLst>
          </p:cNvPr>
          <p:cNvSpPr>
            <a:spLocks noGrp="1"/>
          </p:cNvSpPr>
          <p:nvPr/>
        </p:nvSpPr>
        <p:spPr>
          <a:xfrm>
            <a:off x="8051899" y="4260502"/>
            <a:ext cx="3606849" cy="1047750"/>
          </a:xfrm>
          <a:prstGeom prst="roundRect">
            <a:avLst>
              <a:gd name="adj" fmla="val 7272"/>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0BBD9E15-4730-4E66-A8CE-1AC5555FC2CC}"/>
              </a:ext>
            </a:extLst>
          </p:cNvPr>
          <p:cNvSpPr>
            <a:spLocks noGrp="1"/>
          </p:cNvSpPr>
          <p:nvPr/>
        </p:nvSpPr>
        <p:spPr>
          <a:xfrm>
            <a:off x="533400" y="3984277"/>
            <a:ext cx="35814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ADD2C4BD-8813-45C5-8309-311D8C36DB27}"/>
              </a:ext>
            </a:extLst>
          </p:cNvPr>
          <p:cNvSpPr>
            <a:spLocks noGrp="1"/>
          </p:cNvSpPr>
          <p:nvPr/>
        </p:nvSpPr>
        <p:spPr>
          <a:xfrm>
            <a:off x="533400" y="2326927"/>
            <a:ext cx="3581400" cy="47625"/>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584617D8-C79F-45B3-BE15-8677DAE4AC0F}"/>
              </a:ext>
            </a:extLst>
          </p:cNvPr>
          <p:cNvSpPr>
            <a:spLocks noGrp="1"/>
          </p:cNvSpPr>
          <p:nvPr/>
        </p:nvSpPr>
        <p:spPr>
          <a:xfrm>
            <a:off x="533400" y="2326927"/>
            <a:ext cx="9525" cy="1666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423E8F9F-C4D2-44BC-B4F0-781CAAD80222}"/>
              </a:ext>
            </a:extLst>
          </p:cNvPr>
          <p:cNvSpPr>
            <a:spLocks noGrp="1"/>
          </p:cNvSpPr>
          <p:nvPr/>
        </p:nvSpPr>
        <p:spPr>
          <a:xfrm>
            <a:off x="4105275" y="2326927"/>
            <a:ext cx="9525" cy="1666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DF54517D-E0D7-4F49-A8BB-9428585C8FFD}"/>
              </a:ext>
            </a:extLst>
          </p:cNvPr>
          <p:cNvSpPr>
            <a:spLocks noGrp="1"/>
          </p:cNvSpPr>
          <p:nvPr/>
        </p:nvSpPr>
        <p:spPr>
          <a:xfrm>
            <a:off x="4305300" y="3984277"/>
            <a:ext cx="35814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EA6C9F1E-53CC-4E8C-8E24-889895ECED39}"/>
              </a:ext>
            </a:extLst>
          </p:cNvPr>
          <p:cNvSpPr>
            <a:spLocks noGrp="1"/>
          </p:cNvSpPr>
          <p:nvPr/>
        </p:nvSpPr>
        <p:spPr>
          <a:xfrm>
            <a:off x="4305300" y="2326927"/>
            <a:ext cx="3581400" cy="47625"/>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66C5D5C9-ECE3-4658-BE0F-BC8403F6C177}"/>
              </a:ext>
            </a:extLst>
          </p:cNvPr>
          <p:cNvSpPr>
            <a:spLocks noGrp="1"/>
          </p:cNvSpPr>
          <p:nvPr/>
        </p:nvSpPr>
        <p:spPr>
          <a:xfrm>
            <a:off x="4305300" y="2326927"/>
            <a:ext cx="9525" cy="1666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FC195D29-9292-423D-9263-7C76C8F309E0}"/>
              </a:ext>
            </a:extLst>
          </p:cNvPr>
          <p:cNvSpPr>
            <a:spLocks noGrp="1"/>
          </p:cNvSpPr>
          <p:nvPr/>
        </p:nvSpPr>
        <p:spPr>
          <a:xfrm>
            <a:off x="7877175" y="2326927"/>
            <a:ext cx="9525" cy="1666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DDC7CEC3-3C51-43FF-B6B2-6D5945351068}"/>
              </a:ext>
            </a:extLst>
          </p:cNvPr>
          <p:cNvSpPr>
            <a:spLocks noGrp="1"/>
          </p:cNvSpPr>
          <p:nvPr/>
        </p:nvSpPr>
        <p:spPr>
          <a:xfrm>
            <a:off x="8077200" y="3984277"/>
            <a:ext cx="35814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38D5F489-E807-4F86-A632-4E47704D6CC3}"/>
              </a:ext>
            </a:extLst>
          </p:cNvPr>
          <p:cNvSpPr>
            <a:spLocks noGrp="1"/>
          </p:cNvSpPr>
          <p:nvPr/>
        </p:nvSpPr>
        <p:spPr>
          <a:xfrm>
            <a:off x="8077200" y="2326927"/>
            <a:ext cx="3581400" cy="47625"/>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E1FF112F-BD31-45EF-B562-6B9CF3F3FC76}"/>
              </a:ext>
            </a:extLst>
          </p:cNvPr>
          <p:cNvSpPr>
            <a:spLocks noGrp="1"/>
          </p:cNvSpPr>
          <p:nvPr/>
        </p:nvSpPr>
        <p:spPr>
          <a:xfrm>
            <a:off x="8077200" y="2326927"/>
            <a:ext cx="9525" cy="1666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989ABEF8-72DE-4DAF-9480-CDA8D5F9A060}"/>
              </a:ext>
            </a:extLst>
          </p:cNvPr>
          <p:cNvSpPr>
            <a:spLocks noGrp="1"/>
          </p:cNvSpPr>
          <p:nvPr/>
        </p:nvSpPr>
        <p:spPr>
          <a:xfrm>
            <a:off x="11649075" y="2326927"/>
            <a:ext cx="9525" cy="166687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DFD555-F750-4050-8B0D-3DEE4377AFFC}"/>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22" name="TextBox 21">
            <a:extLst>
              <a:ext uri="{FF2B5EF4-FFF2-40B4-BE49-F238E27FC236}">
                <a16:creationId xmlns:a16="http://schemas.microsoft.com/office/drawing/2014/main" id="{2E0D8B55-CE6D-474D-B992-A98CFBBC02DE}"/>
              </a:ext>
            </a:extLst>
          </p:cNvPr>
          <p:cNvSpPr>
            <a:spLocks noGrp="1"/>
          </p:cNvSpPr>
          <p:nvPr/>
        </p:nvSpPr>
        <p:spPr>
          <a:xfrm>
            <a:off x="533400" y="381000"/>
            <a:ext cx="8905875"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PROPOSED DESTINATION</a:t>
            </a:r>
          </a:p>
        </p:txBody>
      </p:sp>
      <p:sp>
        <p:nvSpPr>
          <p:cNvPr id="23" name="TextBox 22">
            <a:extLst>
              <a:ext uri="{FF2B5EF4-FFF2-40B4-BE49-F238E27FC236}">
                <a16:creationId xmlns:a16="http://schemas.microsoft.com/office/drawing/2014/main" id="{2E9CAE72-9237-41AE-BF7E-E40302FCDE10}"/>
              </a:ext>
            </a:extLst>
          </p:cNvPr>
          <p:cNvSpPr>
            <a:spLocks noGrp="1"/>
          </p:cNvSpPr>
          <p:nvPr/>
        </p:nvSpPr>
        <p:spPr>
          <a:xfrm>
            <a:off x="533400" y="609600"/>
            <a:ext cx="9351168"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A Verified $12.0M Net Profit Uplift at 13.0% Margin</a:t>
            </a:r>
          </a:p>
        </p:txBody>
      </p:sp>
      <p:sp>
        <p:nvSpPr>
          <p:cNvPr id="24" name="TextBox 23">
            <a:extLst>
              <a:ext uri="{FF2B5EF4-FFF2-40B4-BE49-F238E27FC236}">
                <a16:creationId xmlns:a16="http://schemas.microsoft.com/office/drawing/2014/main" id="{E6D20F0B-4CF5-42EA-8968-17C5DDB56D39}"/>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25" name="TextBox 24">
            <a:extLst>
              <a:ext uri="{FF2B5EF4-FFF2-40B4-BE49-F238E27FC236}">
                <a16:creationId xmlns:a16="http://schemas.microsoft.com/office/drawing/2014/main" id="{F56927BA-45D3-447B-A10C-592EC30DE395}"/>
              </a:ext>
            </a:extLst>
          </p:cNvPr>
          <p:cNvSpPr>
            <a:spLocks noGrp="1"/>
          </p:cNvSpPr>
          <p:nvPr/>
        </p:nvSpPr>
        <p:spPr>
          <a:xfrm>
            <a:off x="809625" y="2641252"/>
            <a:ext cx="3786187"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64748B"/>
                </a:solidFill>
                <a:latin typeface="Arial"/>
                <a:ea typeface="Arial"/>
                <a:cs typeface="Arial"/>
              </a:rPr>
              <a:t>GROSS ANNUAL BENEFIT</a:t>
            </a:r>
          </a:p>
        </p:txBody>
      </p:sp>
      <p:sp>
        <p:nvSpPr>
          <p:cNvPr id="26" name="TextBox 25">
            <a:extLst>
              <a:ext uri="{FF2B5EF4-FFF2-40B4-BE49-F238E27FC236}">
                <a16:creationId xmlns:a16="http://schemas.microsoft.com/office/drawing/2014/main" id="{A974C71A-7743-4B5F-B621-96DF2DE30F41}"/>
              </a:ext>
            </a:extLst>
          </p:cNvPr>
          <p:cNvSpPr>
            <a:spLocks noGrp="1"/>
          </p:cNvSpPr>
          <p:nvPr/>
        </p:nvSpPr>
        <p:spPr>
          <a:xfrm>
            <a:off x="809625" y="2879377"/>
            <a:ext cx="3786187" cy="581025"/>
          </a:xfrm>
          <a:prstGeom prst="rect">
            <a:avLst/>
          </a:prstGeom>
          <a:noFill/>
        </p:spPr>
        <p:txBody>
          <a:bodyPr wrap="none" lIns="0" tIns="0" rIns="0" bIns="0" anchor="t">
            <a:spAutoFit/>
          </a:bodyPr>
          <a:lstStyle/>
          <a:p>
            <a:pPr algn="l">
              <a:buNone/>
              <a:defRPr>
                <a:latin typeface="Arial"/>
                <a:ea typeface="Arial"/>
                <a:cs typeface="Arial"/>
              </a:defRPr>
            </a:pPr>
            <a:r>
              <a:rPr sz="3600" b="1" i="0" u="none">
                <a:solidFill>
                  <a:srgbClr val="0F172A"/>
                </a:solidFill>
                <a:latin typeface="Arial"/>
                <a:ea typeface="Arial"/>
                <a:cs typeface="Arial"/>
              </a:rPr>
              <a:t>+$18.0M</a:t>
            </a:r>
          </a:p>
        </p:txBody>
      </p:sp>
      <p:sp>
        <p:nvSpPr>
          <p:cNvPr id="27" name="TextBox 26">
            <a:extLst>
              <a:ext uri="{FF2B5EF4-FFF2-40B4-BE49-F238E27FC236}">
                <a16:creationId xmlns:a16="http://schemas.microsoft.com/office/drawing/2014/main" id="{6631E2A7-2D14-4E8B-A6ED-714755CE0798}"/>
              </a:ext>
            </a:extLst>
          </p:cNvPr>
          <p:cNvSpPr>
            <a:spLocks noGrp="1"/>
          </p:cNvSpPr>
          <p:nvPr/>
        </p:nvSpPr>
        <p:spPr>
          <a:xfrm>
            <a:off x="809625" y="3536602"/>
            <a:ext cx="3786187"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475569"/>
                </a:solidFill>
                <a:latin typeface="Arial"/>
                <a:ea typeface="Arial"/>
                <a:cs typeface="Arial"/>
              </a:rPr>
              <a:t>Four measurable Q1–Q2 priorities.</a:t>
            </a:r>
          </a:p>
        </p:txBody>
      </p:sp>
      <p:sp>
        <p:nvSpPr>
          <p:cNvPr id="28" name="TextBox 27">
            <a:extLst>
              <a:ext uri="{FF2B5EF4-FFF2-40B4-BE49-F238E27FC236}">
                <a16:creationId xmlns:a16="http://schemas.microsoft.com/office/drawing/2014/main" id="{4CC18650-3C48-4CA5-9749-42F6D9A27278}"/>
              </a:ext>
            </a:extLst>
          </p:cNvPr>
          <p:cNvSpPr>
            <a:spLocks noGrp="1"/>
          </p:cNvSpPr>
          <p:nvPr/>
        </p:nvSpPr>
        <p:spPr>
          <a:xfrm>
            <a:off x="4581525" y="2641252"/>
            <a:ext cx="3786187"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64748B"/>
                </a:solidFill>
                <a:latin typeface="Arial"/>
                <a:ea typeface="Arial"/>
                <a:cs typeface="Arial"/>
              </a:rPr>
              <a:t>IMPLEMENTATION COST</a:t>
            </a:r>
          </a:p>
        </p:txBody>
      </p:sp>
      <p:sp>
        <p:nvSpPr>
          <p:cNvPr id="29" name="TextBox 28">
            <a:extLst>
              <a:ext uri="{FF2B5EF4-FFF2-40B4-BE49-F238E27FC236}">
                <a16:creationId xmlns:a16="http://schemas.microsoft.com/office/drawing/2014/main" id="{A0A5BFA0-60C9-4836-8BD6-59580DD479C6}"/>
              </a:ext>
            </a:extLst>
          </p:cNvPr>
          <p:cNvSpPr>
            <a:spLocks noGrp="1"/>
          </p:cNvSpPr>
          <p:nvPr/>
        </p:nvSpPr>
        <p:spPr>
          <a:xfrm>
            <a:off x="4581525" y="2879377"/>
            <a:ext cx="3786187" cy="581025"/>
          </a:xfrm>
          <a:prstGeom prst="rect">
            <a:avLst/>
          </a:prstGeom>
          <a:noFill/>
        </p:spPr>
        <p:txBody>
          <a:bodyPr wrap="none" lIns="0" tIns="0" rIns="0" bIns="0" anchor="t">
            <a:spAutoFit/>
          </a:bodyPr>
          <a:lstStyle/>
          <a:p>
            <a:pPr algn="l">
              <a:buNone/>
              <a:defRPr>
                <a:latin typeface="Arial"/>
                <a:ea typeface="Arial"/>
                <a:cs typeface="Arial"/>
              </a:defRPr>
            </a:pPr>
            <a:r>
              <a:rPr sz="3600" b="1" i="0" u="none">
                <a:solidFill>
                  <a:srgbClr val="0F172A"/>
                </a:solidFill>
                <a:latin typeface="Arial"/>
                <a:ea typeface="Arial"/>
                <a:cs typeface="Arial"/>
              </a:rPr>
              <a:t>$6.0M</a:t>
            </a:r>
          </a:p>
        </p:txBody>
      </p:sp>
      <p:sp>
        <p:nvSpPr>
          <p:cNvPr id="30" name="TextBox 29">
            <a:extLst>
              <a:ext uri="{FF2B5EF4-FFF2-40B4-BE49-F238E27FC236}">
                <a16:creationId xmlns:a16="http://schemas.microsoft.com/office/drawing/2014/main" id="{7B7711C3-C0D8-4635-B7C8-50E2EDAE91F9}"/>
              </a:ext>
            </a:extLst>
          </p:cNvPr>
          <p:cNvSpPr>
            <a:spLocks noGrp="1"/>
          </p:cNvSpPr>
          <p:nvPr/>
        </p:nvSpPr>
        <p:spPr>
          <a:xfrm>
            <a:off x="4581525" y="3536602"/>
            <a:ext cx="3786187"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475569"/>
                </a:solidFill>
                <a:latin typeface="Arial"/>
                <a:ea typeface="Arial"/>
                <a:cs typeface="Arial"/>
              </a:rPr>
              <a:t>4.0-month payback period across Q1–Q2.</a:t>
            </a:r>
          </a:p>
        </p:txBody>
      </p:sp>
      <p:sp>
        <p:nvSpPr>
          <p:cNvPr id="31" name="TextBox 30">
            <a:extLst>
              <a:ext uri="{FF2B5EF4-FFF2-40B4-BE49-F238E27FC236}">
                <a16:creationId xmlns:a16="http://schemas.microsoft.com/office/drawing/2014/main" id="{21D08727-CA27-4878-B699-8653E8334574}"/>
              </a:ext>
            </a:extLst>
          </p:cNvPr>
          <p:cNvSpPr>
            <a:spLocks noGrp="1"/>
          </p:cNvSpPr>
          <p:nvPr/>
        </p:nvSpPr>
        <p:spPr>
          <a:xfrm>
            <a:off x="8353425" y="2641252"/>
            <a:ext cx="3786187"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64748B"/>
                </a:solidFill>
                <a:latin typeface="Arial"/>
                <a:ea typeface="Arial"/>
                <a:cs typeface="Arial"/>
              </a:rPr>
              <a:t>NET ANNUAL UPLIFT</a:t>
            </a:r>
          </a:p>
        </p:txBody>
      </p:sp>
      <p:sp>
        <p:nvSpPr>
          <p:cNvPr id="32" name="TextBox 31">
            <a:extLst>
              <a:ext uri="{FF2B5EF4-FFF2-40B4-BE49-F238E27FC236}">
                <a16:creationId xmlns:a16="http://schemas.microsoft.com/office/drawing/2014/main" id="{928982C2-9457-473C-91E7-A3E1388BD56C}"/>
              </a:ext>
            </a:extLst>
          </p:cNvPr>
          <p:cNvSpPr>
            <a:spLocks noGrp="1"/>
          </p:cNvSpPr>
          <p:nvPr/>
        </p:nvSpPr>
        <p:spPr>
          <a:xfrm>
            <a:off x="8353425" y="2879377"/>
            <a:ext cx="3786187" cy="581025"/>
          </a:xfrm>
          <a:prstGeom prst="rect">
            <a:avLst/>
          </a:prstGeom>
          <a:noFill/>
        </p:spPr>
        <p:txBody>
          <a:bodyPr wrap="none" lIns="0" tIns="0" rIns="0" bIns="0" anchor="t">
            <a:spAutoFit/>
          </a:bodyPr>
          <a:lstStyle/>
          <a:p>
            <a:pPr algn="l">
              <a:buNone/>
              <a:defRPr>
                <a:latin typeface="Arial"/>
                <a:ea typeface="Arial"/>
                <a:cs typeface="Arial"/>
              </a:defRPr>
            </a:pPr>
            <a:r>
              <a:rPr sz="3600" b="1" i="0" u="none">
                <a:solidFill>
                  <a:srgbClr val="16A34A"/>
                </a:solidFill>
                <a:latin typeface="Arial"/>
                <a:ea typeface="Arial"/>
                <a:cs typeface="Arial"/>
              </a:rPr>
              <a:t>+$12.0M</a:t>
            </a:r>
          </a:p>
        </p:txBody>
      </p:sp>
      <p:sp>
        <p:nvSpPr>
          <p:cNvPr id="33" name="TextBox 32">
            <a:extLst>
              <a:ext uri="{FF2B5EF4-FFF2-40B4-BE49-F238E27FC236}">
                <a16:creationId xmlns:a16="http://schemas.microsoft.com/office/drawing/2014/main" id="{D2EBFA9B-539B-4785-A9E9-6CDE36EC79C5}"/>
              </a:ext>
            </a:extLst>
          </p:cNvPr>
          <p:cNvSpPr>
            <a:spLocks noGrp="1"/>
          </p:cNvSpPr>
          <p:nvPr/>
        </p:nvSpPr>
        <p:spPr>
          <a:xfrm>
            <a:off x="8353425" y="3536602"/>
            <a:ext cx="3786187"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475569"/>
                </a:solidFill>
                <a:latin typeface="Arial"/>
                <a:ea typeface="Arial"/>
                <a:cs typeface="Arial"/>
              </a:rPr>
              <a:t>Expands net margin from 9.9% to 13.0%.</a:t>
            </a:r>
          </a:p>
        </p:txBody>
      </p:sp>
      <p:sp>
        <p:nvSpPr>
          <p:cNvPr id="34" name="TextBox 33">
            <a:extLst>
              <a:ext uri="{FF2B5EF4-FFF2-40B4-BE49-F238E27FC236}">
                <a16:creationId xmlns:a16="http://schemas.microsoft.com/office/drawing/2014/main" id="{7189BB92-6EF4-467E-8A99-6F075F74419E}"/>
              </a:ext>
            </a:extLst>
          </p:cNvPr>
          <p:cNvSpPr>
            <a:spLocks noGrp="1"/>
          </p:cNvSpPr>
          <p:nvPr/>
        </p:nvSpPr>
        <p:spPr>
          <a:xfrm>
            <a:off x="752475" y="4479577"/>
            <a:ext cx="4158918"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1. Stop Promotion Loss</a:t>
            </a:r>
          </a:p>
        </p:txBody>
      </p:sp>
      <p:sp>
        <p:nvSpPr>
          <p:cNvPr id="35" name="TextBox 34">
            <a:extLst>
              <a:ext uri="{FF2B5EF4-FFF2-40B4-BE49-F238E27FC236}">
                <a16:creationId xmlns:a16="http://schemas.microsoft.com/office/drawing/2014/main" id="{4F87B0C3-E91B-44B5-89CB-678992163D7A}"/>
              </a:ext>
            </a:extLst>
          </p:cNvPr>
          <p:cNvSpPr>
            <a:spLocks noGrp="1"/>
          </p:cNvSpPr>
          <p:nvPr/>
        </p:nvSpPr>
        <p:spPr>
          <a:xfrm>
            <a:off x="752475" y="4727227"/>
            <a:ext cx="3263949" cy="361950"/>
          </a:xfrm>
          <a:prstGeom prst="rect">
            <a:avLst/>
          </a:prstGeom>
          <a:noFill/>
        </p:spPr>
        <p:txBody>
          <a:bodyPr wrap="square" lIns="0" tIns="0" rIns="0" bIns="0" anchor="t">
            <a:spAutoFit/>
          </a:bodyPr>
          <a:lstStyle/>
          <a:p>
            <a:pPr algn="l">
              <a:buNone/>
              <a:defRPr>
                <a:latin typeface="Arial"/>
                <a:ea typeface="Arial"/>
                <a:cs typeface="Arial"/>
              </a:defRPr>
            </a:pPr>
            <a:r>
              <a:rPr sz="1125" b="0" i="0" u="none">
                <a:solidFill>
                  <a:srgbClr val="334155"/>
                </a:solidFill>
                <a:latin typeface="Arial"/>
                <a:ea typeface="Arial"/>
                <a:cs typeface="Arial"/>
              </a:rPr>
              <a:t>Use margin and ROI gates before funding deep offers.</a:t>
            </a:r>
          </a:p>
        </p:txBody>
      </p:sp>
      <p:sp>
        <p:nvSpPr>
          <p:cNvPr id="36" name="TextBox 35">
            <a:extLst>
              <a:ext uri="{FF2B5EF4-FFF2-40B4-BE49-F238E27FC236}">
                <a16:creationId xmlns:a16="http://schemas.microsoft.com/office/drawing/2014/main" id="{3BDD2820-96CA-404A-82CC-4E89FFB5B3B4}"/>
              </a:ext>
            </a:extLst>
          </p:cNvPr>
          <p:cNvSpPr>
            <a:spLocks noGrp="1"/>
          </p:cNvSpPr>
          <p:nvPr/>
        </p:nvSpPr>
        <p:spPr>
          <a:xfrm>
            <a:off x="4511724" y="4479577"/>
            <a:ext cx="2978701" cy="196208"/>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2. Assign </a:t>
            </a:r>
            <a:r>
              <a:rPr lang="en-US" sz="1275" b="1" i="0" u="none">
                <a:solidFill>
                  <a:srgbClr val="0F172A"/>
                </a:solidFill>
                <a:latin typeface="Arial"/>
                <a:ea typeface="Arial"/>
                <a:cs typeface="Arial"/>
              </a:rPr>
              <a:t>Loss Making Combinations</a:t>
            </a:r>
            <a:r>
              <a:rPr sz="1275" b="1" i="0" u="none">
                <a:solidFill>
                  <a:srgbClr val="0F172A"/>
                </a:solidFill>
                <a:latin typeface="Arial"/>
                <a:ea typeface="Arial"/>
                <a:cs typeface="Arial"/>
              </a:rPr>
              <a:t>s</a:t>
            </a:r>
          </a:p>
        </p:txBody>
      </p:sp>
      <p:sp>
        <p:nvSpPr>
          <p:cNvPr id="37" name="TextBox 36">
            <a:extLst>
              <a:ext uri="{FF2B5EF4-FFF2-40B4-BE49-F238E27FC236}">
                <a16:creationId xmlns:a16="http://schemas.microsoft.com/office/drawing/2014/main" id="{19E00924-2566-49BE-9256-4297D4BCBDB5}"/>
              </a:ext>
            </a:extLst>
          </p:cNvPr>
          <p:cNvSpPr>
            <a:spLocks noGrp="1"/>
          </p:cNvSpPr>
          <p:nvPr/>
        </p:nvSpPr>
        <p:spPr>
          <a:xfrm>
            <a:off x="4511724" y="4727227"/>
            <a:ext cx="3263949" cy="361950"/>
          </a:xfrm>
          <a:prstGeom prst="rect">
            <a:avLst/>
          </a:prstGeom>
          <a:noFill/>
        </p:spPr>
        <p:txBody>
          <a:bodyPr wrap="square" lIns="0" tIns="0" rIns="0" bIns="0" anchor="t">
            <a:spAutoFit/>
          </a:bodyPr>
          <a:lstStyle/>
          <a:p>
            <a:pPr algn="l">
              <a:buNone/>
              <a:defRPr>
                <a:latin typeface="Arial"/>
                <a:ea typeface="Arial"/>
                <a:cs typeface="Arial"/>
              </a:defRPr>
            </a:pPr>
            <a:r>
              <a:rPr sz="1125" b="0" i="0" u="none">
                <a:solidFill>
                  <a:srgbClr val="334155"/>
                </a:solidFill>
                <a:latin typeface="Arial"/>
                <a:ea typeface="Arial"/>
                <a:cs typeface="Arial"/>
              </a:rPr>
              <a:t>Give the top 50 recurring pockets one owner and one fix.</a:t>
            </a:r>
          </a:p>
        </p:txBody>
      </p:sp>
      <p:sp>
        <p:nvSpPr>
          <p:cNvPr id="38" name="TextBox 37">
            <a:extLst>
              <a:ext uri="{FF2B5EF4-FFF2-40B4-BE49-F238E27FC236}">
                <a16:creationId xmlns:a16="http://schemas.microsoft.com/office/drawing/2014/main" id="{20586200-D64B-47AC-8CE3-3C4C27CB4943}"/>
              </a:ext>
            </a:extLst>
          </p:cNvPr>
          <p:cNvSpPr>
            <a:spLocks noGrp="1"/>
          </p:cNvSpPr>
          <p:nvPr/>
        </p:nvSpPr>
        <p:spPr>
          <a:xfrm>
            <a:off x="8270974" y="4479577"/>
            <a:ext cx="3921025"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3. Protect Customer Value</a:t>
            </a:r>
          </a:p>
        </p:txBody>
      </p:sp>
      <p:sp>
        <p:nvSpPr>
          <p:cNvPr id="39" name="TextBox 38">
            <a:extLst>
              <a:ext uri="{FF2B5EF4-FFF2-40B4-BE49-F238E27FC236}">
                <a16:creationId xmlns:a16="http://schemas.microsoft.com/office/drawing/2014/main" id="{60DA0D15-5571-47F5-870D-285296C6C606}"/>
              </a:ext>
            </a:extLst>
          </p:cNvPr>
          <p:cNvSpPr>
            <a:spLocks noGrp="1"/>
          </p:cNvSpPr>
          <p:nvPr/>
        </p:nvSpPr>
        <p:spPr>
          <a:xfrm>
            <a:off x="8270974" y="4727227"/>
            <a:ext cx="3263949" cy="361950"/>
          </a:xfrm>
          <a:prstGeom prst="rect">
            <a:avLst/>
          </a:prstGeom>
          <a:noFill/>
        </p:spPr>
        <p:txBody>
          <a:bodyPr wrap="square" lIns="0" tIns="0" rIns="0" bIns="0" anchor="t">
            <a:spAutoFit/>
          </a:bodyPr>
          <a:lstStyle/>
          <a:p>
            <a:pPr algn="l">
              <a:buNone/>
              <a:defRPr>
                <a:latin typeface="Arial"/>
                <a:ea typeface="Arial"/>
                <a:cs typeface="Arial"/>
              </a:defRPr>
            </a:pPr>
            <a:r>
              <a:rPr sz="1125" b="0" i="0" u="none">
                <a:solidFill>
                  <a:srgbClr val="334155"/>
                </a:solidFill>
                <a:latin typeface="Arial"/>
                <a:ea typeface="Arial"/>
                <a:cs typeface="Arial"/>
              </a:rPr>
              <a:t>Start with 1,408 high-value customers at the greatest modeled risk.</a:t>
            </a:r>
          </a:p>
        </p:txBody>
      </p:sp>
    </p:spTree>
    <p:extLst>
      <p:ext uri="{BB962C8B-B14F-4D97-AF65-F5344CB8AC3E}">
        <p14:creationId xmlns:p14="http://schemas.microsoft.com/office/powerpoint/2010/main" val="89810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8EEBE2A-B67D-4257-8D7B-7108124CF1D9}"/>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ACE0FA4E-E6DC-412F-A506-0525F121D9E8}"/>
              </a:ext>
            </a:extLst>
          </p:cNvPr>
          <p:cNvSpPr>
            <a:spLocks noGrp="1"/>
          </p:cNvSpPr>
          <p:nvPr/>
        </p:nvSpPr>
        <p:spPr>
          <a:xfrm>
            <a:off x="533400" y="2384077"/>
            <a:ext cx="5724525" cy="2867025"/>
          </a:xfrm>
          <a:prstGeom prst="roundRect">
            <a:avLst>
              <a:gd name="adj" fmla="val 3986"/>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ABCC238F-513C-4557-B468-0BE89FF0450A}"/>
              </a:ext>
            </a:extLst>
          </p:cNvPr>
          <p:cNvSpPr>
            <a:spLocks noGrp="1"/>
          </p:cNvSpPr>
          <p:nvPr/>
        </p:nvSpPr>
        <p:spPr>
          <a:xfrm>
            <a:off x="847725" y="4203352"/>
            <a:ext cx="5095875" cy="733425"/>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9B1540FC-5050-49C7-ADD7-1D2CC17C0B5A}"/>
              </a:ext>
            </a:extLst>
          </p:cNvPr>
          <p:cNvSpPr>
            <a:spLocks noGrp="1"/>
          </p:cNvSpPr>
          <p:nvPr/>
        </p:nvSpPr>
        <p:spPr>
          <a:xfrm>
            <a:off x="6562725" y="2360265"/>
            <a:ext cx="5095875" cy="809625"/>
          </a:xfrm>
          <a:prstGeom prst="roundRect">
            <a:avLst>
              <a:gd name="adj" fmla="val 11764"/>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EDBEB5B2-945C-4E72-8AE9-3B36B5EF5FA7}"/>
              </a:ext>
            </a:extLst>
          </p:cNvPr>
          <p:cNvSpPr>
            <a:spLocks noGrp="1"/>
          </p:cNvSpPr>
          <p:nvPr/>
        </p:nvSpPr>
        <p:spPr>
          <a:xfrm>
            <a:off x="6562725" y="3322290"/>
            <a:ext cx="5095875" cy="990600"/>
          </a:xfrm>
          <a:prstGeom prst="roundRect">
            <a:avLst>
              <a:gd name="adj" fmla="val 9615"/>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92F1AC33-52FD-4B9D-9864-EE2C59DD00A1}"/>
              </a:ext>
            </a:extLst>
          </p:cNvPr>
          <p:cNvSpPr>
            <a:spLocks noGrp="1"/>
          </p:cNvSpPr>
          <p:nvPr/>
        </p:nvSpPr>
        <p:spPr>
          <a:xfrm>
            <a:off x="6562725" y="4465290"/>
            <a:ext cx="5095875" cy="809625"/>
          </a:xfrm>
          <a:prstGeom prst="roundRect">
            <a:avLst>
              <a:gd name="adj" fmla="val 11764"/>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34FE111-51D8-4D39-B839-09CA57145B23}"/>
              </a:ext>
            </a:extLst>
          </p:cNvPr>
          <p:cNvSpPr>
            <a:spLocks noGrp="1"/>
          </p:cNvSpPr>
          <p:nvPr/>
        </p:nvSpPr>
        <p:spPr>
          <a:xfrm>
            <a:off x="847725" y="4203352"/>
            <a:ext cx="38100" cy="733425"/>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39" name="Picture 8"/>
          <p:cNvPicPr>
            <a:picLocks noChangeAspect="1"/>
          </p:cNvPicPr>
          <p:nvPr/>
        </p:nvPicPr>
        <p:blipFill>
          <a:blip r:embed="rId3"/>
          <a:stretch>
            <a:fillRect/>
          </a:stretch>
        </p:blipFill>
        <p:spPr>
          <a:xfrm>
            <a:off x="6762750" y="2579340"/>
            <a:ext cx="209550" cy="209550"/>
          </a:xfrm>
          <a:prstGeom prst="rect">
            <a:avLst/>
          </a:prstGeom>
        </p:spPr>
      </p:pic>
      <p:pic>
        <p:nvPicPr>
          <p:cNvPr id="40" name="Picture 9"/>
          <p:cNvPicPr>
            <a:picLocks noChangeAspect="1"/>
          </p:cNvPicPr>
          <p:nvPr/>
        </p:nvPicPr>
        <p:blipFill>
          <a:blip r:embed="rId3"/>
          <a:stretch>
            <a:fillRect/>
          </a:stretch>
        </p:blipFill>
        <p:spPr>
          <a:xfrm>
            <a:off x="6762750" y="3541365"/>
            <a:ext cx="209550" cy="209550"/>
          </a:xfrm>
          <a:prstGeom prst="rect">
            <a:avLst/>
          </a:prstGeom>
        </p:spPr>
      </p:pic>
      <p:pic>
        <p:nvPicPr>
          <p:cNvPr id="41" name="Picture 10"/>
          <p:cNvPicPr>
            <a:picLocks noChangeAspect="1"/>
          </p:cNvPicPr>
          <p:nvPr/>
        </p:nvPicPr>
        <p:blipFill>
          <a:blip r:embed="rId3"/>
          <a:stretch>
            <a:fillRect/>
          </a:stretch>
        </p:blipFill>
        <p:spPr>
          <a:xfrm>
            <a:off x="6762750" y="4684365"/>
            <a:ext cx="209550" cy="209550"/>
          </a:xfrm>
          <a:prstGeom prst="rect">
            <a:avLst/>
          </a:prstGeom>
        </p:spPr>
      </p:pic>
      <p:sp>
        <p:nvSpPr>
          <p:cNvPr id="12" name="TextBox 11">
            <a:extLst>
              <a:ext uri="{FF2B5EF4-FFF2-40B4-BE49-F238E27FC236}">
                <a16:creationId xmlns:a16="http://schemas.microsoft.com/office/drawing/2014/main" id="{D97E29DA-A839-4889-8109-F968036D3B7C}"/>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13" name="TextBox 12">
            <a:extLst>
              <a:ext uri="{FF2B5EF4-FFF2-40B4-BE49-F238E27FC236}">
                <a16:creationId xmlns:a16="http://schemas.microsoft.com/office/drawing/2014/main" id="{B080C2E9-0584-44FF-9C81-8255A03413DB}"/>
              </a:ext>
            </a:extLst>
          </p:cNvPr>
          <p:cNvSpPr>
            <a:spLocks noGrp="1"/>
          </p:cNvSpPr>
          <p:nvPr/>
        </p:nvSpPr>
        <p:spPr>
          <a:xfrm>
            <a:off x="533400" y="381000"/>
            <a:ext cx="8024812"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WHY THIS MATTERS</a:t>
            </a:r>
          </a:p>
        </p:txBody>
      </p:sp>
      <p:sp>
        <p:nvSpPr>
          <p:cNvPr id="14" name="TextBox 13">
            <a:extLst>
              <a:ext uri="{FF2B5EF4-FFF2-40B4-BE49-F238E27FC236}">
                <a16:creationId xmlns:a16="http://schemas.microsoft.com/office/drawing/2014/main" id="{FFB57697-7530-4153-9864-38E23617E246}"/>
              </a:ext>
            </a:extLst>
          </p:cNvPr>
          <p:cNvSpPr>
            <a:spLocks noGrp="1"/>
          </p:cNvSpPr>
          <p:nvPr/>
        </p:nvSpPr>
        <p:spPr>
          <a:xfrm>
            <a:off x="533400" y="609600"/>
            <a:ext cx="8426053"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The Baseline Shows the Value Gap</a:t>
            </a:r>
          </a:p>
        </p:txBody>
      </p:sp>
      <p:sp>
        <p:nvSpPr>
          <p:cNvPr id="15" name="TextBox 14">
            <a:extLst>
              <a:ext uri="{FF2B5EF4-FFF2-40B4-BE49-F238E27FC236}">
                <a16:creationId xmlns:a16="http://schemas.microsoft.com/office/drawing/2014/main" id="{C3BC4B6B-5DA8-4C72-86E6-22B0DB65A77D}"/>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16" name="TextBox 15">
            <a:extLst>
              <a:ext uri="{FF2B5EF4-FFF2-40B4-BE49-F238E27FC236}">
                <a16:creationId xmlns:a16="http://schemas.microsoft.com/office/drawing/2014/main" id="{C68F9E5D-D0F4-4743-B58B-746753557F34}"/>
              </a:ext>
            </a:extLst>
          </p:cNvPr>
          <p:cNvSpPr>
            <a:spLocks noGrp="1"/>
          </p:cNvSpPr>
          <p:nvPr/>
        </p:nvSpPr>
        <p:spPr>
          <a:xfrm>
            <a:off x="847725" y="2698402"/>
            <a:ext cx="6369843"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CURRENT DASHBOARD BASELINE</a:t>
            </a:r>
          </a:p>
        </p:txBody>
      </p:sp>
      <p:sp>
        <p:nvSpPr>
          <p:cNvPr id="17" name="TextBox 16">
            <a:extLst>
              <a:ext uri="{FF2B5EF4-FFF2-40B4-BE49-F238E27FC236}">
                <a16:creationId xmlns:a16="http://schemas.microsoft.com/office/drawing/2014/main" id="{F44FAF02-37E8-46FE-94F4-36DB0A20576F}"/>
              </a:ext>
            </a:extLst>
          </p:cNvPr>
          <p:cNvSpPr>
            <a:spLocks noGrp="1"/>
          </p:cNvSpPr>
          <p:nvPr/>
        </p:nvSpPr>
        <p:spPr>
          <a:xfrm>
            <a:off x="847725" y="3127027"/>
            <a:ext cx="2333625"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334155"/>
                </a:solidFill>
                <a:latin typeface="Arial"/>
                <a:ea typeface="Arial"/>
                <a:cs typeface="Arial"/>
              </a:rPr>
              <a:t>Revenue Baseline</a:t>
            </a:r>
          </a:p>
        </p:txBody>
      </p:sp>
      <p:sp>
        <p:nvSpPr>
          <p:cNvPr id="18" name="TextBox 17">
            <a:extLst>
              <a:ext uri="{FF2B5EF4-FFF2-40B4-BE49-F238E27FC236}">
                <a16:creationId xmlns:a16="http://schemas.microsoft.com/office/drawing/2014/main" id="{C8BC95E5-8C93-404D-8F40-F3AF22B907F8}"/>
              </a:ext>
            </a:extLst>
          </p:cNvPr>
          <p:cNvSpPr>
            <a:spLocks noGrp="1"/>
          </p:cNvSpPr>
          <p:nvPr/>
        </p:nvSpPr>
        <p:spPr>
          <a:xfrm>
            <a:off x="4810125" y="2974627"/>
            <a:ext cx="1419225" cy="381000"/>
          </a:xfrm>
          <a:prstGeom prst="rect">
            <a:avLst/>
          </a:prstGeom>
          <a:noFill/>
        </p:spPr>
        <p:txBody>
          <a:bodyPr wrap="none" lIns="0" tIns="0" rIns="0" bIns="0" anchor="t">
            <a:spAutoFit/>
          </a:bodyPr>
          <a:lstStyle/>
          <a:p>
            <a:pPr algn="l">
              <a:buNone/>
              <a:defRPr>
                <a:latin typeface="Arial"/>
                <a:ea typeface="Arial"/>
                <a:cs typeface="Arial"/>
              </a:defRPr>
            </a:pPr>
            <a:r>
              <a:rPr sz="2400" b="1" i="0" u="none">
                <a:solidFill>
                  <a:srgbClr val="0F172A"/>
                </a:solidFill>
                <a:latin typeface="Arial"/>
                <a:ea typeface="Arial"/>
                <a:cs typeface="Arial"/>
              </a:rPr>
              <a:t>$388.4M</a:t>
            </a:r>
          </a:p>
        </p:txBody>
      </p:sp>
      <p:sp>
        <p:nvSpPr>
          <p:cNvPr id="19" name="TextBox 18">
            <a:extLst>
              <a:ext uri="{FF2B5EF4-FFF2-40B4-BE49-F238E27FC236}">
                <a16:creationId xmlns:a16="http://schemas.microsoft.com/office/drawing/2014/main" id="{4C2DD786-EF19-468A-A9AA-360DD4214F49}"/>
              </a:ext>
            </a:extLst>
          </p:cNvPr>
          <p:cNvSpPr>
            <a:spLocks noGrp="1"/>
          </p:cNvSpPr>
          <p:nvPr/>
        </p:nvSpPr>
        <p:spPr>
          <a:xfrm>
            <a:off x="847725" y="3784252"/>
            <a:ext cx="1976437"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334155"/>
                </a:solidFill>
                <a:latin typeface="Arial"/>
                <a:ea typeface="Arial"/>
                <a:cs typeface="Arial"/>
              </a:rPr>
              <a:t>Profit Baseline</a:t>
            </a:r>
          </a:p>
        </p:txBody>
      </p:sp>
      <p:sp>
        <p:nvSpPr>
          <p:cNvPr id="20" name="TextBox 19">
            <a:extLst>
              <a:ext uri="{FF2B5EF4-FFF2-40B4-BE49-F238E27FC236}">
                <a16:creationId xmlns:a16="http://schemas.microsoft.com/office/drawing/2014/main" id="{14587EEF-B8A5-487C-B652-2EC77C7D4EF3}"/>
              </a:ext>
            </a:extLst>
          </p:cNvPr>
          <p:cNvSpPr>
            <a:spLocks noGrp="1"/>
          </p:cNvSpPr>
          <p:nvPr/>
        </p:nvSpPr>
        <p:spPr>
          <a:xfrm>
            <a:off x="4895850" y="3631852"/>
            <a:ext cx="1333500" cy="381000"/>
          </a:xfrm>
          <a:prstGeom prst="rect">
            <a:avLst/>
          </a:prstGeom>
          <a:noFill/>
        </p:spPr>
        <p:txBody>
          <a:bodyPr wrap="none" lIns="0" tIns="0" rIns="0" bIns="0" anchor="t">
            <a:spAutoFit/>
          </a:bodyPr>
          <a:lstStyle/>
          <a:p>
            <a:pPr algn="l">
              <a:buNone/>
              <a:defRPr>
                <a:latin typeface="Arial"/>
                <a:ea typeface="Arial"/>
                <a:cs typeface="Arial"/>
              </a:defRPr>
            </a:pPr>
            <a:r>
              <a:rPr sz="2400" b="1" i="0" u="none">
                <a:solidFill>
                  <a:srgbClr val="DC2626"/>
                </a:solidFill>
                <a:latin typeface="Arial"/>
                <a:ea typeface="Arial"/>
                <a:cs typeface="Arial"/>
              </a:rPr>
              <a:t>$38.4M</a:t>
            </a:r>
          </a:p>
        </p:txBody>
      </p:sp>
      <p:sp>
        <p:nvSpPr>
          <p:cNvPr id="21" name="TextBox 20">
            <a:extLst>
              <a:ext uri="{FF2B5EF4-FFF2-40B4-BE49-F238E27FC236}">
                <a16:creationId xmlns:a16="http://schemas.microsoft.com/office/drawing/2014/main" id="{0277F8B0-9F3D-4F4C-A5FB-7E36F29A0605}"/>
              </a:ext>
            </a:extLst>
          </p:cNvPr>
          <p:cNvSpPr>
            <a:spLocks noGrp="1"/>
          </p:cNvSpPr>
          <p:nvPr/>
        </p:nvSpPr>
        <p:spPr>
          <a:xfrm>
            <a:off x="1057275" y="4374802"/>
            <a:ext cx="5893593" cy="190500"/>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991B1B"/>
                </a:solidFill>
                <a:latin typeface="Arial"/>
                <a:ea typeface="Arial"/>
                <a:cs typeface="Arial"/>
              </a:rPr>
              <a:t>9.9% Current Margin</a:t>
            </a:r>
          </a:p>
        </p:txBody>
      </p:sp>
      <p:sp>
        <p:nvSpPr>
          <p:cNvPr id="22" name="TextBox 21">
            <a:extLst>
              <a:ext uri="{FF2B5EF4-FFF2-40B4-BE49-F238E27FC236}">
                <a16:creationId xmlns:a16="http://schemas.microsoft.com/office/drawing/2014/main" id="{2EE6F42F-F023-4ACA-813E-4199593BEE42}"/>
              </a:ext>
            </a:extLst>
          </p:cNvPr>
          <p:cNvSpPr>
            <a:spLocks noGrp="1"/>
          </p:cNvSpPr>
          <p:nvPr/>
        </p:nvSpPr>
        <p:spPr>
          <a:xfrm>
            <a:off x="1057275" y="4603402"/>
            <a:ext cx="5893593"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7F1D1D"/>
                </a:solidFill>
                <a:latin typeface="Arial"/>
                <a:ea typeface="Arial"/>
                <a:cs typeface="Arial"/>
              </a:rPr>
              <a:t>Base case projects $50.4M profit at a 13.0% margin.</a:t>
            </a:r>
          </a:p>
        </p:txBody>
      </p:sp>
      <p:sp>
        <p:nvSpPr>
          <p:cNvPr id="23" name="TextBox 22">
            <a:extLst>
              <a:ext uri="{FF2B5EF4-FFF2-40B4-BE49-F238E27FC236}">
                <a16:creationId xmlns:a16="http://schemas.microsoft.com/office/drawing/2014/main" id="{D3180612-3192-4B3A-9ACD-3B0DC6417734}"/>
              </a:ext>
            </a:extLst>
          </p:cNvPr>
          <p:cNvSpPr>
            <a:spLocks noGrp="1"/>
          </p:cNvSpPr>
          <p:nvPr/>
        </p:nvSpPr>
        <p:spPr>
          <a:xfrm>
            <a:off x="7124700" y="2560290"/>
            <a:ext cx="5067300"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Promotion Margin Leakage</a:t>
            </a:r>
          </a:p>
        </p:txBody>
      </p:sp>
      <p:sp>
        <p:nvSpPr>
          <p:cNvPr id="24" name="TextBox 23">
            <a:extLst>
              <a:ext uri="{FF2B5EF4-FFF2-40B4-BE49-F238E27FC236}">
                <a16:creationId xmlns:a16="http://schemas.microsoft.com/office/drawing/2014/main" id="{07F9F3C2-941B-4F8E-95CC-E62876B765F1}"/>
              </a:ext>
            </a:extLst>
          </p:cNvPr>
          <p:cNvSpPr>
            <a:spLocks noGrp="1"/>
          </p:cNvSpPr>
          <p:nvPr/>
        </p:nvSpPr>
        <p:spPr>
          <a:xfrm>
            <a:off x="7124700" y="2788890"/>
            <a:ext cx="5067300"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475569"/>
                </a:solidFill>
                <a:latin typeface="Arial"/>
                <a:ea typeface="Arial"/>
                <a:cs typeface="Arial"/>
              </a:rPr>
              <a:t>BOGO and Clearance lose money without a measurable unit lift.</a:t>
            </a:r>
          </a:p>
        </p:txBody>
      </p:sp>
      <p:sp>
        <p:nvSpPr>
          <p:cNvPr id="25" name="TextBox 24">
            <a:extLst>
              <a:ext uri="{FF2B5EF4-FFF2-40B4-BE49-F238E27FC236}">
                <a16:creationId xmlns:a16="http://schemas.microsoft.com/office/drawing/2014/main" id="{035D602F-736A-498F-AAFC-32E1934B126C}"/>
              </a:ext>
            </a:extLst>
          </p:cNvPr>
          <p:cNvSpPr>
            <a:spLocks noGrp="1"/>
          </p:cNvSpPr>
          <p:nvPr/>
        </p:nvSpPr>
        <p:spPr>
          <a:xfrm>
            <a:off x="7124700" y="3522315"/>
            <a:ext cx="5067300"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Loss-Making Sales</a:t>
            </a:r>
          </a:p>
        </p:txBody>
      </p:sp>
      <p:sp>
        <p:nvSpPr>
          <p:cNvPr id="26" name="TextBox 25">
            <a:extLst>
              <a:ext uri="{FF2B5EF4-FFF2-40B4-BE49-F238E27FC236}">
                <a16:creationId xmlns:a16="http://schemas.microsoft.com/office/drawing/2014/main" id="{FECD08CD-1AD5-467D-A0FD-4B84C1046F1A}"/>
              </a:ext>
            </a:extLst>
          </p:cNvPr>
          <p:cNvSpPr>
            <a:spLocks noGrp="1"/>
          </p:cNvSpPr>
          <p:nvPr/>
        </p:nvSpPr>
        <p:spPr>
          <a:xfrm>
            <a:off x="7124700" y="3750915"/>
            <a:ext cx="4429125" cy="361950"/>
          </a:xfrm>
          <a:prstGeom prst="rect">
            <a:avLst/>
          </a:prstGeom>
          <a:noFill/>
        </p:spPr>
        <p:txBody>
          <a:bodyPr wrap="square" lIns="0" tIns="0" rIns="0" bIns="0" anchor="t">
            <a:spAutoFit/>
          </a:bodyPr>
          <a:lstStyle/>
          <a:p>
            <a:pPr algn="l">
              <a:buNone/>
              <a:defRPr>
                <a:latin typeface="Arial"/>
                <a:ea typeface="Arial"/>
                <a:cs typeface="Arial"/>
              </a:defRPr>
            </a:pPr>
            <a:r>
              <a:rPr sz="1125" b="0" i="0" u="none">
                <a:solidFill>
                  <a:srgbClr val="475569"/>
                </a:solidFill>
                <a:latin typeface="Arial"/>
                <a:ea typeface="Arial"/>
                <a:cs typeface="Arial"/>
              </a:rPr>
              <a:t>54.5% of observations are negative: 8,171 of 15,000.</a:t>
            </a:r>
          </a:p>
        </p:txBody>
      </p:sp>
      <p:sp>
        <p:nvSpPr>
          <p:cNvPr id="27" name="TextBox 26">
            <a:extLst>
              <a:ext uri="{FF2B5EF4-FFF2-40B4-BE49-F238E27FC236}">
                <a16:creationId xmlns:a16="http://schemas.microsoft.com/office/drawing/2014/main" id="{CE24655F-0A22-4D29-8500-AF56CB17A4EE}"/>
              </a:ext>
            </a:extLst>
          </p:cNvPr>
          <p:cNvSpPr>
            <a:spLocks noGrp="1"/>
          </p:cNvSpPr>
          <p:nvPr/>
        </p:nvSpPr>
        <p:spPr>
          <a:xfrm>
            <a:off x="7124700" y="4665315"/>
            <a:ext cx="3276538" cy="196208"/>
          </a:xfrm>
          <a:prstGeom prst="rect">
            <a:avLst/>
          </a:prstGeom>
          <a:noFill/>
        </p:spPr>
        <p:txBody>
          <a:bodyPr wrap="none" lIns="0" tIns="0" rIns="0" bIns="0" anchor="t">
            <a:spAutoFit/>
          </a:bodyPr>
          <a:lstStyle/>
          <a:p>
            <a:pPr algn="l">
              <a:buNone/>
              <a:defRPr>
                <a:latin typeface="Arial"/>
                <a:ea typeface="Arial"/>
                <a:cs typeface="Arial"/>
              </a:defRPr>
            </a:pPr>
            <a:r>
              <a:rPr lang="en-US" sz="1275" b="1" i="0" u="none">
                <a:solidFill>
                  <a:srgbClr val="0F172A"/>
                </a:solidFill>
                <a:latin typeface="Arial"/>
                <a:ea typeface="Arial"/>
                <a:cs typeface="Arial"/>
              </a:rPr>
              <a:t>Loss Making Combinations</a:t>
            </a:r>
            <a:r>
              <a:rPr sz="1275" b="1" i="0" u="none">
                <a:solidFill>
                  <a:srgbClr val="0F172A"/>
                </a:solidFill>
                <a:latin typeface="Arial"/>
                <a:ea typeface="Arial"/>
                <a:cs typeface="Arial"/>
              </a:rPr>
              <a:t>s Lack Owners</a:t>
            </a:r>
          </a:p>
        </p:txBody>
      </p:sp>
      <p:sp>
        <p:nvSpPr>
          <p:cNvPr id="28" name="TextBox 27">
            <a:extLst>
              <a:ext uri="{FF2B5EF4-FFF2-40B4-BE49-F238E27FC236}">
                <a16:creationId xmlns:a16="http://schemas.microsoft.com/office/drawing/2014/main" id="{4E15A382-7F0A-40EF-8392-A54001BC7FA5}"/>
              </a:ext>
            </a:extLst>
          </p:cNvPr>
          <p:cNvSpPr>
            <a:spLocks noGrp="1"/>
          </p:cNvSpPr>
          <p:nvPr/>
        </p:nvSpPr>
        <p:spPr>
          <a:xfrm>
            <a:off x="7124700" y="4893915"/>
            <a:ext cx="5067300"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475569"/>
                </a:solidFill>
                <a:latin typeface="Arial"/>
                <a:ea typeface="Arial"/>
                <a:cs typeface="Arial"/>
              </a:rPr>
              <a:t>Recurring losses stay hidden inside profitable regions and categories.</a:t>
            </a:r>
          </a:p>
        </p:txBody>
      </p:sp>
    </p:spTree>
    <p:extLst>
      <p:ext uri="{BB962C8B-B14F-4D97-AF65-F5344CB8AC3E}">
        <p14:creationId xmlns:p14="http://schemas.microsoft.com/office/powerpoint/2010/main" val="1889287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05DB408-9AAC-4ECB-86F6-C5F8DCB9EFEA}"/>
              </a:ext>
            </a:extLst>
          </p:cNvPr>
          <p:cNvSpPr>
            <a:spLocks noGrp="1"/>
          </p:cNvSpPr>
          <p:nvPr/>
        </p:nvSpPr>
        <p:spPr>
          <a:xfrm>
            <a:off x="533400" y="4727227"/>
            <a:ext cx="11125200" cy="504825"/>
          </a:xfrm>
          <a:prstGeom prst="roundRect">
            <a:avLst>
              <a:gd name="adj" fmla="val 15094"/>
            </a:avLst>
          </a:prstGeom>
          <a:solidFill>
            <a:srgbClr val="FEF2F2"/>
          </a:solidFill>
          <a:ln w="9525">
            <a:solidFill>
              <a:srgbClr val="FECACA"/>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BC734DAD-8A92-4C4C-91CB-B1CE48BE60F4}"/>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90D8451E-2BEC-4068-9F91-F87DCECD5870}"/>
              </a:ext>
            </a:extLst>
          </p:cNvPr>
          <p:cNvSpPr>
            <a:spLocks noGrp="1"/>
          </p:cNvSpPr>
          <p:nvPr/>
        </p:nvSpPr>
        <p:spPr>
          <a:xfrm>
            <a:off x="533400" y="2403127"/>
            <a:ext cx="5495925" cy="62865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80CCE5B1-477B-4157-8397-128ACAB23BE0}"/>
              </a:ext>
            </a:extLst>
          </p:cNvPr>
          <p:cNvSpPr>
            <a:spLocks noGrp="1"/>
          </p:cNvSpPr>
          <p:nvPr/>
        </p:nvSpPr>
        <p:spPr>
          <a:xfrm>
            <a:off x="6162675" y="2403127"/>
            <a:ext cx="5495925" cy="62865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BDAB3CA4-89AE-49D5-BCC7-8375F4E1F7F0}"/>
              </a:ext>
            </a:extLst>
          </p:cNvPr>
          <p:cNvSpPr>
            <a:spLocks noGrp="1"/>
          </p:cNvSpPr>
          <p:nvPr/>
        </p:nvSpPr>
        <p:spPr>
          <a:xfrm>
            <a:off x="533400" y="3165127"/>
            <a:ext cx="5495925" cy="62865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093E12CD-0B2E-4F4D-A9EF-2624CEF7B23E}"/>
              </a:ext>
            </a:extLst>
          </p:cNvPr>
          <p:cNvSpPr>
            <a:spLocks noGrp="1"/>
          </p:cNvSpPr>
          <p:nvPr/>
        </p:nvSpPr>
        <p:spPr>
          <a:xfrm>
            <a:off x="6162675" y="3165127"/>
            <a:ext cx="5495925" cy="62865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34C5DE93-AB1F-4BD4-83F5-A6ABEE7D26CA}"/>
              </a:ext>
            </a:extLst>
          </p:cNvPr>
          <p:cNvSpPr>
            <a:spLocks noGrp="1"/>
          </p:cNvSpPr>
          <p:nvPr/>
        </p:nvSpPr>
        <p:spPr>
          <a:xfrm>
            <a:off x="533400" y="3927127"/>
            <a:ext cx="5495925" cy="62865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5E16E211-4E95-480E-898B-4A17769B400A}"/>
              </a:ext>
            </a:extLst>
          </p:cNvPr>
          <p:cNvSpPr>
            <a:spLocks noGrp="1"/>
          </p:cNvSpPr>
          <p:nvPr/>
        </p:nvSpPr>
        <p:spPr>
          <a:xfrm>
            <a:off x="6162675" y="3927127"/>
            <a:ext cx="5495925" cy="628650"/>
          </a:xfrm>
          <a:prstGeom prst="roundRect">
            <a:avLst>
              <a:gd name="adj" fmla="val 90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ounded Rectangle 9">
            <a:extLst>
              <a:ext uri="{FF2B5EF4-FFF2-40B4-BE49-F238E27FC236}">
                <a16:creationId xmlns:a16="http://schemas.microsoft.com/office/drawing/2014/main" id="{61E1FA86-DC3F-4094-8467-9857B9945D1E}"/>
              </a:ext>
            </a:extLst>
          </p:cNvPr>
          <p:cNvSpPr>
            <a:spLocks noGrp="1"/>
          </p:cNvSpPr>
          <p:nvPr/>
        </p:nvSpPr>
        <p:spPr>
          <a:xfrm>
            <a:off x="742950" y="2598390"/>
            <a:ext cx="209550" cy="238125"/>
          </a:xfrm>
          <a:prstGeom prst="roundRect">
            <a:avLst>
              <a:gd name="adj" fmla="val 18181"/>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ABC1134C-F383-4C9F-B205-F3DD0F2D9F58}"/>
              </a:ext>
            </a:extLst>
          </p:cNvPr>
          <p:cNvSpPr>
            <a:spLocks noGrp="1"/>
          </p:cNvSpPr>
          <p:nvPr/>
        </p:nvSpPr>
        <p:spPr>
          <a:xfrm>
            <a:off x="533400" y="3022252"/>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F3008614-5B6D-4811-BDC5-78E5107BEA9C}"/>
              </a:ext>
            </a:extLst>
          </p:cNvPr>
          <p:cNvSpPr>
            <a:spLocks noGrp="1"/>
          </p:cNvSpPr>
          <p:nvPr/>
        </p:nvSpPr>
        <p:spPr>
          <a:xfrm>
            <a:off x="533400" y="2403127"/>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8B91EC6B-EE78-4A89-8FD6-E972BB41519C}"/>
              </a:ext>
            </a:extLst>
          </p:cNvPr>
          <p:cNvSpPr>
            <a:spLocks noGrp="1"/>
          </p:cNvSpPr>
          <p:nvPr/>
        </p:nvSpPr>
        <p:spPr>
          <a:xfrm>
            <a:off x="533400" y="2403127"/>
            <a:ext cx="38100" cy="62865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537FC8AE-AEE7-4560-B108-9E2A55CAF856}"/>
              </a:ext>
            </a:extLst>
          </p:cNvPr>
          <p:cNvSpPr>
            <a:spLocks noGrp="1"/>
          </p:cNvSpPr>
          <p:nvPr/>
        </p:nvSpPr>
        <p:spPr>
          <a:xfrm>
            <a:off x="6019800" y="2403127"/>
            <a:ext cx="9525" cy="6286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ounded Rectangle 14">
            <a:extLst>
              <a:ext uri="{FF2B5EF4-FFF2-40B4-BE49-F238E27FC236}">
                <a16:creationId xmlns:a16="http://schemas.microsoft.com/office/drawing/2014/main" id="{9D109947-C582-4A4B-B8D1-FF3722487C4E}"/>
              </a:ext>
            </a:extLst>
          </p:cNvPr>
          <p:cNvSpPr>
            <a:spLocks noGrp="1"/>
          </p:cNvSpPr>
          <p:nvPr/>
        </p:nvSpPr>
        <p:spPr>
          <a:xfrm>
            <a:off x="6372225" y="2598390"/>
            <a:ext cx="238125" cy="238125"/>
          </a:xfrm>
          <a:prstGeom prst="roundRect">
            <a:avLst>
              <a:gd name="adj" fmla="val 16000"/>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2B0F860B-77BD-4224-A987-7AC75E34F8A2}"/>
              </a:ext>
            </a:extLst>
          </p:cNvPr>
          <p:cNvSpPr>
            <a:spLocks noGrp="1"/>
          </p:cNvSpPr>
          <p:nvPr/>
        </p:nvSpPr>
        <p:spPr>
          <a:xfrm>
            <a:off x="6162675" y="3022252"/>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7CE8E593-24C8-468E-8874-6CA50FB7F7D6}"/>
              </a:ext>
            </a:extLst>
          </p:cNvPr>
          <p:cNvSpPr>
            <a:spLocks noGrp="1"/>
          </p:cNvSpPr>
          <p:nvPr/>
        </p:nvSpPr>
        <p:spPr>
          <a:xfrm>
            <a:off x="6162675" y="2403127"/>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7297B269-AEBD-4E95-A516-FCBE6F6DDE1B}"/>
              </a:ext>
            </a:extLst>
          </p:cNvPr>
          <p:cNvSpPr>
            <a:spLocks noGrp="1"/>
          </p:cNvSpPr>
          <p:nvPr/>
        </p:nvSpPr>
        <p:spPr>
          <a:xfrm>
            <a:off x="6162675" y="2403127"/>
            <a:ext cx="38100" cy="62865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50A65EB9-3F0A-487A-8144-7C8DA466668B}"/>
              </a:ext>
            </a:extLst>
          </p:cNvPr>
          <p:cNvSpPr>
            <a:spLocks noGrp="1"/>
          </p:cNvSpPr>
          <p:nvPr/>
        </p:nvSpPr>
        <p:spPr>
          <a:xfrm>
            <a:off x="11649075" y="2403127"/>
            <a:ext cx="9525" cy="6286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ounded Rectangle 19">
            <a:extLst>
              <a:ext uri="{FF2B5EF4-FFF2-40B4-BE49-F238E27FC236}">
                <a16:creationId xmlns:a16="http://schemas.microsoft.com/office/drawing/2014/main" id="{CD13A38D-94D9-4937-BE26-08EC27E67D74}"/>
              </a:ext>
            </a:extLst>
          </p:cNvPr>
          <p:cNvSpPr>
            <a:spLocks noGrp="1"/>
          </p:cNvSpPr>
          <p:nvPr/>
        </p:nvSpPr>
        <p:spPr>
          <a:xfrm>
            <a:off x="742950" y="3360390"/>
            <a:ext cx="238125" cy="238125"/>
          </a:xfrm>
          <a:prstGeom prst="roundRect">
            <a:avLst>
              <a:gd name="adj" fmla="val 16000"/>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56895CD4-7B76-46E2-A951-633B3441763D}"/>
              </a:ext>
            </a:extLst>
          </p:cNvPr>
          <p:cNvSpPr>
            <a:spLocks noGrp="1"/>
          </p:cNvSpPr>
          <p:nvPr/>
        </p:nvSpPr>
        <p:spPr>
          <a:xfrm>
            <a:off x="533400" y="3784252"/>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A205623C-2E2A-48B1-B5E6-32F84A49AAD5}"/>
              </a:ext>
            </a:extLst>
          </p:cNvPr>
          <p:cNvSpPr>
            <a:spLocks noGrp="1"/>
          </p:cNvSpPr>
          <p:nvPr/>
        </p:nvSpPr>
        <p:spPr>
          <a:xfrm>
            <a:off x="533400" y="3165127"/>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86C074A-CBB1-45F1-B615-F3A1C44BDBCA}"/>
              </a:ext>
            </a:extLst>
          </p:cNvPr>
          <p:cNvSpPr>
            <a:spLocks noGrp="1"/>
          </p:cNvSpPr>
          <p:nvPr/>
        </p:nvSpPr>
        <p:spPr>
          <a:xfrm>
            <a:off x="533400" y="3165127"/>
            <a:ext cx="38100" cy="62865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2C904052-6C94-449D-9CD2-8FDB2E6A6C8B}"/>
              </a:ext>
            </a:extLst>
          </p:cNvPr>
          <p:cNvSpPr>
            <a:spLocks noGrp="1"/>
          </p:cNvSpPr>
          <p:nvPr/>
        </p:nvSpPr>
        <p:spPr>
          <a:xfrm>
            <a:off x="6019800" y="3165127"/>
            <a:ext cx="9525" cy="6286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ounded Rectangle 24">
            <a:extLst>
              <a:ext uri="{FF2B5EF4-FFF2-40B4-BE49-F238E27FC236}">
                <a16:creationId xmlns:a16="http://schemas.microsoft.com/office/drawing/2014/main" id="{9F1B87F5-C153-4CE4-8C6E-55F658CAB81F}"/>
              </a:ext>
            </a:extLst>
          </p:cNvPr>
          <p:cNvSpPr>
            <a:spLocks noGrp="1"/>
          </p:cNvSpPr>
          <p:nvPr/>
        </p:nvSpPr>
        <p:spPr>
          <a:xfrm>
            <a:off x="6372225" y="3360390"/>
            <a:ext cx="238125" cy="238125"/>
          </a:xfrm>
          <a:prstGeom prst="roundRect">
            <a:avLst>
              <a:gd name="adj" fmla="val 16000"/>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08A697CA-4671-49BB-B377-E5E73EB46BF2}"/>
              </a:ext>
            </a:extLst>
          </p:cNvPr>
          <p:cNvSpPr>
            <a:spLocks noGrp="1"/>
          </p:cNvSpPr>
          <p:nvPr/>
        </p:nvSpPr>
        <p:spPr>
          <a:xfrm>
            <a:off x="6162675" y="3784252"/>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3AEFF11E-998A-44B6-BB7B-D723392BD235}"/>
              </a:ext>
            </a:extLst>
          </p:cNvPr>
          <p:cNvSpPr>
            <a:spLocks noGrp="1"/>
          </p:cNvSpPr>
          <p:nvPr/>
        </p:nvSpPr>
        <p:spPr>
          <a:xfrm>
            <a:off x="6162675" y="3165127"/>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AA431D03-B518-4D27-92CC-07029CB69B93}"/>
              </a:ext>
            </a:extLst>
          </p:cNvPr>
          <p:cNvSpPr>
            <a:spLocks noGrp="1"/>
          </p:cNvSpPr>
          <p:nvPr/>
        </p:nvSpPr>
        <p:spPr>
          <a:xfrm>
            <a:off x="6162675" y="3165127"/>
            <a:ext cx="38100" cy="62865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ectangle 28">
            <a:extLst>
              <a:ext uri="{FF2B5EF4-FFF2-40B4-BE49-F238E27FC236}">
                <a16:creationId xmlns:a16="http://schemas.microsoft.com/office/drawing/2014/main" id="{C1649C59-33BE-47BB-918E-6BE68DC7D529}"/>
              </a:ext>
            </a:extLst>
          </p:cNvPr>
          <p:cNvSpPr>
            <a:spLocks noGrp="1"/>
          </p:cNvSpPr>
          <p:nvPr/>
        </p:nvSpPr>
        <p:spPr>
          <a:xfrm>
            <a:off x="11649075" y="3165127"/>
            <a:ext cx="9525" cy="6286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ounded Rectangle 29">
            <a:extLst>
              <a:ext uri="{FF2B5EF4-FFF2-40B4-BE49-F238E27FC236}">
                <a16:creationId xmlns:a16="http://schemas.microsoft.com/office/drawing/2014/main" id="{369F091A-738E-4CA0-92B0-4260354993CC}"/>
              </a:ext>
            </a:extLst>
          </p:cNvPr>
          <p:cNvSpPr>
            <a:spLocks noGrp="1"/>
          </p:cNvSpPr>
          <p:nvPr/>
        </p:nvSpPr>
        <p:spPr>
          <a:xfrm>
            <a:off x="742950" y="4122390"/>
            <a:ext cx="238125" cy="238125"/>
          </a:xfrm>
          <a:prstGeom prst="roundRect">
            <a:avLst>
              <a:gd name="adj" fmla="val 16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ectangle 30">
            <a:extLst>
              <a:ext uri="{FF2B5EF4-FFF2-40B4-BE49-F238E27FC236}">
                <a16:creationId xmlns:a16="http://schemas.microsoft.com/office/drawing/2014/main" id="{C4F1EC79-5831-4770-90C8-EE39456DDA9A}"/>
              </a:ext>
            </a:extLst>
          </p:cNvPr>
          <p:cNvSpPr>
            <a:spLocks noGrp="1"/>
          </p:cNvSpPr>
          <p:nvPr/>
        </p:nvSpPr>
        <p:spPr>
          <a:xfrm>
            <a:off x="533400" y="4546252"/>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ectangle 31">
            <a:extLst>
              <a:ext uri="{FF2B5EF4-FFF2-40B4-BE49-F238E27FC236}">
                <a16:creationId xmlns:a16="http://schemas.microsoft.com/office/drawing/2014/main" id="{7DF6DAED-EC1B-424E-9D52-13FB06571399}"/>
              </a:ext>
            </a:extLst>
          </p:cNvPr>
          <p:cNvSpPr>
            <a:spLocks noGrp="1"/>
          </p:cNvSpPr>
          <p:nvPr/>
        </p:nvSpPr>
        <p:spPr>
          <a:xfrm>
            <a:off x="533400" y="3927127"/>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Rectangle 32">
            <a:extLst>
              <a:ext uri="{FF2B5EF4-FFF2-40B4-BE49-F238E27FC236}">
                <a16:creationId xmlns:a16="http://schemas.microsoft.com/office/drawing/2014/main" id="{80C32452-27C0-416D-B954-65DF2637B26F}"/>
              </a:ext>
            </a:extLst>
          </p:cNvPr>
          <p:cNvSpPr>
            <a:spLocks noGrp="1"/>
          </p:cNvSpPr>
          <p:nvPr/>
        </p:nvSpPr>
        <p:spPr>
          <a:xfrm>
            <a:off x="533400" y="3927127"/>
            <a:ext cx="38100" cy="6286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11068D9A-A9B9-42B8-B6A9-7BAC3E29A1BC}"/>
              </a:ext>
            </a:extLst>
          </p:cNvPr>
          <p:cNvSpPr>
            <a:spLocks noGrp="1"/>
          </p:cNvSpPr>
          <p:nvPr/>
        </p:nvSpPr>
        <p:spPr>
          <a:xfrm>
            <a:off x="6019800" y="3927127"/>
            <a:ext cx="9525" cy="6286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Rounded Rectangle 34">
            <a:extLst>
              <a:ext uri="{FF2B5EF4-FFF2-40B4-BE49-F238E27FC236}">
                <a16:creationId xmlns:a16="http://schemas.microsoft.com/office/drawing/2014/main" id="{97E7D3D4-F9FA-4FB4-A8B1-C69F1D3BE889}"/>
              </a:ext>
            </a:extLst>
          </p:cNvPr>
          <p:cNvSpPr>
            <a:spLocks noGrp="1"/>
          </p:cNvSpPr>
          <p:nvPr/>
        </p:nvSpPr>
        <p:spPr>
          <a:xfrm>
            <a:off x="6372225" y="4122390"/>
            <a:ext cx="238125" cy="238125"/>
          </a:xfrm>
          <a:prstGeom prst="roundRect">
            <a:avLst>
              <a:gd name="adj" fmla="val 16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Rectangle 35">
            <a:extLst>
              <a:ext uri="{FF2B5EF4-FFF2-40B4-BE49-F238E27FC236}">
                <a16:creationId xmlns:a16="http://schemas.microsoft.com/office/drawing/2014/main" id="{CD6B0EDE-FC8D-43F9-9C9F-2AF317DEF812}"/>
              </a:ext>
            </a:extLst>
          </p:cNvPr>
          <p:cNvSpPr>
            <a:spLocks noGrp="1"/>
          </p:cNvSpPr>
          <p:nvPr/>
        </p:nvSpPr>
        <p:spPr>
          <a:xfrm>
            <a:off x="6162675" y="4546252"/>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Rectangle 36">
            <a:extLst>
              <a:ext uri="{FF2B5EF4-FFF2-40B4-BE49-F238E27FC236}">
                <a16:creationId xmlns:a16="http://schemas.microsoft.com/office/drawing/2014/main" id="{DED724F7-6E11-4FA8-9627-86AA6E3FA133}"/>
              </a:ext>
            </a:extLst>
          </p:cNvPr>
          <p:cNvSpPr>
            <a:spLocks noGrp="1"/>
          </p:cNvSpPr>
          <p:nvPr/>
        </p:nvSpPr>
        <p:spPr>
          <a:xfrm>
            <a:off x="6162675" y="3927127"/>
            <a:ext cx="5495925"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E51B64AE-1BFA-4819-82E3-04CBB45CB698}"/>
              </a:ext>
            </a:extLst>
          </p:cNvPr>
          <p:cNvSpPr>
            <a:spLocks noGrp="1"/>
          </p:cNvSpPr>
          <p:nvPr/>
        </p:nvSpPr>
        <p:spPr>
          <a:xfrm>
            <a:off x="6162675" y="3927127"/>
            <a:ext cx="38100" cy="6286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Rectangle 38">
            <a:extLst>
              <a:ext uri="{FF2B5EF4-FFF2-40B4-BE49-F238E27FC236}">
                <a16:creationId xmlns:a16="http://schemas.microsoft.com/office/drawing/2014/main" id="{F185018D-986B-4FC1-8360-4B60DD2A3C30}"/>
              </a:ext>
            </a:extLst>
          </p:cNvPr>
          <p:cNvSpPr>
            <a:spLocks noGrp="1"/>
          </p:cNvSpPr>
          <p:nvPr/>
        </p:nvSpPr>
        <p:spPr>
          <a:xfrm>
            <a:off x="11649075" y="3927127"/>
            <a:ext cx="9525" cy="6286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03E2172-3A83-4908-AED3-87057F9F9ACA}"/>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41" name="TextBox 40">
            <a:extLst>
              <a:ext uri="{FF2B5EF4-FFF2-40B4-BE49-F238E27FC236}">
                <a16:creationId xmlns:a16="http://schemas.microsoft.com/office/drawing/2014/main" id="{6C812F3D-65C2-4F3E-9FF0-21B55F76A81E}"/>
              </a:ext>
            </a:extLst>
          </p:cNvPr>
          <p:cNvSpPr>
            <a:spLocks noGrp="1"/>
          </p:cNvSpPr>
          <p:nvPr/>
        </p:nvSpPr>
        <p:spPr>
          <a:xfrm>
            <a:off x="533400" y="381000"/>
            <a:ext cx="8298656"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PRIORITY CHOICE</a:t>
            </a:r>
          </a:p>
        </p:txBody>
      </p:sp>
      <p:sp>
        <p:nvSpPr>
          <p:cNvPr id="42" name="TextBox 41">
            <a:extLst>
              <a:ext uri="{FF2B5EF4-FFF2-40B4-BE49-F238E27FC236}">
                <a16:creationId xmlns:a16="http://schemas.microsoft.com/office/drawing/2014/main" id="{44CC3011-5146-4CCA-B730-6517E34F0403}"/>
              </a:ext>
            </a:extLst>
          </p:cNvPr>
          <p:cNvSpPr>
            <a:spLocks noGrp="1"/>
          </p:cNvSpPr>
          <p:nvPr/>
        </p:nvSpPr>
        <p:spPr>
          <a:xfrm>
            <a:off x="533400" y="609600"/>
            <a:ext cx="8713589"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Seven Problems Exist. Q1–Q2 Concentrates on the First Four.</a:t>
            </a:r>
          </a:p>
        </p:txBody>
      </p:sp>
      <p:sp>
        <p:nvSpPr>
          <p:cNvPr id="43" name="TextBox 42">
            <a:extLst>
              <a:ext uri="{FF2B5EF4-FFF2-40B4-BE49-F238E27FC236}">
                <a16:creationId xmlns:a16="http://schemas.microsoft.com/office/drawing/2014/main" id="{A79D95FE-3D34-4AC9-9FBE-166C0302BB20}"/>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44" name="TextBox 43">
            <a:extLst>
              <a:ext uri="{FF2B5EF4-FFF2-40B4-BE49-F238E27FC236}">
                <a16:creationId xmlns:a16="http://schemas.microsoft.com/office/drawing/2014/main" id="{09DA6CA3-3E21-4724-AA06-EF149A1B7CD5}"/>
              </a:ext>
            </a:extLst>
          </p:cNvPr>
          <p:cNvSpPr>
            <a:spLocks noGrp="1"/>
          </p:cNvSpPr>
          <p:nvPr/>
        </p:nvSpPr>
        <p:spPr>
          <a:xfrm>
            <a:off x="733425" y="4889152"/>
            <a:ext cx="5619750"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991B1B"/>
                </a:solidFill>
                <a:latin typeface="Arial"/>
                <a:ea typeface="Arial"/>
                <a:cs typeface="Arial"/>
              </a:rPr>
              <a:t>7. Fragmented Executive Reporting</a:t>
            </a:r>
          </a:p>
        </p:txBody>
      </p:sp>
      <p:sp>
        <p:nvSpPr>
          <p:cNvPr id="45" name="TextBox 44">
            <a:extLst>
              <a:ext uri="{FF2B5EF4-FFF2-40B4-BE49-F238E27FC236}">
                <a16:creationId xmlns:a16="http://schemas.microsoft.com/office/drawing/2014/main" id="{29781802-AFCC-4BFA-A48D-39D09CC61E8D}"/>
              </a:ext>
            </a:extLst>
          </p:cNvPr>
          <p:cNvSpPr>
            <a:spLocks noGrp="1"/>
          </p:cNvSpPr>
          <p:nvPr/>
        </p:nvSpPr>
        <p:spPr>
          <a:xfrm>
            <a:off x="7724775" y="4898677"/>
            <a:ext cx="4467225"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DC2626"/>
                </a:solidFill>
                <a:latin typeface="Arial"/>
                <a:ea typeface="Arial"/>
                <a:cs typeface="Arial"/>
              </a:rPr>
              <a:t>No shared view links the metric, owner, decision, and proof.</a:t>
            </a:r>
          </a:p>
        </p:txBody>
      </p:sp>
      <p:sp>
        <p:nvSpPr>
          <p:cNvPr id="46" name="TextBox 45">
            <a:extLst>
              <a:ext uri="{FF2B5EF4-FFF2-40B4-BE49-F238E27FC236}">
                <a16:creationId xmlns:a16="http://schemas.microsoft.com/office/drawing/2014/main" id="{EB992E53-4185-4179-82B5-A986AAA9D822}"/>
              </a:ext>
            </a:extLst>
          </p:cNvPr>
          <p:cNvSpPr>
            <a:spLocks noGrp="1"/>
          </p:cNvSpPr>
          <p:nvPr/>
        </p:nvSpPr>
        <p:spPr>
          <a:xfrm>
            <a:off x="819150" y="2636490"/>
            <a:ext cx="152400"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DC2626"/>
                </a:solidFill>
                <a:latin typeface="Arial"/>
                <a:ea typeface="Arial"/>
                <a:cs typeface="Arial"/>
              </a:rPr>
              <a:t>1</a:t>
            </a:r>
          </a:p>
        </p:txBody>
      </p:sp>
      <p:sp>
        <p:nvSpPr>
          <p:cNvPr id="47" name="TextBox 46">
            <a:extLst>
              <a:ext uri="{FF2B5EF4-FFF2-40B4-BE49-F238E27FC236}">
                <a16:creationId xmlns:a16="http://schemas.microsoft.com/office/drawing/2014/main" id="{53915B99-0D25-4FCB-BE0E-3F4D03736014}"/>
              </a:ext>
            </a:extLst>
          </p:cNvPr>
          <p:cNvSpPr>
            <a:spLocks noGrp="1"/>
          </p:cNvSpPr>
          <p:nvPr/>
        </p:nvSpPr>
        <p:spPr>
          <a:xfrm>
            <a:off x="6448425" y="2636490"/>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DC2626"/>
                </a:solidFill>
                <a:latin typeface="Arial"/>
                <a:ea typeface="Arial"/>
                <a:cs typeface="Arial"/>
              </a:rPr>
              <a:t>2</a:t>
            </a:r>
          </a:p>
        </p:txBody>
      </p:sp>
      <p:sp>
        <p:nvSpPr>
          <p:cNvPr id="48" name="TextBox 47">
            <a:extLst>
              <a:ext uri="{FF2B5EF4-FFF2-40B4-BE49-F238E27FC236}">
                <a16:creationId xmlns:a16="http://schemas.microsoft.com/office/drawing/2014/main" id="{81AA54DE-A436-4086-93FD-A224F9A4E83C}"/>
              </a:ext>
            </a:extLst>
          </p:cNvPr>
          <p:cNvSpPr>
            <a:spLocks noGrp="1"/>
          </p:cNvSpPr>
          <p:nvPr/>
        </p:nvSpPr>
        <p:spPr>
          <a:xfrm>
            <a:off x="819150" y="3398490"/>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3</a:t>
            </a:r>
          </a:p>
        </p:txBody>
      </p:sp>
      <p:sp>
        <p:nvSpPr>
          <p:cNvPr id="49" name="TextBox 48">
            <a:extLst>
              <a:ext uri="{FF2B5EF4-FFF2-40B4-BE49-F238E27FC236}">
                <a16:creationId xmlns:a16="http://schemas.microsoft.com/office/drawing/2014/main" id="{A66CB068-249D-4E3D-B67E-EE083D0F8EBA}"/>
              </a:ext>
            </a:extLst>
          </p:cNvPr>
          <p:cNvSpPr>
            <a:spLocks noGrp="1"/>
          </p:cNvSpPr>
          <p:nvPr/>
        </p:nvSpPr>
        <p:spPr>
          <a:xfrm>
            <a:off x="6448425" y="3398490"/>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4</a:t>
            </a:r>
          </a:p>
        </p:txBody>
      </p:sp>
      <p:sp>
        <p:nvSpPr>
          <p:cNvPr id="50" name="TextBox 49">
            <a:extLst>
              <a:ext uri="{FF2B5EF4-FFF2-40B4-BE49-F238E27FC236}">
                <a16:creationId xmlns:a16="http://schemas.microsoft.com/office/drawing/2014/main" id="{70CC1FD8-AACB-4D25-9EC1-449A7419E8B0}"/>
              </a:ext>
            </a:extLst>
          </p:cNvPr>
          <p:cNvSpPr>
            <a:spLocks noGrp="1"/>
          </p:cNvSpPr>
          <p:nvPr/>
        </p:nvSpPr>
        <p:spPr>
          <a:xfrm>
            <a:off x="819150" y="4160490"/>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2563EB"/>
                </a:solidFill>
                <a:latin typeface="Arial"/>
                <a:ea typeface="Arial"/>
                <a:cs typeface="Arial"/>
              </a:rPr>
              <a:t>5</a:t>
            </a:r>
          </a:p>
        </p:txBody>
      </p:sp>
      <p:sp>
        <p:nvSpPr>
          <p:cNvPr id="51" name="TextBox 50">
            <a:extLst>
              <a:ext uri="{FF2B5EF4-FFF2-40B4-BE49-F238E27FC236}">
                <a16:creationId xmlns:a16="http://schemas.microsoft.com/office/drawing/2014/main" id="{6B023A1D-3820-4407-AAC9-A671C7920BC0}"/>
              </a:ext>
            </a:extLst>
          </p:cNvPr>
          <p:cNvSpPr>
            <a:spLocks noGrp="1"/>
          </p:cNvSpPr>
          <p:nvPr/>
        </p:nvSpPr>
        <p:spPr>
          <a:xfrm>
            <a:off x="6448425" y="4160490"/>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2563EB"/>
                </a:solidFill>
                <a:latin typeface="Arial"/>
                <a:ea typeface="Arial"/>
                <a:cs typeface="Arial"/>
              </a:rPr>
              <a:t>6</a:t>
            </a:r>
          </a:p>
        </p:txBody>
      </p:sp>
      <p:sp>
        <p:nvSpPr>
          <p:cNvPr id="52" name="TextBox 51">
            <a:extLst>
              <a:ext uri="{FF2B5EF4-FFF2-40B4-BE49-F238E27FC236}">
                <a16:creationId xmlns:a16="http://schemas.microsoft.com/office/drawing/2014/main" id="{F88B030D-D789-4FF4-B3BA-8581B927F203}"/>
              </a:ext>
            </a:extLst>
          </p:cNvPr>
          <p:cNvSpPr>
            <a:spLocks noGrp="1"/>
          </p:cNvSpPr>
          <p:nvPr/>
        </p:nvSpPr>
        <p:spPr>
          <a:xfrm>
            <a:off x="1066800" y="2546002"/>
            <a:ext cx="6200775"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1. Promotion Margin Leakage</a:t>
            </a:r>
          </a:p>
        </p:txBody>
      </p:sp>
      <p:sp>
        <p:nvSpPr>
          <p:cNvPr id="53" name="TextBox 52">
            <a:extLst>
              <a:ext uri="{FF2B5EF4-FFF2-40B4-BE49-F238E27FC236}">
                <a16:creationId xmlns:a16="http://schemas.microsoft.com/office/drawing/2014/main" id="{30730FDF-8978-43AB-825A-303BE3EC7ACC}"/>
              </a:ext>
            </a:extLst>
          </p:cNvPr>
          <p:cNvSpPr>
            <a:spLocks noGrp="1"/>
          </p:cNvSpPr>
          <p:nvPr/>
        </p:nvSpPr>
        <p:spPr>
          <a:xfrm>
            <a:off x="1066800" y="2726977"/>
            <a:ext cx="5905500"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BOGO margin is −16.4%; Clearance margin is −35.6%.</a:t>
            </a:r>
          </a:p>
        </p:txBody>
      </p:sp>
      <p:sp>
        <p:nvSpPr>
          <p:cNvPr id="54" name="TextBox 53">
            <a:extLst>
              <a:ext uri="{FF2B5EF4-FFF2-40B4-BE49-F238E27FC236}">
                <a16:creationId xmlns:a16="http://schemas.microsoft.com/office/drawing/2014/main" id="{4E150936-6E3F-442D-BBF5-4E9425C1D019}"/>
              </a:ext>
            </a:extLst>
          </p:cNvPr>
          <p:cNvSpPr>
            <a:spLocks noGrp="1"/>
          </p:cNvSpPr>
          <p:nvPr/>
        </p:nvSpPr>
        <p:spPr>
          <a:xfrm>
            <a:off x="6724650" y="2546002"/>
            <a:ext cx="5467350"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2. Loss-Making Sales</a:t>
            </a:r>
          </a:p>
        </p:txBody>
      </p:sp>
      <p:sp>
        <p:nvSpPr>
          <p:cNvPr id="55" name="TextBox 54">
            <a:extLst>
              <a:ext uri="{FF2B5EF4-FFF2-40B4-BE49-F238E27FC236}">
                <a16:creationId xmlns:a16="http://schemas.microsoft.com/office/drawing/2014/main" id="{C030A3AE-D311-4EEC-8E20-7F14699722D5}"/>
              </a:ext>
            </a:extLst>
          </p:cNvPr>
          <p:cNvSpPr>
            <a:spLocks noGrp="1"/>
          </p:cNvSpPr>
          <p:nvPr/>
        </p:nvSpPr>
        <p:spPr>
          <a:xfrm>
            <a:off x="6724650" y="2726977"/>
            <a:ext cx="4645502" cy="161583"/>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Rank the top 50 recurring </a:t>
            </a:r>
            <a:r>
              <a:rPr lang="en-US" sz="1050" b="0" i="0" u="none">
                <a:solidFill>
                  <a:srgbClr val="475569"/>
                </a:solidFill>
                <a:latin typeface="Arial"/>
                <a:ea typeface="Arial"/>
                <a:cs typeface="Arial"/>
              </a:rPr>
              <a:t>Loss Making Combinations</a:t>
            </a:r>
            <a:r>
              <a:rPr sz="1050" b="0" i="0" u="none">
                <a:solidFill>
                  <a:srgbClr val="475569"/>
                </a:solidFill>
                <a:latin typeface="Arial"/>
                <a:ea typeface="Arial"/>
                <a:cs typeface="Arial"/>
              </a:rPr>
              <a:t>s and assign one owner.</a:t>
            </a:r>
          </a:p>
        </p:txBody>
      </p:sp>
      <p:sp>
        <p:nvSpPr>
          <p:cNvPr id="56" name="TextBox 55">
            <a:extLst>
              <a:ext uri="{FF2B5EF4-FFF2-40B4-BE49-F238E27FC236}">
                <a16:creationId xmlns:a16="http://schemas.microsoft.com/office/drawing/2014/main" id="{450F6308-6E04-4009-9774-4411C93984BB}"/>
              </a:ext>
            </a:extLst>
          </p:cNvPr>
          <p:cNvSpPr>
            <a:spLocks noGrp="1"/>
          </p:cNvSpPr>
          <p:nvPr/>
        </p:nvSpPr>
        <p:spPr>
          <a:xfrm>
            <a:off x="1095375" y="3308002"/>
            <a:ext cx="5688210"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3. High-Value Churn Risk</a:t>
            </a:r>
          </a:p>
        </p:txBody>
      </p:sp>
      <p:sp>
        <p:nvSpPr>
          <p:cNvPr id="57" name="TextBox 56">
            <a:extLst>
              <a:ext uri="{FF2B5EF4-FFF2-40B4-BE49-F238E27FC236}">
                <a16:creationId xmlns:a16="http://schemas.microsoft.com/office/drawing/2014/main" id="{220FC520-65D2-40C2-98CE-AAD5115A31DE}"/>
              </a:ext>
            </a:extLst>
          </p:cNvPr>
          <p:cNvSpPr>
            <a:spLocks noGrp="1"/>
          </p:cNvSpPr>
          <p:nvPr/>
        </p:nvSpPr>
        <p:spPr>
          <a:xfrm>
            <a:off x="1095375" y="3488977"/>
            <a:ext cx="5417343"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1,408 high-value customers show the greatest modeled risk.</a:t>
            </a:r>
          </a:p>
        </p:txBody>
      </p:sp>
      <p:sp>
        <p:nvSpPr>
          <p:cNvPr id="58" name="TextBox 57">
            <a:extLst>
              <a:ext uri="{FF2B5EF4-FFF2-40B4-BE49-F238E27FC236}">
                <a16:creationId xmlns:a16="http://schemas.microsoft.com/office/drawing/2014/main" id="{FA104749-3620-4B79-AB04-7EC737AF2DA3}"/>
              </a:ext>
            </a:extLst>
          </p:cNvPr>
          <p:cNvSpPr>
            <a:spLocks noGrp="1"/>
          </p:cNvSpPr>
          <p:nvPr/>
        </p:nvSpPr>
        <p:spPr>
          <a:xfrm>
            <a:off x="6724650" y="3308002"/>
            <a:ext cx="5467350"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4. Customer Value Targeting</a:t>
            </a:r>
          </a:p>
        </p:txBody>
      </p:sp>
      <p:sp>
        <p:nvSpPr>
          <p:cNvPr id="59" name="TextBox 58">
            <a:extLst>
              <a:ext uri="{FF2B5EF4-FFF2-40B4-BE49-F238E27FC236}">
                <a16:creationId xmlns:a16="http://schemas.microsoft.com/office/drawing/2014/main" id="{20A1ECE7-E0F0-4768-A032-7D020BCDB09E}"/>
              </a:ext>
            </a:extLst>
          </p:cNvPr>
          <p:cNvSpPr>
            <a:spLocks noGrp="1"/>
          </p:cNvSpPr>
          <p:nvPr/>
        </p:nvSpPr>
        <p:spPr>
          <a:xfrm>
            <a:off x="6724650" y="3488977"/>
            <a:ext cx="5467350"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Loyalty tiers do not identify where HRG should spend the next dollar.</a:t>
            </a:r>
          </a:p>
        </p:txBody>
      </p:sp>
      <p:sp>
        <p:nvSpPr>
          <p:cNvPr id="60" name="TextBox 59">
            <a:extLst>
              <a:ext uri="{FF2B5EF4-FFF2-40B4-BE49-F238E27FC236}">
                <a16:creationId xmlns:a16="http://schemas.microsoft.com/office/drawing/2014/main" id="{D3555268-235F-459F-A163-E35687EA3804}"/>
              </a:ext>
            </a:extLst>
          </p:cNvPr>
          <p:cNvSpPr>
            <a:spLocks noGrp="1"/>
          </p:cNvSpPr>
          <p:nvPr/>
        </p:nvSpPr>
        <p:spPr>
          <a:xfrm>
            <a:off x="1095375" y="4070002"/>
            <a:ext cx="5338167"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5. Slow Inventory</a:t>
            </a:r>
          </a:p>
        </p:txBody>
      </p:sp>
      <p:sp>
        <p:nvSpPr>
          <p:cNvPr id="61" name="TextBox 60">
            <a:extLst>
              <a:ext uri="{FF2B5EF4-FFF2-40B4-BE49-F238E27FC236}">
                <a16:creationId xmlns:a16="http://schemas.microsoft.com/office/drawing/2014/main" id="{D96ED8C0-6D72-4B1F-BA16-248A4F5063E5}"/>
              </a:ext>
            </a:extLst>
          </p:cNvPr>
          <p:cNvSpPr>
            <a:spLocks noGrp="1"/>
          </p:cNvSpPr>
          <p:nvPr/>
        </p:nvSpPr>
        <p:spPr>
          <a:xfrm>
            <a:off x="1095375" y="4250977"/>
            <a:ext cx="5083968"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Slow-moving stock ties up working capital and increases markdown risk.</a:t>
            </a:r>
          </a:p>
        </p:txBody>
      </p:sp>
      <p:sp>
        <p:nvSpPr>
          <p:cNvPr id="62" name="TextBox 61">
            <a:extLst>
              <a:ext uri="{FF2B5EF4-FFF2-40B4-BE49-F238E27FC236}">
                <a16:creationId xmlns:a16="http://schemas.microsoft.com/office/drawing/2014/main" id="{231C6BB4-5DCE-4715-9E80-93A770F84DE4}"/>
              </a:ext>
            </a:extLst>
          </p:cNvPr>
          <p:cNvSpPr>
            <a:spLocks noGrp="1"/>
          </p:cNvSpPr>
          <p:nvPr/>
        </p:nvSpPr>
        <p:spPr>
          <a:xfrm>
            <a:off x="6724650" y="4070002"/>
            <a:ext cx="5467350"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6. Supply Chain and Logistics Risk</a:t>
            </a:r>
          </a:p>
        </p:txBody>
      </p:sp>
      <p:sp>
        <p:nvSpPr>
          <p:cNvPr id="63" name="TextBox 62">
            <a:extLst>
              <a:ext uri="{FF2B5EF4-FFF2-40B4-BE49-F238E27FC236}">
                <a16:creationId xmlns:a16="http://schemas.microsoft.com/office/drawing/2014/main" id="{803BE788-E9AE-4C40-B197-329680CB8C53}"/>
              </a:ext>
            </a:extLst>
          </p:cNvPr>
          <p:cNvSpPr>
            <a:spLocks noGrp="1"/>
          </p:cNvSpPr>
          <p:nvPr/>
        </p:nvSpPr>
        <p:spPr>
          <a:xfrm>
            <a:off x="6724650" y="4250977"/>
            <a:ext cx="5345906"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Finance reconciles the operating baseline in Q2; work starts in Q3.</a:t>
            </a:r>
          </a:p>
        </p:txBody>
      </p:sp>
    </p:spTree>
    <p:extLst>
      <p:ext uri="{BB962C8B-B14F-4D97-AF65-F5344CB8AC3E}">
        <p14:creationId xmlns:p14="http://schemas.microsoft.com/office/powerpoint/2010/main" val="152505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1F656CD2-701E-483D-AC05-32BB903524C9}"/>
              </a:ext>
            </a:extLst>
          </p:cNvPr>
          <p:cNvSpPr>
            <a:spLocks noGrp="1"/>
          </p:cNvSpPr>
          <p:nvPr/>
        </p:nvSpPr>
        <p:spPr>
          <a:xfrm>
            <a:off x="533400" y="4707135"/>
            <a:ext cx="11125200" cy="685800"/>
          </a:xfrm>
          <a:prstGeom prst="roundRect">
            <a:avLst>
              <a:gd name="adj" fmla="val 11111"/>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5B9DFDD0-EEC0-4030-9CA9-DE3C46E7B8C7}"/>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6B34BE87-A752-4051-BD2D-E615DECE138D}"/>
              </a:ext>
            </a:extLst>
          </p:cNvPr>
          <p:cNvSpPr>
            <a:spLocks noGrp="1"/>
          </p:cNvSpPr>
          <p:nvPr/>
        </p:nvSpPr>
        <p:spPr>
          <a:xfrm>
            <a:off x="533400" y="2242244"/>
            <a:ext cx="2667000" cy="2236291"/>
          </a:xfrm>
          <a:prstGeom prst="roundRect">
            <a:avLst>
              <a:gd name="adj" fmla="val 42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E39ED1EC-B2CA-48B9-8F27-BF57F2D8EA30}"/>
              </a:ext>
            </a:extLst>
          </p:cNvPr>
          <p:cNvSpPr>
            <a:spLocks noGrp="1"/>
          </p:cNvSpPr>
          <p:nvPr/>
        </p:nvSpPr>
        <p:spPr>
          <a:xfrm>
            <a:off x="3352800" y="2242244"/>
            <a:ext cx="2667000" cy="2236291"/>
          </a:xfrm>
          <a:prstGeom prst="roundRect">
            <a:avLst>
              <a:gd name="adj" fmla="val 42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80CB2D0A-40E0-4010-B623-F1B0510D8744}"/>
              </a:ext>
            </a:extLst>
          </p:cNvPr>
          <p:cNvSpPr>
            <a:spLocks noGrp="1"/>
          </p:cNvSpPr>
          <p:nvPr/>
        </p:nvSpPr>
        <p:spPr>
          <a:xfrm>
            <a:off x="6172200" y="2242244"/>
            <a:ext cx="2667000" cy="2236291"/>
          </a:xfrm>
          <a:prstGeom prst="roundRect">
            <a:avLst>
              <a:gd name="adj" fmla="val 42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B0D5D32D-7F74-454F-A99B-48C533FC65D0}"/>
              </a:ext>
            </a:extLst>
          </p:cNvPr>
          <p:cNvSpPr>
            <a:spLocks noGrp="1"/>
          </p:cNvSpPr>
          <p:nvPr/>
        </p:nvSpPr>
        <p:spPr>
          <a:xfrm>
            <a:off x="8991600" y="2242244"/>
            <a:ext cx="2667000" cy="2236291"/>
          </a:xfrm>
          <a:prstGeom prst="roundRect">
            <a:avLst>
              <a:gd name="adj" fmla="val 42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023F5065-511D-4DD4-AE2E-6592E5C9E404}"/>
              </a:ext>
            </a:extLst>
          </p:cNvPr>
          <p:cNvSpPr>
            <a:spLocks noGrp="1"/>
          </p:cNvSpPr>
          <p:nvPr/>
        </p:nvSpPr>
        <p:spPr>
          <a:xfrm>
            <a:off x="8782050" y="4888110"/>
            <a:ext cx="2647950" cy="323850"/>
          </a:xfrm>
          <a:prstGeom prst="roundRect">
            <a:avLst>
              <a:gd name="adj" fmla="val 17647"/>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9D23000B-2CFE-4206-A149-D5BAB4061C53}"/>
              </a:ext>
            </a:extLst>
          </p:cNvPr>
          <p:cNvSpPr>
            <a:spLocks noGrp="1"/>
          </p:cNvSpPr>
          <p:nvPr/>
        </p:nvSpPr>
        <p:spPr>
          <a:xfrm>
            <a:off x="533400" y="4469010"/>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540BCFDC-0F87-4721-AC25-4CE0EA7081BE}"/>
              </a:ext>
            </a:extLst>
          </p:cNvPr>
          <p:cNvSpPr>
            <a:spLocks noGrp="1"/>
          </p:cNvSpPr>
          <p:nvPr/>
        </p:nvSpPr>
        <p:spPr>
          <a:xfrm>
            <a:off x="533400" y="2242244"/>
            <a:ext cx="2667000" cy="47625"/>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1CDE19E0-3035-4427-813F-564BD83D4EE3}"/>
              </a:ext>
            </a:extLst>
          </p:cNvPr>
          <p:cNvSpPr>
            <a:spLocks noGrp="1"/>
          </p:cNvSpPr>
          <p:nvPr/>
        </p:nvSpPr>
        <p:spPr>
          <a:xfrm>
            <a:off x="533400"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AEA34E30-B6AC-4847-8E8C-6F6E0F9C12BA}"/>
              </a:ext>
            </a:extLst>
          </p:cNvPr>
          <p:cNvSpPr>
            <a:spLocks noGrp="1"/>
          </p:cNvSpPr>
          <p:nvPr/>
        </p:nvSpPr>
        <p:spPr>
          <a:xfrm>
            <a:off x="3190875"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1763AB3D-4FA8-4936-858D-BEDE8BB637A9}"/>
              </a:ext>
            </a:extLst>
          </p:cNvPr>
          <p:cNvSpPr>
            <a:spLocks noGrp="1"/>
          </p:cNvSpPr>
          <p:nvPr/>
        </p:nvSpPr>
        <p:spPr>
          <a:xfrm>
            <a:off x="752475" y="3964185"/>
            <a:ext cx="22288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9014E6D8-6CA0-45E5-BAEB-767BF158F2E8}"/>
              </a:ext>
            </a:extLst>
          </p:cNvPr>
          <p:cNvSpPr>
            <a:spLocks noGrp="1"/>
          </p:cNvSpPr>
          <p:nvPr/>
        </p:nvSpPr>
        <p:spPr>
          <a:xfrm>
            <a:off x="3352800" y="4469010"/>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58C5583F-ABEE-419C-95AD-D2EFC199272A}"/>
              </a:ext>
            </a:extLst>
          </p:cNvPr>
          <p:cNvSpPr>
            <a:spLocks noGrp="1"/>
          </p:cNvSpPr>
          <p:nvPr/>
        </p:nvSpPr>
        <p:spPr>
          <a:xfrm>
            <a:off x="3352800" y="2242244"/>
            <a:ext cx="2667000" cy="4762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8490452B-6477-4065-AAE7-21F82C5DAC39}"/>
              </a:ext>
            </a:extLst>
          </p:cNvPr>
          <p:cNvSpPr>
            <a:spLocks noGrp="1"/>
          </p:cNvSpPr>
          <p:nvPr/>
        </p:nvSpPr>
        <p:spPr>
          <a:xfrm>
            <a:off x="3352800"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03ADFB24-60AC-40FF-A9EA-7761F8420EE6}"/>
              </a:ext>
            </a:extLst>
          </p:cNvPr>
          <p:cNvSpPr>
            <a:spLocks noGrp="1"/>
          </p:cNvSpPr>
          <p:nvPr/>
        </p:nvSpPr>
        <p:spPr>
          <a:xfrm>
            <a:off x="6010275"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13B88B49-9308-479A-8EFC-6A7975C76C11}"/>
              </a:ext>
            </a:extLst>
          </p:cNvPr>
          <p:cNvSpPr>
            <a:spLocks noGrp="1"/>
          </p:cNvSpPr>
          <p:nvPr/>
        </p:nvSpPr>
        <p:spPr>
          <a:xfrm>
            <a:off x="3571875" y="3964185"/>
            <a:ext cx="22288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7122FCEC-2BD5-4481-A4F7-DC55317B07AF}"/>
              </a:ext>
            </a:extLst>
          </p:cNvPr>
          <p:cNvSpPr>
            <a:spLocks noGrp="1"/>
          </p:cNvSpPr>
          <p:nvPr/>
        </p:nvSpPr>
        <p:spPr>
          <a:xfrm>
            <a:off x="6172200" y="4469010"/>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3C764E30-C54F-43DB-A5C2-C4DA74775254}"/>
              </a:ext>
            </a:extLst>
          </p:cNvPr>
          <p:cNvSpPr>
            <a:spLocks noGrp="1"/>
          </p:cNvSpPr>
          <p:nvPr/>
        </p:nvSpPr>
        <p:spPr>
          <a:xfrm>
            <a:off x="6172200" y="2242244"/>
            <a:ext cx="2667000" cy="47625"/>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50888167-1D68-472B-839A-9A814C4DD0B1}"/>
              </a:ext>
            </a:extLst>
          </p:cNvPr>
          <p:cNvSpPr>
            <a:spLocks noGrp="1"/>
          </p:cNvSpPr>
          <p:nvPr/>
        </p:nvSpPr>
        <p:spPr>
          <a:xfrm>
            <a:off x="6172200"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C3A6AF79-D909-413E-AE38-FF6880F1B6D6}"/>
              </a:ext>
            </a:extLst>
          </p:cNvPr>
          <p:cNvSpPr>
            <a:spLocks noGrp="1"/>
          </p:cNvSpPr>
          <p:nvPr/>
        </p:nvSpPr>
        <p:spPr>
          <a:xfrm>
            <a:off x="8829675"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DBB8AC40-C9C9-4706-B21B-6550EEFA0134}"/>
              </a:ext>
            </a:extLst>
          </p:cNvPr>
          <p:cNvSpPr>
            <a:spLocks noGrp="1"/>
          </p:cNvSpPr>
          <p:nvPr/>
        </p:nvSpPr>
        <p:spPr>
          <a:xfrm>
            <a:off x="6391275" y="3964185"/>
            <a:ext cx="22288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4DC61C2D-86A8-4FD0-9A31-1BC34BEE1A6E}"/>
              </a:ext>
            </a:extLst>
          </p:cNvPr>
          <p:cNvSpPr>
            <a:spLocks noGrp="1"/>
          </p:cNvSpPr>
          <p:nvPr/>
        </p:nvSpPr>
        <p:spPr>
          <a:xfrm>
            <a:off x="8991600" y="4469010"/>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C4DE1127-1053-474E-A019-943D112A0C8F}"/>
              </a:ext>
            </a:extLst>
          </p:cNvPr>
          <p:cNvSpPr>
            <a:spLocks noGrp="1"/>
          </p:cNvSpPr>
          <p:nvPr/>
        </p:nvSpPr>
        <p:spPr>
          <a:xfrm>
            <a:off x="8991600" y="2242244"/>
            <a:ext cx="2667000" cy="47625"/>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FF2BB64B-EB2F-40AC-BA9F-F355442C8CC4}"/>
              </a:ext>
            </a:extLst>
          </p:cNvPr>
          <p:cNvSpPr>
            <a:spLocks noGrp="1"/>
          </p:cNvSpPr>
          <p:nvPr/>
        </p:nvSpPr>
        <p:spPr>
          <a:xfrm>
            <a:off x="8991600"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FA127E9A-3893-4497-8FB4-9F4FF4477785}"/>
              </a:ext>
            </a:extLst>
          </p:cNvPr>
          <p:cNvSpPr>
            <a:spLocks noGrp="1"/>
          </p:cNvSpPr>
          <p:nvPr/>
        </p:nvSpPr>
        <p:spPr>
          <a:xfrm>
            <a:off x="11649075" y="2242244"/>
            <a:ext cx="9525" cy="223629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DEFEF06A-93BF-4A0A-AB4D-0266783E9579}"/>
              </a:ext>
            </a:extLst>
          </p:cNvPr>
          <p:cNvSpPr>
            <a:spLocks noGrp="1"/>
          </p:cNvSpPr>
          <p:nvPr/>
        </p:nvSpPr>
        <p:spPr>
          <a:xfrm>
            <a:off x="9210675" y="3811785"/>
            <a:ext cx="22288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ounded Rectangle 28">
            <a:extLst>
              <a:ext uri="{FF2B5EF4-FFF2-40B4-BE49-F238E27FC236}">
                <a16:creationId xmlns:a16="http://schemas.microsoft.com/office/drawing/2014/main" id="{E8BB2A88-95D3-40CB-BD14-68A29C617FF5}"/>
              </a:ext>
            </a:extLst>
          </p:cNvPr>
          <p:cNvSpPr>
            <a:spLocks noGrp="1"/>
          </p:cNvSpPr>
          <p:nvPr/>
        </p:nvSpPr>
        <p:spPr>
          <a:xfrm>
            <a:off x="2047875" y="2499419"/>
            <a:ext cx="933450" cy="200025"/>
          </a:xfrm>
          <a:prstGeom prst="roundRect">
            <a:avLst>
              <a:gd name="adj" fmla="val 19047"/>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Rounded Rectangle 29">
            <a:extLst>
              <a:ext uri="{FF2B5EF4-FFF2-40B4-BE49-F238E27FC236}">
                <a16:creationId xmlns:a16="http://schemas.microsoft.com/office/drawing/2014/main" id="{C4DF4D7B-EEE8-4B1B-9C10-602F29C217ED}"/>
              </a:ext>
            </a:extLst>
          </p:cNvPr>
          <p:cNvSpPr>
            <a:spLocks noGrp="1"/>
          </p:cNvSpPr>
          <p:nvPr/>
        </p:nvSpPr>
        <p:spPr>
          <a:xfrm>
            <a:off x="4867275" y="2499419"/>
            <a:ext cx="933450" cy="200025"/>
          </a:xfrm>
          <a:prstGeom prst="roundRect">
            <a:avLst>
              <a:gd name="adj" fmla="val 19047"/>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Rounded Rectangle 30">
            <a:extLst>
              <a:ext uri="{FF2B5EF4-FFF2-40B4-BE49-F238E27FC236}">
                <a16:creationId xmlns:a16="http://schemas.microsoft.com/office/drawing/2014/main" id="{2ECC4077-FD99-4921-A541-6E6B2A1CB2A8}"/>
              </a:ext>
            </a:extLst>
          </p:cNvPr>
          <p:cNvSpPr>
            <a:spLocks noGrp="1"/>
          </p:cNvSpPr>
          <p:nvPr/>
        </p:nvSpPr>
        <p:spPr>
          <a:xfrm>
            <a:off x="7696200" y="2499419"/>
            <a:ext cx="923925" cy="200025"/>
          </a:xfrm>
          <a:prstGeom prst="roundRect">
            <a:avLst>
              <a:gd name="adj" fmla="val 19047"/>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Rounded Rectangle 31">
            <a:extLst>
              <a:ext uri="{FF2B5EF4-FFF2-40B4-BE49-F238E27FC236}">
                <a16:creationId xmlns:a16="http://schemas.microsoft.com/office/drawing/2014/main" id="{F7B776A7-296C-4550-A4A1-B04006DC57BC}"/>
              </a:ext>
            </a:extLst>
          </p:cNvPr>
          <p:cNvSpPr>
            <a:spLocks noGrp="1"/>
          </p:cNvSpPr>
          <p:nvPr/>
        </p:nvSpPr>
        <p:spPr>
          <a:xfrm>
            <a:off x="10544175" y="2499419"/>
            <a:ext cx="895350" cy="200025"/>
          </a:xfrm>
          <a:prstGeom prst="roundRect">
            <a:avLst>
              <a:gd name="adj" fmla="val 19047"/>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26EC1CC-3EAC-4E4B-A5B6-472E96213960}"/>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34" name="TextBox 33">
            <a:extLst>
              <a:ext uri="{FF2B5EF4-FFF2-40B4-BE49-F238E27FC236}">
                <a16:creationId xmlns:a16="http://schemas.microsoft.com/office/drawing/2014/main" id="{D46D4A42-02CF-4EFA-9463-0AD42340C39E}"/>
              </a:ext>
            </a:extLst>
          </p:cNvPr>
          <p:cNvSpPr>
            <a:spLocks noGrp="1"/>
          </p:cNvSpPr>
          <p:nvPr/>
        </p:nvSpPr>
        <p:spPr>
          <a:xfrm>
            <a:off x="533400" y="381000"/>
            <a:ext cx="9965531"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THE Q1–Q2 SOLUTION</a:t>
            </a:r>
          </a:p>
        </p:txBody>
      </p:sp>
      <p:sp>
        <p:nvSpPr>
          <p:cNvPr id="35" name="TextBox 34">
            <a:extLst>
              <a:ext uri="{FF2B5EF4-FFF2-40B4-BE49-F238E27FC236}">
                <a16:creationId xmlns:a16="http://schemas.microsoft.com/office/drawing/2014/main" id="{D923D56A-B80A-420B-B4AB-C7A6F8A18326}"/>
              </a:ext>
            </a:extLst>
          </p:cNvPr>
          <p:cNvSpPr>
            <a:spLocks noGrp="1"/>
          </p:cNvSpPr>
          <p:nvPr/>
        </p:nvSpPr>
        <p:spPr>
          <a:xfrm>
            <a:off x="533400" y="609600"/>
            <a:ext cx="10463807"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Four Decisions Turn the Dashboard Into a Working Plan</a:t>
            </a:r>
          </a:p>
        </p:txBody>
      </p:sp>
      <p:sp>
        <p:nvSpPr>
          <p:cNvPr id="36" name="TextBox 35">
            <a:extLst>
              <a:ext uri="{FF2B5EF4-FFF2-40B4-BE49-F238E27FC236}">
                <a16:creationId xmlns:a16="http://schemas.microsoft.com/office/drawing/2014/main" id="{209F0E70-4EFF-4823-AA7E-85A11EF6E5E2}"/>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37" name="TextBox 36">
            <a:extLst>
              <a:ext uri="{FF2B5EF4-FFF2-40B4-BE49-F238E27FC236}">
                <a16:creationId xmlns:a16="http://schemas.microsoft.com/office/drawing/2014/main" id="{524D8395-3972-408B-94AB-57DA41E62246}"/>
              </a:ext>
            </a:extLst>
          </p:cNvPr>
          <p:cNvSpPr>
            <a:spLocks noGrp="1"/>
          </p:cNvSpPr>
          <p:nvPr/>
        </p:nvSpPr>
        <p:spPr>
          <a:xfrm>
            <a:off x="8934450" y="4964310"/>
            <a:ext cx="2438400" cy="171450"/>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FFFFFF"/>
                </a:solidFill>
                <a:latin typeface="Arial"/>
                <a:ea typeface="Arial"/>
                <a:cs typeface="Arial"/>
              </a:rPr>
              <a:t>Full Value Bridge: $38.4M → $50.4M</a:t>
            </a:r>
          </a:p>
        </p:txBody>
      </p:sp>
      <p:sp>
        <p:nvSpPr>
          <p:cNvPr id="38" name="TextBox 37">
            <a:extLst>
              <a:ext uri="{FF2B5EF4-FFF2-40B4-BE49-F238E27FC236}">
                <a16:creationId xmlns:a16="http://schemas.microsoft.com/office/drawing/2014/main" id="{C1B34A60-4A35-46D0-BA90-A2D1E0F5FC74}"/>
              </a:ext>
            </a:extLst>
          </p:cNvPr>
          <p:cNvSpPr>
            <a:spLocks noGrp="1"/>
          </p:cNvSpPr>
          <p:nvPr/>
        </p:nvSpPr>
        <p:spPr>
          <a:xfrm>
            <a:off x="752475" y="4097535"/>
            <a:ext cx="2324100" cy="29718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0F172A"/>
                </a:solidFill>
                <a:latin typeface="Arial"/>
                <a:ea typeface="Arial"/>
                <a:cs typeface="Arial"/>
              </a:rPr>
              <a:t>Target: Lift deep offers above 5% margin</a:t>
            </a:r>
          </a:p>
        </p:txBody>
      </p:sp>
      <p:sp>
        <p:nvSpPr>
          <p:cNvPr id="39" name="TextBox 38">
            <a:extLst>
              <a:ext uri="{FF2B5EF4-FFF2-40B4-BE49-F238E27FC236}">
                <a16:creationId xmlns:a16="http://schemas.microsoft.com/office/drawing/2014/main" id="{CBDC8EF3-F8AF-4A5C-880B-AAD2B7AC017F}"/>
              </a:ext>
            </a:extLst>
          </p:cNvPr>
          <p:cNvSpPr>
            <a:spLocks noGrp="1"/>
          </p:cNvSpPr>
          <p:nvPr/>
        </p:nvSpPr>
        <p:spPr>
          <a:xfrm>
            <a:off x="3571875" y="4097535"/>
            <a:ext cx="2324100" cy="300082"/>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0F172A"/>
                </a:solidFill>
                <a:latin typeface="Arial"/>
                <a:ea typeface="Arial"/>
                <a:cs typeface="Arial"/>
              </a:rPr>
              <a:t>Target: Assign the top 50 </a:t>
            </a:r>
            <a:r>
              <a:rPr lang="en-US" sz="975" b="1" i="0" u="none">
                <a:solidFill>
                  <a:srgbClr val="0F172A"/>
                </a:solidFill>
                <a:latin typeface="Arial"/>
                <a:ea typeface="Arial"/>
                <a:cs typeface="Arial"/>
              </a:rPr>
              <a:t>Loss Making Combinations</a:t>
            </a:r>
            <a:r>
              <a:rPr sz="975" b="1" i="0" u="none">
                <a:solidFill>
                  <a:srgbClr val="0F172A"/>
                </a:solidFill>
                <a:latin typeface="Arial"/>
                <a:ea typeface="Arial"/>
                <a:cs typeface="Arial"/>
              </a:rPr>
              <a:t>s</a:t>
            </a:r>
          </a:p>
        </p:txBody>
      </p:sp>
      <p:sp>
        <p:nvSpPr>
          <p:cNvPr id="40" name="TextBox 39">
            <a:extLst>
              <a:ext uri="{FF2B5EF4-FFF2-40B4-BE49-F238E27FC236}">
                <a16:creationId xmlns:a16="http://schemas.microsoft.com/office/drawing/2014/main" id="{F8D77758-44E8-48B8-BEA7-507504C8AD95}"/>
              </a:ext>
            </a:extLst>
          </p:cNvPr>
          <p:cNvSpPr>
            <a:spLocks noGrp="1"/>
          </p:cNvSpPr>
          <p:nvPr/>
        </p:nvSpPr>
        <p:spPr>
          <a:xfrm>
            <a:off x="6391275" y="4097535"/>
            <a:ext cx="2324100" cy="29718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0F172A"/>
                </a:solidFill>
                <a:latin typeface="Arial"/>
                <a:ea typeface="Arial"/>
                <a:cs typeface="Arial"/>
              </a:rPr>
              <a:t>Target: Protect 1,408 high-risk customers</a:t>
            </a:r>
          </a:p>
        </p:txBody>
      </p:sp>
      <p:sp>
        <p:nvSpPr>
          <p:cNvPr id="41" name="TextBox 40">
            <a:extLst>
              <a:ext uri="{FF2B5EF4-FFF2-40B4-BE49-F238E27FC236}">
                <a16:creationId xmlns:a16="http://schemas.microsoft.com/office/drawing/2014/main" id="{D619711F-C765-46DE-86F1-946A8812B80E}"/>
              </a:ext>
            </a:extLst>
          </p:cNvPr>
          <p:cNvSpPr>
            <a:spLocks noGrp="1"/>
          </p:cNvSpPr>
          <p:nvPr/>
        </p:nvSpPr>
        <p:spPr>
          <a:xfrm>
            <a:off x="9210675" y="3945135"/>
            <a:ext cx="2324100" cy="314325"/>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0F172A"/>
                </a:solidFill>
                <a:latin typeface="Arial"/>
                <a:ea typeface="Arial"/>
                <a:cs typeface="Arial"/>
              </a:rPr>
              <a:t>Target: More retained CLV per incentive dollar</a:t>
            </a:r>
          </a:p>
        </p:txBody>
      </p:sp>
      <p:sp>
        <p:nvSpPr>
          <p:cNvPr id="42" name="TextBox 41">
            <a:extLst>
              <a:ext uri="{FF2B5EF4-FFF2-40B4-BE49-F238E27FC236}">
                <a16:creationId xmlns:a16="http://schemas.microsoft.com/office/drawing/2014/main" id="{AD0E794A-9BAD-4BE9-A8DC-8A196F812FC6}"/>
              </a:ext>
            </a:extLst>
          </p:cNvPr>
          <p:cNvSpPr>
            <a:spLocks noGrp="1"/>
          </p:cNvSpPr>
          <p:nvPr/>
        </p:nvSpPr>
        <p:spPr>
          <a:xfrm>
            <a:off x="762000" y="4878585"/>
            <a:ext cx="5595937"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FFFFFF"/>
                </a:solidFill>
                <a:latin typeface="Arial"/>
                <a:ea typeface="Arial"/>
                <a:cs typeface="Arial"/>
              </a:rPr>
              <a:t>Q1–Q2 Implementation Envelope: $6.0M Investment</a:t>
            </a:r>
          </a:p>
        </p:txBody>
      </p:sp>
      <p:sp>
        <p:nvSpPr>
          <p:cNvPr id="43" name="TextBox 42">
            <a:extLst>
              <a:ext uri="{FF2B5EF4-FFF2-40B4-BE49-F238E27FC236}">
                <a16:creationId xmlns:a16="http://schemas.microsoft.com/office/drawing/2014/main" id="{863E8080-7BFF-4A12-97C6-731872FD6D7E}"/>
              </a:ext>
            </a:extLst>
          </p:cNvPr>
          <p:cNvSpPr>
            <a:spLocks noGrp="1"/>
          </p:cNvSpPr>
          <p:nvPr/>
        </p:nvSpPr>
        <p:spPr>
          <a:xfrm>
            <a:off x="762000" y="5059560"/>
            <a:ext cx="5595937"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94A3B8"/>
                </a:solidFill>
                <a:latin typeface="Arial"/>
                <a:ea typeface="Arial"/>
                <a:cs typeface="Arial"/>
              </a:rPr>
              <a:t>Delivers +$12.0M Net Annual Profit Uplift | Payback Period: 4.0 Months</a:t>
            </a:r>
          </a:p>
        </p:txBody>
      </p:sp>
      <p:sp>
        <p:nvSpPr>
          <p:cNvPr id="44" name="TextBox 43">
            <a:extLst>
              <a:ext uri="{FF2B5EF4-FFF2-40B4-BE49-F238E27FC236}">
                <a16:creationId xmlns:a16="http://schemas.microsoft.com/office/drawing/2014/main" id="{34AC20F8-9DB0-43D3-878E-EEFF21637534}"/>
              </a:ext>
            </a:extLst>
          </p:cNvPr>
          <p:cNvSpPr>
            <a:spLocks noGrp="1"/>
          </p:cNvSpPr>
          <p:nvPr/>
        </p:nvSpPr>
        <p:spPr>
          <a:xfrm>
            <a:off x="752475" y="2813744"/>
            <a:ext cx="2925365"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Promotion Guardrails</a:t>
            </a:r>
          </a:p>
        </p:txBody>
      </p:sp>
      <p:sp>
        <p:nvSpPr>
          <p:cNvPr id="45" name="TextBox 44">
            <a:extLst>
              <a:ext uri="{FF2B5EF4-FFF2-40B4-BE49-F238E27FC236}">
                <a16:creationId xmlns:a16="http://schemas.microsoft.com/office/drawing/2014/main" id="{DC9E98FC-20FB-45B6-85FE-255509DBE9B4}"/>
              </a:ext>
            </a:extLst>
          </p:cNvPr>
          <p:cNvSpPr>
            <a:spLocks noGrp="1"/>
          </p:cNvSpPr>
          <p:nvPr/>
        </p:nvSpPr>
        <p:spPr>
          <a:xfrm>
            <a:off x="752475" y="3080444"/>
            <a:ext cx="2324100" cy="560070"/>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475569"/>
                </a:solidFill>
                <a:latin typeface="Arial"/>
                <a:ea typeface="Arial"/>
                <a:cs typeface="Arial"/>
              </a:rPr>
              <a:t>Cap unapproved BOGO and clearance deals; enforce minimum 5% margin and 50% ROI gate.</a:t>
            </a:r>
          </a:p>
        </p:txBody>
      </p:sp>
      <p:sp>
        <p:nvSpPr>
          <p:cNvPr id="46" name="TextBox 45">
            <a:extLst>
              <a:ext uri="{FF2B5EF4-FFF2-40B4-BE49-F238E27FC236}">
                <a16:creationId xmlns:a16="http://schemas.microsoft.com/office/drawing/2014/main" id="{1B7FBA58-AC7B-41A2-9E82-71B4E2502883}"/>
              </a:ext>
            </a:extLst>
          </p:cNvPr>
          <p:cNvSpPr>
            <a:spLocks noGrp="1"/>
          </p:cNvSpPr>
          <p:nvPr/>
        </p:nvSpPr>
        <p:spPr>
          <a:xfrm>
            <a:off x="3571875" y="2813743"/>
            <a:ext cx="2381250" cy="392415"/>
          </a:xfrm>
          <a:prstGeom prst="rect">
            <a:avLst/>
          </a:prstGeom>
          <a:noFill/>
        </p:spPr>
        <p:txBody>
          <a:bodyPr wrap="square" lIns="0" tIns="0" rIns="0" bIns="0" anchor="t">
            <a:spAutoFit/>
          </a:bodyPr>
          <a:lstStyle/>
          <a:p>
            <a:pPr algn="l">
              <a:buNone/>
              <a:defRPr>
                <a:latin typeface="Arial"/>
                <a:ea typeface="Arial"/>
                <a:cs typeface="Arial"/>
              </a:defRPr>
            </a:pPr>
            <a:r>
              <a:rPr lang="en-US" sz="1275" b="1" i="0" u="none">
                <a:solidFill>
                  <a:srgbClr val="0F172A"/>
                </a:solidFill>
                <a:latin typeface="Arial"/>
                <a:ea typeface="Arial"/>
                <a:cs typeface="Arial"/>
              </a:rPr>
              <a:t>Loss Making Combinations</a:t>
            </a:r>
            <a:r>
              <a:rPr sz="1275" b="1" i="0" u="none">
                <a:solidFill>
                  <a:srgbClr val="0F172A"/>
                </a:solidFill>
                <a:latin typeface="Arial"/>
                <a:ea typeface="Arial"/>
                <a:cs typeface="Arial"/>
              </a:rPr>
              <a:t> Ownership</a:t>
            </a:r>
          </a:p>
        </p:txBody>
      </p:sp>
      <p:sp>
        <p:nvSpPr>
          <p:cNvPr id="47" name="TextBox 46">
            <a:extLst>
              <a:ext uri="{FF2B5EF4-FFF2-40B4-BE49-F238E27FC236}">
                <a16:creationId xmlns:a16="http://schemas.microsoft.com/office/drawing/2014/main" id="{63D21932-3F8F-4542-B7C8-87C33A2867F6}"/>
              </a:ext>
            </a:extLst>
          </p:cNvPr>
          <p:cNvSpPr>
            <a:spLocks noGrp="1"/>
          </p:cNvSpPr>
          <p:nvPr/>
        </p:nvSpPr>
        <p:spPr>
          <a:xfrm>
            <a:off x="3571875" y="3231700"/>
            <a:ext cx="2324100" cy="559891"/>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475569"/>
                </a:solidFill>
                <a:latin typeface="Arial"/>
                <a:ea typeface="Arial"/>
                <a:cs typeface="Arial"/>
              </a:rPr>
              <a:t>Publish the top 50 recurring pockets and assign one recovery lever to each.</a:t>
            </a:r>
          </a:p>
        </p:txBody>
      </p:sp>
      <p:sp>
        <p:nvSpPr>
          <p:cNvPr id="48" name="TextBox 47">
            <a:extLst>
              <a:ext uri="{FF2B5EF4-FFF2-40B4-BE49-F238E27FC236}">
                <a16:creationId xmlns:a16="http://schemas.microsoft.com/office/drawing/2014/main" id="{49B42CDB-D750-4CBC-A1AF-52B65B0393DA}"/>
              </a:ext>
            </a:extLst>
          </p:cNvPr>
          <p:cNvSpPr>
            <a:spLocks noGrp="1"/>
          </p:cNvSpPr>
          <p:nvPr/>
        </p:nvSpPr>
        <p:spPr>
          <a:xfrm>
            <a:off x="6391275" y="2813744"/>
            <a:ext cx="2925365"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Protect High-Value Risk</a:t>
            </a:r>
          </a:p>
        </p:txBody>
      </p:sp>
      <p:sp>
        <p:nvSpPr>
          <p:cNvPr id="49" name="TextBox 48">
            <a:extLst>
              <a:ext uri="{FF2B5EF4-FFF2-40B4-BE49-F238E27FC236}">
                <a16:creationId xmlns:a16="http://schemas.microsoft.com/office/drawing/2014/main" id="{AF764BBC-0285-4F8A-AF61-5E3BD7E27055}"/>
              </a:ext>
            </a:extLst>
          </p:cNvPr>
          <p:cNvSpPr>
            <a:spLocks noGrp="1"/>
          </p:cNvSpPr>
          <p:nvPr/>
        </p:nvSpPr>
        <p:spPr>
          <a:xfrm>
            <a:off x="6391275" y="3080444"/>
            <a:ext cx="2324100" cy="559891"/>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475569"/>
                </a:solidFill>
                <a:latin typeface="Arial"/>
                <a:ea typeface="Arial"/>
                <a:cs typeface="Arial"/>
              </a:rPr>
              <a:t>Test service first, then a capped 10% offer with a 15% holdout.</a:t>
            </a:r>
          </a:p>
        </p:txBody>
      </p:sp>
      <p:sp>
        <p:nvSpPr>
          <p:cNvPr id="50" name="TextBox 49">
            <a:extLst>
              <a:ext uri="{FF2B5EF4-FFF2-40B4-BE49-F238E27FC236}">
                <a16:creationId xmlns:a16="http://schemas.microsoft.com/office/drawing/2014/main" id="{AD3E6DA1-9C97-41F7-8E0C-7DE21C231906}"/>
              </a:ext>
            </a:extLst>
          </p:cNvPr>
          <p:cNvSpPr>
            <a:spLocks noGrp="1"/>
          </p:cNvSpPr>
          <p:nvPr/>
        </p:nvSpPr>
        <p:spPr>
          <a:xfrm>
            <a:off x="9210675" y="2813744"/>
            <a:ext cx="2925365"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Customer Value Targeting</a:t>
            </a:r>
          </a:p>
        </p:txBody>
      </p:sp>
      <p:sp>
        <p:nvSpPr>
          <p:cNvPr id="51" name="TextBox 50">
            <a:extLst>
              <a:ext uri="{FF2B5EF4-FFF2-40B4-BE49-F238E27FC236}">
                <a16:creationId xmlns:a16="http://schemas.microsoft.com/office/drawing/2014/main" id="{29C9E265-7252-4A13-8C0A-8831001F9616}"/>
              </a:ext>
            </a:extLst>
          </p:cNvPr>
          <p:cNvSpPr>
            <a:spLocks noGrp="1"/>
          </p:cNvSpPr>
          <p:nvPr/>
        </p:nvSpPr>
        <p:spPr>
          <a:xfrm>
            <a:off x="9210675" y="3080444"/>
            <a:ext cx="2324100" cy="559891"/>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475569"/>
                </a:solidFill>
                <a:latin typeface="Arial"/>
                <a:ea typeface="Arial"/>
                <a:cs typeface="Arial"/>
              </a:rPr>
              <a:t>Replace loyalty-tier targeting with customer value and modeled risk.</a:t>
            </a:r>
          </a:p>
        </p:txBody>
      </p:sp>
      <p:sp>
        <p:nvSpPr>
          <p:cNvPr id="52" name="TextBox 51">
            <a:extLst>
              <a:ext uri="{FF2B5EF4-FFF2-40B4-BE49-F238E27FC236}">
                <a16:creationId xmlns:a16="http://schemas.microsoft.com/office/drawing/2014/main" id="{0539F424-4AF6-4746-B860-57257F2AC613}"/>
              </a:ext>
            </a:extLst>
          </p:cNvPr>
          <p:cNvSpPr>
            <a:spLocks noGrp="1"/>
          </p:cNvSpPr>
          <p:nvPr/>
        </p:nvSpPr>
        <p:spPr>
          <a:xfrm>
            <a:off x="752475" y="2523232"/>
            <a:ext cx="704850"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EA580C"/>
                </a:solidFill>
                <a:latin typeface="Arial"/>
                <a:ea typeface="Arial"/>
                <a:cs typeface="Arial"/>
              </a:rPr>
              <a:t>PART 1</a:t>
            </a:r>
          </a:p>
        </p:txBody>
      </p:sp>
      <p:sp>
        <p:nvSpPr>
          <p:cNvPr id="53" name="TextBox 52">
            <a:extLst>
              <a:ext uri="{FF2B5EF4-FFF2-40B4-BE49-F238E27FC236}">
                <a16:creationId xmlns:a16="http://schemas.microsoft.com/office/drawing/2014/main" id="{7088CC6D-7070-45FD-AEB5-B4FF8312503E}"/>
              </a:ext>
            </a:extLst>
          </p:cNvPr>
          <p:cNvSpPr>
            <a:spLocks noGrp="1"/>
          </p:cNvSpPr>
          <p:nvPr/>
        </p:nvSpPr>
        <p:spPr>
          <a:xfrm>
            <a:off x="2124075" y="2527994"/>
            <a:ext cx="87630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B45309"/>
                </a:solidFill>
                <a:latin typeface="Arial"/>
                <a:ea typeface="Arial"/>
                <a:cs typeface="Arial"/>
              </a:rPr>
              <a:t>+$4.2M Profit</a:t>
            </a:r>
          </a:p>
        </p:txBody>
      </p:sp>
      <p:sp>
        <p:nvSpPr>
          <p:cNvPr id="54" name="TextBox 53">
            <a:extLst>
              <a:ext uri="{FF2B5EF4-FFF2-40B4-BE49-F238E27FC236}">
                <a16:creationId xmlns:a16="http://schemas.microsoft.com/office/drawing/2014/main" id="{C8614A95-8A4D-4CCC-B9F8-434CD1AD500C}"/>
              </a:ext>
            </a:extLst>
          </p:cNvPr>
          <p:cNvSpPr>
            <a:spLocks noGrp="1"/>
          </p:cNvSpPr>
          <p:nvPr/>
        </p:nvSpPr>
        <p:spPr>
          <a:xfrm>
            <a:off x="3571875" y="2523232"/>
            <a:ext cx="723900"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2563EB"/>
                </a:solidFill>
                <a:latin typeface="Arial"/>
                <a:ea typeface="Arial"/>
                <a:cs typeface="Arial"/>
              </a:rPr>
              <a:t>PART 2</a:t>
            </a:r>
          </a:p>
        </p:txBody>
      </p:sp>
      <p:sp>
        <p:nvSpPr>
          <p:cNvPr id="55" name="TextBox 54">
            <a:extLst>
              <a:ext uri="{FF2B5EF4-FFF2-40B4-BE49-F238E27FC236}">
                <a16:creationId xmlns:a16="http://schemas.microsoft.com/office/drawing/2014/main" id="{7ACF0854-435D-4817-B4B5-B5EAB4BAEC7B}"/>
              </a:ext>
            </a:extLst>
          </p:cNvPr>
          <p:cNvSpPr>
            <a:spLocks noGrp="1"/>
          </p:cNvSpPr>
          <p:nvPr/>
        </p:nvSpPr>
        <p:spPr>
          <a:xfrm>
            <a:off x="4943475" y="2527994"/>
            <a:ext cx="87630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1E40AF"/>
                </a:solidFill>
                <a:latin typeface="Arial"/>
                <a:ea typeface="Arial"/>
                <a:cs typeface="Arial"/>
              </a:rPr>
              <a:t>+$3.8M Profit</a:t>
            </a:r>
          </a:p>
        </p:txBody>
      </p:sp>
      <p:sp>
        <p:nvSpPr>
          <p:cNvPr id="56" name="TextBox 55">
            <a:extLst>
              <a:ext uri="{FF2B5EF4-FFF2-40B4-BE49-F238E27FC236}">
                <a16:creationId xmlns:a16="http://schemas.microsoft.com/office/drawing/2014/main" id="{F220F172-FD85-43B5-9757-CC1AF384C194}"/>
              </a:ext>
            </a:extLst>
          </p:cNvPr>
          <p:cNvSpPr>
            <a:spLocks noGrp="1"/>
          </p:cNvSpPr>
          <p:nvPr/>
        </p:nvSpPr>
        <p:spPr>
          <a:xfrm>
            <a:off x="6391275" y="2523232"/>
            <a:ext cx="723900"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16A34A"/>
                </a:solidFill>
                <a:latin typeface="Arial"/>
                <a:ea typeface="Arial"/>
                <a:cs typeface="Arial"/>
              </a:rPr>
              <a:t>PART 3</a:t>
            </a:r>
          </a:p>
        </p:txBody>
      </p:sp>
      <p:sp>
        <p:nvSpPr>
          <p:cNvPr id="57" name="TextBox 56">
            <a:extLst>
              <a:ext uri="{FF2B5EF4-FFF2-40B4-BE49-F238E27FC236}">
                <a16:creationId xmlns:a16="http://schemas.microsoft.com/office/drawing/2014/main" id="{4548B0F5-F4CF-44AC-815C-D6786486A120}"/>
              </a:ext>
            </a:extLst>
          </p:cNvPr>
          <p:cNvSpPr>
            <a:spLocks noGrp="1"/>
          </p:cNvSpPr>
          <p:nvPr/>
        </p:nvSpPr>
        <p:spPr>
          <a:xfrm>
            <a:off x="7772400" y="2527994"/>
            <a:ext cx="866775"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15803D"/>
                </a:solidFill>
                <a:latin typeface="Arial"/>
                <a:ea typeface="Arial"/>
                <a:cs typeface="Arial"/>
              </a:rPr>
              <a:t>+$2.5M Profit</a:t>
            </a:r>
          </a:p>
        </p:txBody>
      </p:sp>
      <p:sp>
        <p:nvSpPr>
          <p:cNvPr id="58" name="TextBox 57">
            <a:extLst>
              <a:ext uri="{FF2B5EF4-FFF2-40B4-BE49-F238E27FC236}">
                <a16:creationId xmlns:a16="http://schemas.microsoft.com/office/drawing/2014/main" id="{32275AC6-AB4F-43F5-943B-4D1E398B0310}"/>
              </a:ext>
            </a:extLst>
          </p:cNvPr>
          <p:cNvSpPr>
            <a:spLocks noGrp="1"/>
          </p:cNvSpPr>
          <p:nvPr/>
        </p:nvSpPr>
        <p:spPr>
          <a:xfrm>
            <a:off x="9210675" y="2523232"/>
            <a:ext cx="733425"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0F172A"/>
                </a:solidFill>
                <a:latin typeface="Arial"/>
                <a:ea typeface="Arial"/>
                <a:cs typeface="Arial"/>
              </a:rPr>
              <a:t>PART 4</a:t>
            </a:r>
          </a:p>
        </p:txBody>
      </p:sp>
      <p:sp>
        <p:nvSpPr>
          <p:cNvPr id="59" name="TextBox 58">
            <a:extLst>
              <a:ext uri="{FF2B5EF4-FFF2-40B4-BE49-F238E27FC236}">
                <a16:creationId xmlns:a16="http://schemas.microsoft.com/office/drawing/2014/main" id="{E787809C-3CD2-4864-BB66-3718F27EF41D}"/>
              </a:ext>
            </a:extLst>
          </p:cNvPr>
          <p:cNvSpPr>
            <a:spLocks noGrp="1"/>
          </p:cNvSpPr>
          <p:nvPr/>
        </p:nvSpPr>
        <p:spPr>
          <a:xfrm>
            <a:off x="10620375" y="2527994"/>
            <a:ext cx="83820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334155"/>
                </a:solidFill>
                <a:latin typeface="Arial"/>
                <a:ea typeface="Arial"/>
                <a:cs typeface="Arial"/>
              </a:rPr>
              <a:t>+$1.5M Profit</a:t>
            </a:r>
          </a:p>
        </p:txBody>
      </p:sp>
    </p:spTree>
    <p:extLst>
      <p:ext uri="{BB962C8B-B14F-4D97-AF65-F5344CB8AC3E}">
        <p14:creationId xmlns:p14="http://schemas.microsoft.com/office/powerpoint/2010/main" val="1315541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8D8F8FC-4F1F-448D-A966-127115BBDFA3}"/>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FB002896-39FA-43A6-8FFB-A0F297ACE7A2}"/>
              </a:ext>
            </a:extLst>
          </p:cNvPr>
          <p:cNvSpPr>
            <a:spLocks noGrp="1"/>
          </p:cNvSpPr>
          <p:nvPr/>
        </p:nvSpPr>
        <p:spPr>
          <a:xfrm>
            <a:off x="6991350" y="2250727"/>
            <a:ext cx="4667250" cy="1390650"/>
          </a:xfrm>
          <a:prstGeom prst="roundRect">
            <a:avLst>
              <a:gd name="adj" fmla="val 6849"/>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B5BF8633-812C-44BE-BDE4-61450E021DBB}"/>
              </a:ext>
            </a:extLst>
          </p:cNvPr>
          <p:cNvSpPr>
            <a:spLocks noGrp="1"/>
          </p:cNvSpPr>
          <p:nvPr/>
        </p:nvSpPr>
        <p:spPr>
          <a:xfrm>
            <a:off x="6991350" y="3831877"/>
            <a:ext cx="4667250" cy="1552575"/>
          </a:xfrm>
          <a:prstGeom prst="roundRect">
            <a:avLst>
              <a:gd name="adj" fmla="val 6134"/>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970E5974-68C3-4C33-8CA5-C8BEA2195B51}"/>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15" name="TextBox 14">
            <a:extLst>
              <a:ext uri="{FF2B5EF4-FFF2-40B4-BE49-F238E27FC236}">
                <a16:creationId xmlns:a16="http://schemas.microsoft.com/office/drawing/2014/main" id="{F5DEC71F-954E-45EE-BCEA-18899F1E535A}"/>
              </a:ext>
            </a:extLst>
          </p:cNvPr>
          <p:cNvSpPr>
            <a:spLocks noGrp="1"/>
          </p:cNvSpPr>
          <p:nvPr/>
        </p:nvSpPr>
        <p:spPr>
          <a:xfrm>
            <a:off x="533400" y="381000"/>
            <a:ext cx="8989218"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FINANCIAL ANALYSIS</a:t>
            </a:r>
          </a:p>
        </p:txBody>
      </p:sp>
      <p:sp>
        <p:nvSpPr>
          <p:cNvPr id="16" name="TextBox 15">
            <a:extLst>
              <a:ext uri="{FF2B5EF4-FFF2-40B4-BE49-F238E27FC236}">
                <a16:creationId xmlns:a16="http://schemas.microsoft.com/office/drawing/2014/main" id="{50C7D6C6-9C89-4FDD-BCB2-3ED47351B409}"/>
              </a:ext>
            </a:extLst>
          </p:cNvPr>
          <p:cNvSpPr>
            <a:spLocks noGrp="1"/>
          </p:cNvSpPr>
          <p:nvPr/>
        </p:nvSpPr>
        <p:spPr>
          <a:xfrm>
            <a:off x="533400" y="609600"/>
            <a:ext cx="9438679"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BOGO and Clearance Lose Money Without Adding Units</a:t>
            </a:r>
          </a:p>
        </p:txBody>
      </p:sp>
      <p:sp>
        <p:nvSpPr>
          <p:cNvPr id="17" name="TextBox 16">
            <a:extLst>
              <a:ext uri="{FF2B5EF4-FFF2-40B4-BE49-F238E27FC236}">
                <a16:creationId xmlns:a16="http://schemas.microsoft.com/office/drawing/2014/main" id="{CD9D54ED-CC76-4BA1-A27D-ED7FF957156E}"/>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18" name="TextBox 17">
            <a:extLst>
              <a:ext uri="{FF2B5EF4-FFF2-40B4-BE49-F238E27FC236}">
                <a16:creationId xmlns:a16="http://schemas.microsoft.com/office/drawing/2014/main" id="{7B7C8EBF-BD75-4FE4-8E51-9AE26708278D}"/>
              </a:ext>
            </a:extLst>
          </p:cNvPr>
          <p:cNvSpPr>
            <a:spLocks noGrp="1"/>
          </p:cNvSpPr>
          <p:nvPr/>
        </p:nvSpPr>
        <p:spPr>
          <a:xfrm>
            <a:off x="760197" y="1583977"/>
            <a:ext cx="7350918"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Profitability by Promotion Type</a:t>
            </a:r>
          </a:p>
        </p:txBody>
      </p:sp>
      <p:sp>
        <p:nvSpPr>
          <p:cNvPr id="19" name="TextBox 18">
            <a:extLst>
              <a:ext uri="{FF2B5EF4-FFF2-40B4-BE49-F238E27FC236}">
                <a16:creationId xmlns:a16="http://schemas.microsoft.com/office/drawing/2014/main" id="{17F7BDE1-2CD5-43A8-B5E0-3CAD4032C420}"/>
              </a:ext>
            </a:extLst>
          </p:cNvPr>
          <p:cNvSpPr>
            <a:spLocks noGrp="1"/>
          </p:cNvSpPr>
          <p:nvPr/>
        </p:nvSpPr>
        <p:spPr>
          <a:xfrm>
            <a:off x="7229475" y="2488852"/>
            <a:ext cx="4962525" cy="485775"/>
          </a:xfrm>
          <a:prstGeom prst="rect">
            <a:avLst/>
          </a:prstGeom>
          <a:noFill/>
        </p:spPr>
        <p:txBody>
          <a:bodyPr wrap="none" lIns="0" tIns="0" rIns="0" bIns="0" anchor="t">
            <a:spAutoFit/>
          </a:bodyPr>
          <a:lstStyle/>
          <a:p>
            <a:pPr algn="l">
              <a:buNone/>
              <a:defRPr>
                <a:latin typeface="Arial"/>
                <a:ea typeface="Arial"/>
                <a:cs typeface="Arial"/>
              </a:defRPr>
            </a:pPr>
            <a:r>
              <a:rPr sz="3000" b="1" i="0" u="none">
                <a:solidFill>
                  <a:srgbClr val="DC2626"/>
                </a:solidFill>
                <a:latin typeface="Arial"/>
                <a:ea typeface="Arial"/>
                <a:cs typeface="Arial"/>
              </a:rPr>
              <a:t>−35.6% Margin</a:t>
            </a:r>
          </a:p>
        </p:txBody>
      </p:sp>
      <p:sp>
        <p:nvSpPr>
          <p:cNvPr id="20" name="TextBox 19">
            <a:extLst>
              <a:ext uri="{FF2B5EF4-FFF2-40B4-BE49-F238E27FC236}">
                <a16:creationId xmlns:a16="http://schemas.microsoft.com/office/drawing/2014/main" id="{8CE5B308-9D8E-42D6-9F78-DDD77E5A00BB}"/>
              </a:ext>
            </a:extLst>
          </p:cNvPr>
          <p:cNvSpPr>
            <a:spLocks noGrp="1"/>
          </p:cNvSpPr>
          <p:nvPr/>
        </p:nvSpPr>
        <p:spPr>
          <a:xfrm>
            <a:off x="7229475" y="3012727"/>
            <a:ext cx="4962525" cy="190500"/>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0F172A"/>
                </a:solidFill>
                <a:latin typeface="Arial"/>
                <a:ea typeface="Arial"/>
                <a:cs typeface="Arial"/>
              </a:rPr>
              <a:t>Clearance, the weakest promotion type</a:t>
            </a:r>
          </a:p>
        </p:txBody>
      </p:sp>
      <p:sp>
        <p:nvSpPr>
          <p:cNvPr id="21" name="TextBox 20">
            <a:extLst>
              <a:ext uri="{FF2B5EF4-FFF2-40B4-BE49-F238E27FC236}">
                <a16:creationId xmlns:a16="http://schemas.microsoft.com/office/drawing/2014/main" id="{2E8CA9CD-8116-4149-AADE-A312699FDAEE}"/>
              </a:ext>
            </a:extLst>
          </p:cNvPr>
          <p:cNvSpPr>
            <a:spLocks noGrp="1"/>
          </p:cNvSpPr>
          <p:nvPr/>
        </p:nvSpPr>
        <p:spPr>
          <a:xfrm>
            <a:off x="7229475" y="3241327"/>
            <a:ext cx="4962525"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64748B"/>
                </a:solidFill>
                <a:latin typeface="Arial"/>
                <a:ea typeface="Arial"/>
                <a:cs typeface="Arial"/>
              </a:rPr>
              <a:t>BOGO margin is −16.4%; Clearance margin is −35.6%.</a:t>
            </a:r>
          </a:p>
        </p:txBody>
      </p:sp>
      <p:sp>
        <p:nvSpPr>
          <p:cNvPr id="22" name="TextBox 21">
            <a:extLst>
              <a:ext uri="{FF2B5EF4-FFF2-40B4-BE49-F238E27FC236}">
                <a16:creationId xmlns:a16="http://schemas.microsoft.com/office/drawing/2014/main" id="{DE8A381B-53D4-459C-B4D6-A3D93B622A5F}"/>
              </a:ext>
            </a:extLst>
          </p:cNvPr>
          <p:cNvSpPr>
            <a:spLocks noGrp="1"/>
          </p:cNvSpPr>
          <p:nvPr/>
        </p:nvSpPr>
        <p:spPr>
          <a:xfrm>
            <a:off x="7229475" y="4070002"/>
            <a:ext cx="4962525" cy="485775"/>
          </a:xfrm>
          <a:prstGeom prst="rect">
            <a:avLst/>
          </a:prstGeom>
          <a:noFill/>
        </p:spPr>
        <p:txBody>
          <a:bodyPr wrap="none" lIns="0" tIns="0" rIns="0" bIns="0" anchor="t">
            <a:spAutoFit/>
          </a:bodyPr>
          <a:lstStyle/>
          <a:p>
            <a:pPr algn="l">
              <a:buNone/>
              <a:defRPr>
                <a:latin typeface="Arial"/>
                <a:ea typeface="Arial"/>
                <a:cs typeface="Arial"/>
              </a:defRPr>
            </a:pPr>
            <a:r>
              <a:rPr sz="3000" b="1" i="0" u="none">
                <a:solidFill>
                  <a:srgbClr val="0F172A"/>
                </a:solidFill>
                <a:latin typeface="Arial"/>
                <a:ea typeface="Arial"/>
                <a:cs typeface="Arial"/>
              </a:rPr>
              <a:t>Zero Lift</a:t>
            </a:r>
          </a:p>
        </p:txBody>
      </p:sp>
      <p:sp>
        <p:nvSpPr>
          <p:cNvPr id="23" name="TextBox 22">
            <a:extLst>
              <a:ext uri="{FF2B5EF4-FFF2-40B4-BE49-F238E27FC236}">
                <a16:creationId xmlns:a16="http://schemas.microsoft.com/office/drawing/2014/main" id="{FCE4ECFD-65B1-4A14-B53D-C4B6250CEC20}"/>
              </a:ext>
            </a:extLst>
          </p:cNvPr>
          <p:cNvSpPr>
            <a:spLocks noGrp="1"/>
          </p:cNvSpPr>
          <p:nvPr/>
        </p:nvSpPr>
        <p:spPr>
          <a:xfrm>
            <a:off x="7229475" y="4593877"/>
            <a:ext cx="4962525" cy="190500"/>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0F172A"/>
                </a:solidFill>
                <a:latin typeface="Arial"/>
                <a:ea typeface="Arial"/>
                <a:cs typeface="Arial"/>
              </a:rPr>
              <a:t>No statistical unit volume gain</a:t>
            </a:r>
          </a:p>
        </p:txBody>
      </p:sp>
      <p:sp>
        <p:nvSpPr>
          <p:cNvPr id="24" name="TextBox 23">
            <a:extLst>
              <a:ext uri="{FF2B5EF4-FFF2-40B4-BE49-F238E27FC236}">
                <a16:creationId xmlns:a16="http://schemas.microsoft.com/office/drawing/2014/main" id="{F3C55ED4-4960-4CF6-A726-4C877EBC1812}"/>
              </a:ext>
            </a:extLst>
          </p:cNvPr>
          <p:cNvSpPr>
            <a:spLocks noGrp="1"/>
          </p:cNvSpPr>
          <p:nvPr/>
        </p:nvSpPr>
        <p:spPr>
          <a:xfrm>
            <a:off x="7229475" y="4822477"/>
            <a:ext cx="4286250" cy="323850"/>
          </a:xfrm>
          <a:prstGeom prst="rect">
            <a:avLst/>
          </a:prstGeom>
          <a:noFill/>
        </p:spPr>
        <p:txBody>
          <a:bodyPr wrap="square" lIns="0" tIns="0" rIns="0" bIns="0" anchor="t">
            <a:spAutoFit/>
          </a:bodyPr>
          <a:lstStyle/>
          <a:p>
            <a:pPr algn="l">
              <a:buNone/>
              <a:defRPr>
                <a:latin typeface="Arial"/>
                <a:ea typeface="Arial"/>
                <a:cs typeface="Arial"/>
              </a:defRPr>
            </a:pPr>
            <a:r>
              <a:rPr sz="1050" b="0" i="0" u="none">
                <a:solidFill>
                  <a:srgbClr val="64748B"/>
                </a:solidFill>
                <a:latin typeface="Arial"/>
                <a:ea typeface="Arial"/>
                <a:cs typeface="Arial"/>
              </a:rPr>
              <a:t>The source analysis shows no measurable unit lift.</a:t>
            </a:r>
          </a:p>
        </p:txBody>
      </p:sp>
      <p:graphicFrame>
        <p:nvGraphicFramePr>
          <p:cNvPr id="33" name="Chart">
            <a:extLst>
              <a:ext uri="{FF2B5EF4-FFF2-40B4-BE49-F238E27FC236}">
                <a16:creationId xmlns:a16="http://schemas.microsoft.com/office/drawing/2014/main" id="{01656AEF-BC2D-01E2-B17E-5882BC0D31D9}"/>
              </a:ext>
            </a:extLst>
          </p:cNvPr>
          <p:cNvGraphicFramePr/>
          <p:nvPr>
            <p:extLst>
              <p:ext uri="{D42A27DB-BD31-4B8C-83A1-F6EECF244321}">
                <p14:modId xmlns:p14="http://schemas.microsoft.com/office/powerpoint/2010/main" val="135750963"/>
              </p:ext>
            </p:extLst>
          </p:nvPr>
        </p:nvGraphicFramePr>
        <p:xfrm>
          <a:off x="276225" y="2074256"/>
          <a:ext cx="6572250" cy="3714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2504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BA0CDF13-78D3-46EA-B212-6D8CCD8D640D}"/>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1612D480-69CF-4B61-838E-71E6A61E3EC1}"/>
              </a:ext>
            </a:extLst>
          </p:cNvPr>
          <p:cNvSpPr>
            <a:spLocks noGrp="1"/>
          </p:cNvSpPr>
          <p:nvPr/>
        </p:nvSpPr>
        <p:spPr>
          <a:xfrm>
            <a:off x="533400" y="1960215"/>
            <a:ext cx="5467350" cy="1771650"/>
          </a:xfrm>
          <a:prstGeom prst="roundRect">
            <a:avLst>
              <a:gd name="adj" fmla="val 5376"/>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72F06979-3C18-4D5D-9690-3E9D38CB7EE4}"/>
              </a:ext>
            </a:extLst>
          </p:cNvPr>
          <p:cNvSpPr>
            <a:spLocks noGrp="1"/>
          </p:cNvSpPr>
          <p:nvPr/>
        </p:nvSpPr>
        <p:spPr>
          <a:xfrm>
            <a:off x="6191250" y="1960215"/>
            <a:ext cx="5467350" cy="1771650"/>
          </a:xfrm>
          <a:prstGeom prst="roundRect">
            <a:avLst>
              <a:gd name="adj" fmla="val 5376"/>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55763DCE-FE06-4FDA-A494-8934812A7ACB}"/>
              </a:ext>
            </a:extLst>
          </p:cNvPr>
          <p:cNvSpPr>
            <a:spLocks noGrp="1"/>
          </p:cNvSpPr>
          <p:nvPr/>
        </p:nvSpPr>
        <p:spPr>
          <a:xfrm>
            <a:off x="533400" y="3922365"/>
            <a:ext cx="5467350" cy="1752600"/>
          </a:xfrm>
          <a:prstGeom prst="roundRect">
            <a:avLst>
              <a:gd name="adj" fmla="val 5434"/>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6D836CF3-10D8-4FCF-818B-396AA0433FDB}"/>
              </a:ext>
            </a:extLst>
          </p:cNvPr>
          <p:cNvSpPr>
            <a:spLocks noGrp="1"/>
          </p:cNvSpPr>
          <p:nvPr/>
        </p:nvSpPr>
        <p:spPr>
          <a:xfrm>
            <a:off x="6191250" y="3922365"/>
            <a:ext cx="5467350" cy="1752600"/>
          </a:xfrm>
          <a:prstGeom prst="roundRect">
            <a:avLst>
              <a:gd name="adj" fmla="val 5434"/>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54EF7891-1B7D-44E2-8E3B-F1D3F5ACA7D3}"/>
              </a:ext>
            </a:extLst>
          </p:cNvPr>
          <p:cNvSpPr>
            <a:spLocks noGrp="1"/>
          </p:cNvSpPr>
          <p:nvPr/>
        </p:nvSpPr>
        <p:spPr>
          <a:xfrm>
            <a:off x="781050" y="3103215"/>
            <a:ext cx="4972050" cy="381000"/>
          </a:xfrm>
          <a:prstGeom prst="roundRect">
            <a:avLst>
              <a:gd name="adj" fmla="val 15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B692A2B8-9C1C-4042-9E17-2A6D6AF9B570}"/>
              </a:ext>
            </a:extLst>
          </p:cNvPr>
          <p:cNvSpPr>
            <a:spLocks noGrp="1"/>
          </p:cNvSpPr>
          <p:nvPr/>
        </p:nvSpPr>
        <p:spPr>
          <a:xfrm>
            <a:off x="6429375" y="3112740"/>
            <a:ext cx="4991100" cy="381000"/>
          </a:xfrm>
          <a:prstGeom prst="roundRect">
            <a:avLst>
              <a:gd name="adj" fmla="val 15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FBD4AD54-80E9-42CD-917B-347E5935D2D5}"/>
              </a:ext>
            </a:extLst>
          </p:cNvPr>
          <p:cNvSpPr>
            <a:spLocks noGrp="1"/>
          </p:cNvSpPr>
          <p:nvPr/>
        </p:nvSpPr>
        <p:spPr>
          <a:xfrm>
            <a:off x="771525" y="5055840"/>
            <a:ext cx="4991100" cy="381000"/>
          </a:xfrm>
          <a:prstGeom prst="roundRect">
            <a:avLst>
              <a:gd name="adj" fmla="val 15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ounded Rectangle 9">
            <a:extLst>
              <a:ext uri="{FF2B5EF4-FFF2-40B4-BE49-F238E27FC236}">
                <a16:creationId xmlns:a16="http://schemas.microsoft.com/office/drawing/2014/main" id="{506266D7-44CF-4408-B7F3-9419787CF691}"/>
              </a:ext>
            </a:extLst>
          </p:cNvPr>
          <p:cNvSpPr>
            <a:spLocks noGrp="1"/>
          </p:cNvSpPr>
          <p:nvPr/>
        </p:nvSpPr>
        <p:spPr>
          <a:xfrm>
            <a:off x="6429375" y="5055840"/>
            <a:ext cx="4991100" cy="381000"/>
          </a:xfrm>
          <a:prstGeom prst="roundRect">
            <a:avLst>
              <a:gd name="adj" fmla="val 15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ounded Rectangle 10">
            <a:extLst>
              <a:ext uri="{FF2B5EF4-FFF2-40B4-BE49-F238E27FC236}">
                <a16:creationId xmlns:a16="http://schemas.microsoft.com/office/drawing/2014/main" id="{9BE524C6-3EBA-474E-936C-ED9D36F44EF8}"/>
              </a:ext>
            </a:extLst>
          </p:cNvPr>
          <p:cNvSpPr>
            <a:spLocks noGrp="1"/>
          </p:cNvSpPr>
          <p:nvPr/>
        </p:nvSpPr>
        <p:spPr>
          <a:xfrm>
            <a:off x="781050" y="2207865"/>
            <a:ext cx="1847850" cy="228600"/>
          </a:xfrm>
          <a:prstGeom prst="roundRect">
            <a:avLst>
              <a:gd name="adj" fmla="val 16666"/>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ounded Rectangle 11">
            <a:extLst>
              <a:ext uri="{FF2B5EF4-FFF2-40B4-BE49-F238E27FC236}">
                <a16:creationId xmlns:a16="http://schemas.microsoft.com/office/drawing/2014/main" id="{7C002D15-3DF1-42ED-9AFA-F53838BDD84C}"/>
              </a:ext>
            </a:extLst>
          </p:cNvPr>
          <p:cNvSpPr>
            <a:spLocks noGrp="1"/>
          </p:cNvSpPr>
          <p:nvPr/>
        </p:nvSpPr>
        <p:spPr>
          <a:xfrm>
            <a:off x="6429375" y="2075453"/>
            <a:ext cx="1876426" cy="360075"/>
          </a:xfrm>
          <a:prstGeom prst="roundRect">
            <a:avLst>
              <a:gd name="adj" fmla="val 16666"/>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ounded Rectangle 12">
            <a:extLst>
              <a:ext uri="{FF2B5EF4-FFF2-40B4-BE49-F238E27FC236}">
                <a16:creationId xmlns:a16="http://schemas.microsoft.com/office/drawing/2014/main" id="{B61C9E71-F3CE-48CF-987D-3F613BEEFD06}"/>
              </a:ext>
            </a:extLst>
          </p:cNvPr>
          <p:cNvSpPr>
            <a:spLocks noGrp="1"/>
          </p:cNvSpPr>
          <p:nvPr/>
        </p:nvSpPr>
        <p:spPr>
          <a:xfrm>
            <a:off x="771525" y="4160490"/>
            <a:ext cx="1543050" cy="228600"/>
          </a:xfrm>
          <a:prstGeom prst="roundRect">
            <a:avLst>
              <a:gd name="adj" fmla="val 16666"/>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ounded Rectangle 13">
            <a:extLst>
              <a:ext uri="{FF2B5EF4-FFF2-40B4-BE49-F238E27FC236}">
                <a16:creationId xmlns:a16="http://schemas.microsoft.com/office/drawing/2014/main" id="{48F27FC2-DE0D-4F63-94E8-0B0817332EC0}"/>
              </a:ext>
            </a:extLst>
          </p:cNvPr>
          <p:cNvSpPr>
            <a:spLocks noGrp="1"/>
          </p:cNvSpPr>
          <p:nvPr/>
        </p:nvSpPr>
        <p:spPr>
          <a:xfrm>
            <a:off x="6429375" y="4160490"/>
            <a:ext cx="2000250" cy="228600"/>
          </a:xfrm>
          <a:prstGeom prst="roundRect">
            <a:avLst>
              <a:gd name="adj" fmla="val 16666"/>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77822D7-A86C-4C52-BBD2-09CBEEADD79C}"/>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16" name="TextBox 15">
            <a:extLst>
              <a:ext uri="{FF2B5EF4-FFF2-40B4-BE49-F238E27FC236}">
                <a16:creationId xmlns:a16="http://schemas.microsoft.com/office/drawing/2014/main" id="{2BBD8700-BD0E-4BC1-8FEE-BB3E235DCD22}"/>
              </a:ext>
            </a:extLst>
          </p:cNvPr>
          <p:cNvSpPr>
            <a:spLocks noGrp="1"/>
          </p:cNvSpPr>
          <p:nvPr/>
        </p:nvSpPr>
        <p:spPr>
          <a:xfrm>
            <a:off x="533400" y="381000"/>
            <a:ext cx="10179843"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CUSTOMER ANALYTICS</a:t>
            </a:r>
          </a:p>
        </p:txBody>
      </p:sp>
      <p:sp>
        <p:nvSpPr>
          <p:cNvPr id="17" name="TextBox 16">
            <a:extLst>
              <a:ext uri="{FF2B5EF4-FFF2-40B4-BE49-F238E27FC236}">
                <a16:creationId xmlns:a16="http://schemas.microsoft.com/office/drawing/2014/main" id="{1D9B1C16-A341-4187-8E84-AB27E137069C}"/>
              </a:ext>
            </a:extLst>
          </p:cNvPr>
          <p:cNvSpPr>
            <a:spLocks noGrp="1"/>
          </p:cNvSpPr>
          <p:nvPr/>
        </p:nvSpPr>
        <p:spPr>
          <a:xfrm>
            <a:off x="533400" y="609600"/>
            <a:ext cx="10688835"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The Dashboard Identifies 1,408 Customers to Protect First</a:t>
            </a:r>
          </a:p>
        </p:txBody>
      </p:sp>
      <p:sp>
        <p:nvSpPr>
          <p:cNvPr id="18" name="TextBox 17">
            <a:extLst>
              <a:ext uri="{FF2B5EF4-FFF2-40B4-BE49-F238E27FC236}">
                <a16:creationId xmlns:a16="http://schemas.microsoft.com/office/drawing/2014/main" id="{33D1C07E-B291-46B3-A21A-AFE0ABCF6A5E}"/>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19" name="TextBox 18">
            <a:extLst>
              <a:ext uri="{FF2B5EF4-FFF2-40B4-BE49-F238E27FC236}">
                <a16:creationId xmlns:a16="http://schemas.microsoft.com/office/drawing/2014/main" id="{BEE2A163-C3E6-4D09-8D44-29072EFB72CA}"/>
              </a:ext>
            </a:extLst>
          </p:cNvPr>
          <p:cNvSpPr>
            <a:spLocks noGrp="1"/>
          </p:cNvSpPr>
          <p:nvPr/>
        </p:nvSpPr>
        <p:spPr>
          <a:xfrm>
            <a:off x="895350" y="3217515"/>
            <a:ext cx="483870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991B1B"/>
                </a:solidFill>
                <a:latin typeface="Arial"/>
                <a:ea typeface="Arial"/>
                <a:cs typeface="Arial"/>
              </a:rPr>
              <a:t>Action: Targeted 10% offer + 15% untreated holdout gate</a:t>
            </a:r>
          </a:p>
        </p:txBody>
      </p:sp>
      <p:sp>
        <p:nvSpPr>
          <p:cNvPr id="20" name="TextBox 19">
            <a:extLst>
              <a:ext uri="{FF2B5EF4-FFF2-40B4-BE49-F238E27FC236}">
                <a16:creationId xmlns:a16="http://schemas.microsoft.com/office/drawing/2014/main" id="{9A1C2B90-4C20-44A8-B0C8-ADC792D76F82}"/>
              </a:ext>
            </a:extLst>
          </p:cNvPr>
          <p:cNvSpPr>
            <a:spLocks noGrp="1"/>
          </p:cNvSpPr>
          <p:nvPr/>
        </p:nvSpPr>
        <p:spPr>
          <a:xfrm>
            <a:off x="6543675" y="3227040"/>
            <a:ext cx="485775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166534"/>
                </a:solidFill>
                <a:latin typeface="Arial"/>
                <a:ea typeface="Arial"/>
                <a:cs typeface="Arial"/>
              </a:rPr>
              <a:t>Action: VIP service perks &amp; personalized category triggers</a:t>
            </a:r>
          </a:p>
        </p:txBody>
      </p:sp>
      <p:sp>
        <p:nvSpPr>
          <p:cNvPr id="21" name="TextBox 20">
            <a:extLst>
              <a:ext uri="{FF2B5EF4-FFF2-40B4-BE49-F238E27FC236}">
                <a16:creationId xmlns:a16="http://schemas.microsoft.com/office/drawing/2014/main" id="{27C8B683-98B6-4F59-8893-86200672AF03}"/>
              </a:ext>
            </a:extLst>
          </p:cNvPr>
          <p:cNvSpPr>
            <a:spLocks noGrp="1"/>
          </p:cNvSpPr>
          <p:nvPr/>
        </p:nvSpPr>
        <p:spPr>
          <a:xfrm>
            <a:off x="885825" y="5170140"/>
            <a:ext cx="485775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334155"/>
                </a:solidFill>
                <a:latin typeface="Arial"/>
                <a:ea typeface="Arial"/>
                <a:cs typeface="Arial"/>
              </a:rPr>
              <a:t>Action: Automated email touchpoints; no direct discounting</a:t>
            </a:r>
          </a:p>
        </p:txBody>
      </p:sp>
      <p:sp>
        <p:nvSpPr>
          <p:cNvPr id="22" name="TextBox 21">
            <a:extLst>
              <a:ext uri="{FF2B5EF4-FFF2-40B4-BE49-F238E27FC236}">
                <a16:creationId xmlns:a16="http://schemas.microsoft.com/office/drawing/2014/main" id="{9F71B0FC-7699-4ABE-85B4-44574619D5C3}"/>
              </a:ext>
            </a:extLst>
          </p:cNvPr>
          <p:cNvSpPr>
            <a:spLocks noGrp="1"/>
          </p:cNvSpPr>
          <p:nvPr/>
        </p:nvSpPr>
        <p:spPr>
          <a:xfrm>
            <a:off x="6543675" y="5170140"/>
            <a:ext cx="485775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334155"/>
                </a:solidFill>
                <a:latin typeface="Arial"/>
                <a:ea typeface="Arial"/>
                <a:cs typeface="Arial"/>
              </a:rPr>
              <a:t>Action: Strict incentive caps; low-cost digital retargeting</a:t>
            </a:r>
          </a:p>
        </p:txBody>
      </p:sp>
      <p:sp>
        <p:nvSpPr>
          <p:cNvPr id="23" name="TextBox 22">
            <a:extLst>
              <a:ext uri="{FF2B5EF4-FFF2-40B4-BE49-F238E27FC236}">
                <a16:creationId xmlns:a16="http://schemas.microsoft.com/office/drawing/2014/main" id="{F8E7B4D6-D27E-4BAD-91C4-1F5ACA3DC2F6}"/>
              </a:ext>
            </a:extLst>
          </p:cNvPr>
          <p:cNvSpPr>
            <a:spLocks noGrp="1"/>
          </p:cNvSpPr>
          <p:nvPr/>
        </p:nvSpPr>
        <p:spPr>
          <a:xfrm>
            <a:off x="781050" y="2550765"/>
            <a:ext cx="6215062"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0F172A"/>
                </a:solidFill>
                <a:latin typeface="Arial"/>
                <a:ea typeface="Arial"/>
                <a:cs typeface="Arial"/>
              </a:rPr>
              <a:t>1,408 Customers | 61.7% Average Modeled Risk</a:t>
            </a:r>
          </a:p>
        </p:txBody>
      </p:sp>
      <p:sp>
        <p:nvSpPr>
          <p:cNvPr id="24" name="TextBox 23">
            <a:extLst>
              <a:ext uri="{FF2B5EF4-FFF2-40B4-BE49-F238E27FC236}">
                <a16:creationId xmlns:a16="http://schemas.microsoft.com/office/drawing/2014/main" id="{EEBA9B52-5ADA-41E2-9228-02911EFE71BD}"/>
              </a:ext>
            </a:extLst>
          </p:cNvPr>
          <p:cNvSpPr>
            <a:spLocks noGrp="1"/>
          </p:cNvSpPr>
          <p:nvPr/>
        </p:nvSpPr>
        <p:spPr>
          <a:xfrm>
            <a:off x="781050" y="2788890"/>
            <a:ext cx="6215062"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Highest-priority group for the first retention test.</a:t>
            </a:r>
          </a:p>
        </p:txBody>
      </p:sp>
      <p:sp>
        <p:nvSpPr>
          <p:cNvPr id="25" name="TextBox 24">
            <a:extLst>
              <a:ext uri="{FF2B5EF4-FFF2-40B4-BE49-F238E27FC236}">
                <a16:creationId xmlns:a16="http://schemas.microsoft.com/office/drawing/2014/main" id="{628BEE09-4837-45D7-9778-A69D80F2C410}"/>
              </a:ext>
            </a:extLst>
          </p:cNvPr>
          <p:cNvSpPr>
            <a:spLocks noGrp="1"/>
          </p:cNvSpPr>
          <p:nvPr/>
        </p:nvSpPr>
        <p:spPr>
          <a:xfrm>
            <a:off x="6429375" y="2541240"/>
            <a:ext cx="5762625"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0F172A"/>
                </a:solidFill>
                <a:latin typeface="Arial"/>
                <a:ea typeface="Arial"/>
                <a:cs typeface="Arial"/>
              </a:rPr>
              <a:t>$5,062 Average CLV | 55% Held by Top Quartile</a:t>
            </a:r>
          </a:p>
        </p:txBody>
      </p:sp>
      <p:sp>
        <p:nvSpPr>
          <p:cNvPr id="26" name="TextBox 25">
            <a:extLst>
              <a:ext uri="{FF2B5EF4-FFF2-40B4-BE49-F238E27FC236}">
                <a16:creationId xmlns:a16="http://schemas.microsoft.com/office/drawing/2014/main" id="{51FD6FE7-5F69-4165-8134-5CE6AE2E1B15}"/>
              </a:ext>
            </a:extLst>
          </p:cNvPr>
          <p:cNvSpPr>
            <a:spLocks noGrp="1"/>
          </p:cNvSpPr>
          <p:nvPr/>
        </p:nvSpPr>
        <p:spPr>
          <a:xfrm>
            <a:off x="6429375" y="2779365"/>
            <a:ext cx="5762625"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Customer value is concentrated beyond the loyalty tiers.</a:t>
            </a:r>
          </a:p>
        </p:txBody>
      </p:sp>
      <p:sp>
        <p:nvSpPr>
          <p:cNvPr id="27" name="TextBox 26">
            <a:extLst>
              <a:ext uri="{FF2B5EF4-FFF2-40B4-BE49-F238E27FC236}">
                <a16:creationId xmlns:a16="http://schemas.microsoft.com/office/drawing/2014/main" id="{C9E3D970-026B-4373-9611-F37A4603752F}"/>
              </a:ext>
            </a:extLst>
          </p:cNvPr>
          <p:cNvSpPr>
            <a:spLocks noGrp="1"/>
          </p:cNvSpPr>
          <p:nvPr/>
        </p:nvSpPr>
        <p:spPr>
          <a:xfrm>
            <a:off x="771525" y="4503390"/>
            <a:ext cx="6238875"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0F172A"/>
                </a:solidFill>
                <a:latin typeface="Arial"/>
                <a:ea typeface="Arial"/>
                <a:cs typeface="Arial"/>
              </a:rPr>
              <a:t>$5,037 to $5,203 Average CLV Across Tiers</a:t>
            </a:r>
          </a:p>
        </p:txBody>
      </p:sp>
      <p:sp>
        <p:nvSpPr>
          <p:cNvPr id="28" name="TextBox 27">
            <a:extLst>
              <a:ext uri="{FF2B5EF4-FFF2-40B4-BE49-F238E27FC236}">
                <a16:creationId xmlns:a16="http://schemas.microsoft.com/office/drawing/2014/main" id="{8E7FEF89-F3AD-4D38-90AF-92F760053FD3}"/>
              </a:ext>
            </a:extLst>
          </p:cNvPr>
          <p:cNvSpPr>
            <a:spLocks noGrp="1"/>
          </p:cNvSpPr>
          <p:nvPr/>
        </p:nvSpPr>
        <p:spPr>
          <a:xfrm>
            <a:off x="771525" y="4741515"/>
            <a:ext cx="6238875"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The loyalty tiers separate status more than customer value.</a:t>
            </a:r>
          </a:p>
        </p:txBody>
      </p:sp>
      <p:sp>
        <p:nvSpPr>
          <p:cNvPr id="29" name="TextBox 28">
            <a:extLst>
              <a:ext uri="{FF2B5EF4-FFF2-40B4-BE49-F238E27FC236}">
                <a16:creationId xmlns:a16="http://schemas.microsoft.com/office/drawing/2014/main" id="{B7C3905C-54AD-4A25-BD82-24E321C8708B}"/>
              </a:ext>
            </a:extLst>
          </p:cNvPr>
          <p:cNvSpPr>
            <a:spLocks noGrp="1"/>
          </p:cNvSpPr>
          <p:nvPr/>
        </p:nvSpPr>
        <p:spPr>
          <a:xfrm>
            <a:off x="6429375" y="4503390"/>
            <a:ext cx="5762625"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0F172A"/>
                </a:solidFill>
                <a:latin typeface="Arial"/>
                <a:ea typeface="Arial"/>
                <a:cs typeface="Arial"/>
              </a:rPr>
              <a:t>15% Holdout | 90-Day Retained-Value Readout</a:t>
            </a:r>
          </a:p>
        </p:txBody>
      </p:sp>
      <p:sp>
        <p:nvSpPr>
          <p:cNvPr id="30" name="TextBox 29">
            <a:extLst>
              <a:ext uri="{FF2B5EF4-FFF2-40B4-BE49-F238E27FC236}">
                <a16:creationId xmlns:a16="http://schemas.microsoft.com/office/drawing/2014/main" id="{8B640DF0-F55A-4468-9ED6-04F59BB6D871}"/>
              </a:ext>
            </a:extLst>
          </p:cNvPr>
          <p:cNvSpPr>
            <a:spLocks noGrp="1"/>
          </p:cNvSpPr>
          <p:nvPr/>
        </p:nvSpPr>
        <p:spPr>
          <a:xfrm>
            <a:off x="6429375" y="4741515"/>
            <a:ext cx="5762625"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Finance verifies incremental value against untreated customers.</a:t>
            </a:r>
          </a:p>
        </p:txBody>
      </p:sp>
      <p:sp>
        <p:nvSpPr>
          <p:cNvPr id="31" name="TextBox 30">
            <a:extLst>
              <a:ext uri="{FF2B5EF4-FFF2-40B4-BE49-F238E27FC236}">
                <a16:creationId xmlns:a16="http://schemas.microsoft.com/office/drawing/2014/main" id="{71CBD395-BAC8-4BE8-AC30-9A7CE94B609E}"/>
              </a:ext>
            </a:extLst>
          </p:cNvPr>
          <p:cNvSpPr>
            <a:spLocks noGrp="1"/>
          </p:cNvSpPr>
          <p:nvPr/>
        </p:nvSpPr>
        <p:spPr>
          <a:xfrm>
            <a:off x="857250" y="2245965"/>
            <a:ext cx="179070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DC2626"/>
                </a:solidFill>
                <a:latin typeface="Arial"/>
                <a:ea typeface="Arial"/>
                <a:cs typeface="Arial"/>
              </a:rPr>
              <a:t>PRIORITY 1: PROTECT NOW</a:t>
            </a:r>
          </a:p>
        </p:txBody>
      </p:sp>
      <p:sp>
        <p:nvSpPr>
          <p:cNvPr id="32" name="TextBox 31">
            <a:extLst>
              <a:ext uri="{FF2B5EF4-FFF2-40B4-BE49-F238E27FC236}">
                <a16:creationId xmlns:a16="http://schemas.microsoft.com/office/drawing/2014/main" id="{46B1E92D-5FD1-4E05-BCF9-1A4B18D51C87}"/>
              </a:ext>
            </a:extLst>
          </p:cNvPr>
          <p:cNvSpPr>
            <a:spLocks noGrp="1"/>
          </p:cNvSpPr>
          <p:nvPr/>
        </p:nvSpPr>
        <p:spPr>
          <a:xfrm>
            <a:off x="4286250" y="2241202"/>
            <a:ext cx="1833562"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0F172A"/>
                </a:solidFill>
                <a:latin typeface="Arial"/>
                <a:ea typeface="Arial"/>
                <a:cs typeface="Arial"/>
              </a:rPr>
              <a:t>1,408 Customers</a:t>
            </a:r>
          </a:p>
        </p:txBody>
      </p:sp>
      <p:sp>
        <p:nvSpPr>
          <p:cNvPr id="33" name="TextBox 32">
            <a:extLst>
              <a:ext uri="{FF2B5EF4-FFF2-40B4-BE49-F238E27FC236}">
                <a16:creationId xmlns:a16="http://schemas.microsoft.com/office/drawing/2014/main" id="{DAD2A0A8-9535-4223-B1F8-8C240A34234D}"/>
              </a:ext>
            </a:extLst>
          </p:cNvPr>
          <p:cNvSpPr>
            <a:spLocks noGrp="1"/>
          </p:cNvSpPr>
          <p:nvPr/>
        </p:nvSpPr>
        <p:spPr>
          <a:xfrm>
            <a:off x="6505575" y="2100233"/>
            <a:ext cx="1876425" cy="29718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15803D"/>
                </a:solidFill>
                <a:latin typeface="Arial"/>
                <a:ea typeface="Arial"/>
                <a:cs typeface="Arial"/>
              </a:rPr>
              <a:t>PRIORITY 2: VALUE CONCENTRATION</a:t>
            </a:r>
          </a:p>
        </p:txBody>
      </p:sp>
      <p:sp>
        <p:nvSpPr>
          <p:cNvPr id="34" name="TextBox 33">
            <a:extLst>
              <a:ext uri="{FF2B5EF4-FFF2-40B4-BE49-F238E27FC236}">
                <a16:creationId xmlns:a16="http://schemas.microsoft.com/office/drawing/2014/main" id="{9B69C00F-DBFE-4DCB-BE27-EE999055885E}"/>
              </a:ext>
            </a:extLst>
          </p:cNvPr>
          <p:cNvSpPr>
            <a:spLocks noGrp="1"/>
          </p:cNvSpPr>
          <p:nvPr/>
        </p:nvSpPr>
        <p:spPr>
          <a:xfrm>
            <a:off x="9839325" y="2231677"/>
            <a:ext cx="1976437"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0F172A"/>
                </a:solidFill>
                <a:latin typeface="Arial"/>
                <a:ea typeface="Arial"/>
                <a:cs typeface="Arial"/>
              </a:rPr>
              <a:t>Top Quartile Holds 55%</a:t>
            </a:r>
          </a:p>
        </p:txBody>
      </p:sp>
      <p:sp>
        <p:nvSpPr>
          <p:cNvPr id="35" name="TextBox 34">
            <a:extLst>
              <a:ext uri="{FF2B5EF4-FFF2-40B4-BE49-F238E27FC236}">
                <a16:creationId xmlns:a16="http://schemas.microsoft.com/office/drawing/2014/main" id="{A54E5780-425A-4B5C-9156-DBD2DC0DC85E}"/>
              </a:ext>
            </a:extLst>
          </p:cNvPr>
          <p:cNvSpPr>
            <a:spLocks noGrp="1"/>
          </p:cNvSpPr>
          <p:nvPr/>
        </p:nvSpPr>
        <p:spPr>
          <a:xfrm>
            <a:off x="847725" y="4198590"/>
            <a:ext cx="148590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475569"/>
                </a:solidFill>
                <a:latin typeface="Arial"/>
                <a:ea typeface="Arial"/>
                <a:cs typeface="Arial"/>
              </a:rPr>
              <a:t>PRIORITY 3: TIER GAP</a:t>
            </a:r>
          </a:p>
        </p:txBody>
      </p:sp>
      <p:sp>
        <p:nvSpPr>
          <p:cNvPr id="36" name="TextBox 35">
            <a:extLst>
              <a:ext uri="{FF2B5EF4-FFF2-40B4-BE49-F238E27FC236}">
                <a16:creationId xmlns:a16="http://schemas.microsoft.com/office/drawing/2014/main" id="{36771FD2-FD0F-4FCF-B8AD-20A995827F16}"/>
              </a:ext>
            </a:extLst>
          </p:cNvPr>
          <p:cNvSpPr>
            <a:spLocks noGrp="1"/>
          </p:cNvSpPr>
          <p:nvPr/>
        </p:nvSpPr>
        <p:spPr>
          <a:xfrm>
            <a:off x="4152900" y="4193827"/>
            <a:ext cx="2012156"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0F172A"/>
                </a:solidFill>
                <a:latin typeface="Arial"/>
                <a:ea typeface="Arial"/>
                <a:cs typeface="Arial"/>
              </a:rPr>
              <a:t>$5,037 to $5,203</a:t>
            </a:r>
          </a:p>
        </p:txBody>
      </p:sp>
      <p:sp>
        <p:nvSpPr>
          <p:cNvPr id="37" name="TextBox 36">
            <a:extLst>
              <a:ext uri="{FF2B5EF4-FFF2-40B4-BE49-F238E27FC236}">
                <a16:creationId xmlns:a16="http://schemas.microsoft.com/office/drawing/2014/main" id="{BE885523-B1D9-4901-B8AD-E0B273912544}"/>
              </a:ext>
            </a:extLst>
          </p:cNvPr>
          <p:cNvSpPr>
            <a:spLocks noGrp="1"/>
          </p:cNvSpPr>
          <p:nvPr/>
        </p:nvSpPr>
        <p:spPr>
          <a:xfrm>
            <a:off x="6505575" y="4198590"/>
            <a:ext cx="1943100"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475569"/>
                </a:solidFill>
                <a:latin typeface="Arial"/>
                <a:ea typeface="Arial"/>
                <a:cs typeface="Arial"/>
              </a:rPr>
              <a:t>PRIORITY 4: TEST DESIGN</a:t>
            </a:r>
          </a:p>
        </p:txBody>
      </p:sp>
      <p:sp>
        <p:nvSpPr>
          <p:cNvPr id="38" name="TextBox 37">
            <a:extLst>
              <a:ext uri="{FF2B5EF4-FFF2-40B4-BE49-F238E27FC236}">
                <a16:creationId xmlns:a16="http://schemas.microsoft.com/office/drawing/2014/main" id="{FEE27A97-D24B-49B3-9035-327BEC8BC904}"/>
              </a:ext>
            </a:extLst>
          </p:cNvPr>
          <p:cNvSpPr>
            <a:spLocks noGrp="1"/>
          </p:cNvSpPr>
          <p:nvPr/>
        </p:nvSpPr>
        <p:spPr>
          <a:xfrm>
            <a:off x="9867900" y="4193827"/>
            <a:ext cx="1940718"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0F172A"/>
                </a:solidFill>
                <a:latin typeface="Arial"/>
                <a:ea typeface="Arial"/>
                <a:cs typeface="Arial"/>
              </a:rPr>
              <a:t>15% Untreated Holdout</a:t>
            </a:r>
          </a:p>
        </p:txBody>
      </p:sp>
    </p:spTree>
    <p:extLst>
      <p:ext uri="{BB962C8B-B14F-4D97-AF65-F5344CB8AC3E}">
        <p14:creationId xmlns:p14="http://schemas.microsoft.com/office/powerpoint/2010/main" val="1312425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8269939-A0BE-4E12-B35B-74AACF3F25AC}"/>
              </a:ext>
            </a:extLst>
          </p:cNvPr>
          <p:cNvSpPr>
            <a:spLocks noGrp="1"/>
          </p:cNvSpPr>
          <p:nvPr/>
        </p:nvSpPr>
        <p:spPr>
          <a:xfrm>
            <a:off x="533400" y="4393852"/>
            <a:ext cx="11125200" cy="771525"/>
          </a:xfrm>
          <a:prstGeom prst="roundRect">
            <a:avLst>
              <a:gd name="adj" fmla="val 12345"/>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B658E980-5A2F-4C06-A2C9-9931D65C05E2}"/>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D72F6340-4B8B-4BD7-97C2-21F381E6F886}"/>
              </a:ext>
            </a:extLst>
          </p:cNvPr>
          <p:cNvSpPr>
            <a:spLocks noGrp="1"/>
          </p:cNvSpPr>
          <p:nvPr/>
        </p:nvSpPr>
        <p:spPr>
          <a:xfrm>
            <a:off x="533400" y="2469802"/>
            <a:ext cx="3381375" cy="1695450"/>
          </a:xfrm>
          <a:prstGeom prst="roundRect">
            <a:avLst>
              <a:gd name="adj" fmla="val 5617"/>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5593F5F4-D09A-469E-8D70-002B658ED92B}"/>
              </a:ext>
            </a:extLst>
          </p:cNvPr>
          <p:cNvSpPr>
            <a:spLocks noGrp="1"/>
          </p:cNvSpPr>
          <p:nvPr/>
        </p:nvSpPr>
        <p:spPr>
          <a:xfrm>
            <a:off x="4105275" y="2469802"/>
            <a:ext cx="3981450" cy="1695450"/>
          </a:xfrm>
          <a:prstGeom prst="roundRect">
            <a:avLst>
              <a:gd name="adj" fmla="val 5617"/>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34A36AB3-3420-43F7-BE35-C9422827B799}"/>
              </a:ext>
            </a:extLst>
          </p:cNvPr>
          <p:cNvSpPr>
            <a:spLocks noGrp="1"/>
          </p:cNvSpPr>
          <p:nvPr/>
        </p:nvSpPr>
        <p:spPr>
          <a:xfrm>
            <a:off x="8277225" y="2469802"/>
            <a:ext cx="3381375" cy="1695450"/>
          </a:xfrm>
          <a:prstGeom prst="roundRect">
            <a:avLst>
              <a:gd name="adj" fmla="val 5617"/>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F16DE92F-9A72-4B42-9002-0331357AE167}"/>
              </a:ext>
            </a:extLst>
          </p:cNvPr>
          <p:cNvSpPr>
            <a:spLocks noGrp="1"/>
          </p:cNvSpPr>
          <p:nvPr/>
        </p:nvSpPr>
        <p:spPr>
          <a:xfrm>
            <a:off x="9696450" y="4627215"/>
            <a:ext cx="1762125" cy="304800"/>
          </a:xfrm>
          <a:prstGeom prst="roundRect">
            <a:avLst>
              <a:gd name="adj" fmla="val 1875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CF9DD1D4-030C-41AF-A274-0529D4A76263}"/>
              </a:ext>
            </a:extLst>
          </p:cNvPr>
          <p:cNvSpPr>
            <a:spLocks noGrp="1"/>
          </p:cNvSpPr>
          <p:nvPr/>
        </p:nvSpPr>
        <p:spPr>
          <a:xfrm>
            <a:off x="6943725" y="2717452"/>
            <a:ext cx="895350" cy="171450"/>
          </a:xfrm>
          <a:prstGeom prst="roundRect">
            <a:avLst>
              <a:gd name="adj" fmla="val 22222"/>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712168B-46EC-489A-9B61-4E00302CC7C9}"/>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10" name="TextBox 9">
            <a:extLst>
              <a:ext uri="{FF2B5EF4-FFF2-40B4-BE49-F238E27FC236}">
                <a16:creationId xmlns:a16="http://schemas.microsoft.com/office/drawing/2014/main" id="{02BF3826-4126-4F7F-8A8E-FD0C25431936}"/>
              </a:ext>
            </a:extLst>
          </p:cNvPr>
          <p:cNvSpPr>
            <a:spLocks noGrp="1"/>
          </p:cNvSpPr>
          <p:nvPr/>
        </p:nvSpPr>
        <p:spPr>
          <a:xfrm>
            <a:off x="533400" y="381000"/>
            <a:ext cx="8774906"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PROFIT AND MARGIN SCENARIOS</a:t>
            </a:r>
          </a:p>
        </p:txBody>
      </p:sp>
      <p:sp>
        <p:nvSpPr>
          <p:cNvPr id="11" name="TextBox 10">
            <a:extLst>
              <a:ext uri="{FF2B5EF4-FFF2-40B4-BE49-F238E27FC236}">
                <a16:creationId xmlns:a16="http://schemas.microsoft.com/office/drawing/2014/main" id="{21031DBB-8D00-487C-A617-39D52A6C5541}"/>
              </a:ext>
            </a:extLst>
          </p:cNvPr>
          <p:cNvSpPr>
            <a:spLocks noGrp="1"/>
          </p:cNvSpPr>
          <p:nvPr/>
        </p:nvSpPr>
        <p:spPr>
          <a:xfrm>
            <a:off x="533400" y="609600"/>
            <a:ext cx="9213651"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Base Case: +$12.0M Net Annual Profit</a:t>
            </a:r>
          </a:p>
        </p:txBody>
      </p:sp>
      <p:sp>
        <p:nvSpPr>
          <p:cNvPr id="12" name="TextBox 11">
            <a:extLst>
              <a:ext uri="{FF2B5EF4-FFF2-40B4-BE49-F238E27FC236}">
                <a16:creationId xmlns:a16="http://schemas.microsoft.com/office/drawing/2014/main" id="{B2E255ED-1711-4E1C-8BBA-D05DE71C1348}"/>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13" name="TextBox 12">
            <a:extLst>
              <a:ext uri="{FF2B5EF4-FFF2-40B4-BE49-F238E27FC236}">
                <a16:creationId xmlns:a16="http://schemas.microsoft.com/office/drawing/2014/main" id="{3A073B27-2E95-4830-B7BE-B0042E345A85}"/>
              </a:ext>
            </a:extLst>
          </p:cNvPr>
          <p:cNvSpPr>
            <a:spLocks noGrp="1"/>
          </p:cNvSpPr>
          <p:nvPr/>
        </p:nvSpPr>
        <p:spPr>
          <a:xfrm>
            <a:off x="9829800" y="4703415"/>
            <a:ext cx="1590675" cy="152400"/>
          </a:xfrm>
          <a:prstGeom prst="rect">
            <a:avLst/>
          </a:prstGeom>
          <a:noFill/>
        </p:spPr>
        <p:txBody>
          <a:bodyPr wrap="square" lIns="0" tIns="0" rIns="0" bIns="0" anchor="t">
            <a:spAutoFit/>
          </a:bodyPr>
          <a:lstStyle/>
          <a:p>
            <a:pPr algn="l">
              <a:buNone/>
              <a:defRPr>
                <a:latin typeface="Arial"/>
                <a:ea typeface="Arial"/>
                <a:cs typeface="Arial"/>
              </a:defRPr>
            </a:pPr>
            <a:r>
              <a:rPr sz="975" b="1" i="0" u="none">
                <a:solidFill>
                  <a:srgbClr val="0F172A"/>
                </a:solidFill>
                <a:latin typeface="Arial"/>
                <a:ea typeface="Arial"/>
                <a:cs typeface="Arial"/>
              </a:rPr>
              <a:t>Governance Gate Ready</a:t>
            </a:r>
          </a:p>
        </p:txBody>
      </p:sp>
      <p:sp>
        <p:nvSpPr>
          <p:cNvPr id="14" name="TextBox 13">
            <a:extLst>
              <a:ext uri="{FF2B5EF4-FFF2-40B4-BE49-F238E27FC236}">
                <a16:creationId xmlns:a16="http://schemas.microsoft.com/office/drawing/2014/main" id="{C5A69F71-BA1C-4D5F-9948-987C0DA82177}"/>
              </a:ext>
            </a:extLst>
          </p:cNvPr>
          <p:cNvSpPr>
            <a:spLocks noGrp="1"/>
          </p:cNvSpPr>
          <p:nvPr/>
        </p:nvSpPr>
        <p:spPr>
          <a:xfrm>
            <a:off x="771525" y="2707927"/>
            <a:ext cx="3631406"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64748B"/>
                </a:solidFill>
                <a:latin typeface="Arial"/>
                <a:ea typeface="Arial"/>
                <a:cs typeface="Arial"/>
              </a:rPr>
              <a:t>DOWNSIDE CASE</a:t>
            </a:r>
          </a:p>
        </p:txBody>
      </p:sp>
      <p:sp>
        <p:nvSpPr>
          <p:cNvPr id="15" name="TextBox 14">
            <a:extLst>
              <a:ext uri="{FF2B5EF4-FFF2-40B4-BE49-F238E27FC236}">
                <a16:creationId xmlns:a16="http://schemas.microsoft.com/office/drawing/2014/main" id="{F4B88715-56ED-4C56-B0CD-FF5F8BE4948A}"/>
              </a:ext>
            </a:extLst>
          </p:cNvPr>
          <p:cNvSpPr>
            <a:spLocks noGrp="1"/>
          </p:cNvSpPr>
          <p:nvPr/>
        </p:nvSpPr>
        <p:spPr>
          <a:xfrm>
            <a:off x="771525" y="2917477"/>
            <a:ext cx="3631406" cy="428625"/>
          </a:xfrm>
          <a:prstGeom prst="rect">
            <a:avLst/>
          </a:prstGeom>
          <a:noFill/>
        </p:spPr>
        <p:txBody>
          <a:bodyPr wrap="none" lIns="0" tIns="0" rIns="0" bIns="0" anchor="t">
            <a:spAutoFit/>
          </a:bodyPr>
          <a:lstStyle/>
          <a:p>
            <a:pPr algn="l">
              <a:buNone/>
              <a:defRPr>
                <a:latin typeface="Arial"/>
                <a:ea typeface="Arial"/>
                <a:cs typeface="Arial"/>
              </a:defRPr>
            </a:pPr>
            <a:r>
              <a:rPr sz="2700" b="1" i="0" u="none">
                <a:solidFill>
                  <a:srgbClr val="0F172A"/>
                </a:solidFill>
                <a:latin typeface="Arial"/>
                <a:ea typeface="Arial"/>
                <a:cs typeface="Arial"/>
              </a:rPr>
              <a:t>+$5.5M</a:t>
            </a:r>
          </a:p>
        </p:txBody>
      </p:sp>
      <p:sp>
        <p:nvSpPr>
          <p:cNvPr id="16" name="TextBox 15">
            <a:extLst>
              <a:ext uri="{FF2B5EF4-FFF2-40B4-BE49-F238E27FC236}">
                <a16:creationId xmlns:a16="http://schemas.microsoft.com/office/drawing/2014/main" id="{33BBDE1B-5951-4072-9CAF-B3BA6543808D}"/>
              </a:ext>
            </a:extLst>
          </p:cNvPr>
          <p:cNvSpPr>
            <a:spLocks noGrp="1"/>
          </p:cNvSpPr>
          <p:nvPr/>
        </p:nvSpPr>
        <p:spPr>
          <a:xfrm>
            <a:off x="771525" y="3403252"/>
            <a:ext cx="3631406"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Net Uplift | 11.3% Margin</a:t>
            </a:r>
          </a:p>
        </p:txBody>
      </p:sp>
      <p:sp>
        <p:nvSpPr>
          <p:cNvPr id="17" name="TextBox 16">
            <a:extLst>
              <a:ext uri="{FF2B5EF4-FFF2-40B4-BE49-F238E27FC236}">
                <a16:creationId xmlns:a16="http://schemas.microsoft.com/office/drawing/2014/main" id="{BB78AFBD-F586-4FE0-9EF3-10FDFD1D55B7}"/>
              </a:ext>
            </a:extLst>
          </p:cNvPr>
          <p:cNvSpPr>
            <a:spLocks noGrp="1"/>
          </p:cNvSpPr>
          <p:nvPr/>
        </p:nvSpPr>
        <p:spPr>
          <a:xfrm>
            <a:off x="771525" y="3641377"/>
            <a:ext cx="3631406" cy="152400"/>
          </a:xfrm>
          <a:prstGeom prst="rect">
            <a:avLst/>
          </a:prstGeom>
          <a:noFill/>
        </p:spPr>
        <p:txBody>
          <a:bodyPr wrap="none" lIns="0" tIns="0" rIns="0" bIns="0" anchor="t">
            <a:spAutoFit/>
          </a:bodyPr>
          <a:lstStyle/>
          <a:p>
            <a:pPr algn="l">
              <a:buNone/>
              <a:defRPr>
                <a:latin typeface="Arial"/>
                <a:ea typeface="Arial"/>
                <a:cs typeface="Arial"/>
              </a:defRPr>
            </a:pPr>
            <a:r>
              <a:rPr sz="975" b="0" i="0" u="none">
                <a:solidFill>
                  <a:srgbClr val="64748B"/>
                </a:solidFill>
                <a:latin typeface="Arial"/>
                <a:ea typeface="Arial"/>
                <a:cs typeface="Arial"/>
              </a:rPr>
              <a:t>Projected Profit $43.9M | 11.3% Margin</a:t>
            </a:r>
          </a:p>
        </p:txBody>
      </p:sp>
      <p:sp>
        <p:nvSpPr>
          <p:cNvPr id="18" name="TextBox 17">
            <a:extLst>
              <a:ext uri="{FF2B5EF4-FFF2-40B4-BE49-F238E27FC236}">
                <a16:creationId xmlns:a16="http://schemas.microsoft.com/office/drawing/2014/main" id="{A5D247EA-A2A6-4879-A457-F1F2D79E997C}"/>
              </a:ext>
            </a:extLst>
          </p:cNvPr>
          <p:cNvSpPr>
            <a:spLocks noGrp="1"/>
          </p:cNvSpPr>
          <p:nvPr/>
        </p:nvSpPr>
        <p:spPr>
          <a:xfrm>
            <a:off x="4352925" y="2946052"/>
            <a:ext cx="4357687" cy="504825"/>
          </a:xfrm>
          <a:prstGeom prst="rect">
            <a:avLst/>
          </a:prstGeom>
          <a:noFill/>
        </p:spPr>
        <p:txBody>
          <a:bodyPr wrap="none" lIns="0" tIns="0" rIns="0" bIns="0" anchor="t">
            <a:spAutoFit/>
          </a:bodyPr>
          <a:lstStyle/>
          <a:p>
            <a:pPr algn="l">
              <a:buNone/>
              <a:defRPr>
                <a:latin typeface="Arial"/>
                <a:ea typeface="Arial"/>
                <a:cs typeface="Arial"/>
              </a:defRPr>
            </a:pPr>
            <a:r>
              <a:rPr sz="3150" b="1" i="0" u="none">
                <a:solidFill>
                  <a:srgbClr val="16A34A"/>
                </a:solidFill>
                <a:latin typeface="Arial"/>
                <a:ea typeface="Arial"/>
                <a:cs typeface="Arial"/>
              </a:rPr>
              <a:t>+$12.0M</a:t>
            </a:r>
          </a:p>
        </p:txBody>
      </p:sp>
      <p:sp>
        <p:nvSpPr>
          <p:cNvPr id="19" name="TextBox 18">
            <a:extLst>
              <a:ext uri="{FF2B5EF4-FFF2-40B4-BE49-F238E27FC236}">
                <a16:creationId xmlns:a16="http://schemas.microsoft.com/office/drawing/2014/main" id="{39A1EFE1-939E-4837-A9E0-32FBA83724F6}"/>
              </a:ext>
            </a:extLst>
          </p:cNvPr>
          <p:cNvSpPr>
            <a:spLocks noGrp="1"/>
          </p:cNvSpPr>
          <p:nvPr/>
        </p:nvSpPr>
        <p:spPr>
          <a:xfrm>
            <a:off x="4352925" y="3508027"/>
            <a:ext cx="4357687"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0F172A"/>
                </a:solidFill>
                <a:latin typeface="Arial"/>
                <a:ea typeface="Arial"/>
                <a:cs typeface="Arial"/>
              </a:rPr>
              <a:t>Net Uplift | 13.0% Margin</a:t>
            </a:r>
          </a:p>
        </p:txBody>
      </p:sp>
      <p:sp>
        <p:nvSpPr>
          <p:cNvPr id="20" name="TextBox 19">
            <a:extLst>
              <a:ext uri="{FF2B5EF4-FFF2-40B4-BE49-F238E27FC236}">
                <a16:creationId xmlns:a16="http://schemas.microsoft.com/office/drawing/2014/main" id="{DB44906E-958C-4411-A207-584DB1F01E1B}"/>
              </a:ext>
            </a:extLst>
          </p:cNvPr>
          <p:cNvSpPr>
            <a:spLocks noGrp="1"/>
          </p:cNvSpPr>
          <p:nvPr/>
        </p:nvSpPr>
        <p:spPr>
          <a:xfrm>
            <a:off x="4352925" y="3765202"/>
            <a:ext cx="4357687" cy="152400"/>
          </a:xfrm>
          <a:prstGeom prst="rect">
            <a:avLst/>
          </a:prstGeom>
          <a:noFill/>
        </p:spPr>
        <p:txBody>
          <a:bodyPr wrap="none" lIns="0" tIns="0" rIns="0" bIns="0" anchor="t">
            <a:spAutoFit/>
          </a:bodyPr>
          <a:lstStyle/>
          <a:p>
            <a:pPr algn="l">
              <a:buNone/>
              <a:defRPr>
                <a:latin typeface="Arial"/>
                <a:ea typeface="Arial"/>
                <a:cs typeface="Arial"/>
              </a:defRPr>
            </a:pPr>
            <a:r>
              <a:rPr sz="975" b="0" i="0" u="none">
                <a:solidFill>
                  <a:srgbClr val="475569"/>
                </a:solidFill>
                <a:latin typeface="Arial"/>
                <a:ea typeface="Arial"/>
                <a:cs typeface="Arial"/>
              </a:rPr>
              <a:t>Projected Profit $50.4M | 13.0% Margin</a:t>
            </a:r>
          </a:p>
        </p:txBody>
      </p:sp>
      <p:sp>
        <p:nvSpPr>
          <p:cNvPr id="21" name="TextBox 20">
            <a:extLst>
              <a:ext uri="{FF2B5EF4-FFF2-40B4-BE49-F238E27FC236}">
                <a16:creationId xmlns:a16="http://schemas.microsoft.com/office/drawing/2014/main" id="{E8D00077-B77B-4320-9C95-F1500A717225}"/>
              </a:ext>
            </a:extLst>
          </p:cNvPr>
          <p:cNvSpPr>
            <a:spLocks noGrp="1"/>
          </p:cNvSpPr>
          <p:nvPr/>
        </p:nvSpPr>
        <p:spPr>
          <a:xfrm>
            <a:off x="8515350" y="2707927"/>
            <a:ext cx="3631406"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64748B"/>
                </a:solidFill>
                <a:latin typeface="Arial"/>
                <a:ea typeface="Arial"/>
                <a:cs typeface="Arial"/>
              </a:rPr>
              <a:t>UPSIDE CASE</a:t>
            </a:r>
          </a:p>
        </p:txBody>
      </p:sp>
      <p:sp>
        <p:nvSpPr>
          <p:cNvPr id="22" name="TextBox 21">
            <a:extLst>
              <a:ext uri="{FF2B5EF4-FFF2-40B4-BE49-F238E27FC236}">
                <a16:creationId xmlns:a16="http://schemas.microsoft.com/office/drawing/2014/main" id="{F95B2F47-12F3-4DD2-90FE-B4DA9CDCF606}"/>
              </a:ext>
            </a:extLst>
          </p:cNvPr>
          <p:cNvSpPr>
            <a:spLocks noGrp="1"/>
          </p:cNvSpPr>
          <p:nvPr/>
        </p:nvSpPr>
        <p:spPr>
          <a:xfrm>
            <a:off x="8515350" y="2917477"/>
            <a:ext cx="3631406" cy="428625"/>
          </a:xfrm>
          <a:prstGeom prst="rect">
            <a:avLst/>
          </a:prstGeom>
          <a:noFill/>
        </p:spPr>
        <p:txBody>
          <a:bodyPr wrap="none" lIns="0" tIns="0" rIns="0" bIns="0" anchor="t">
            <a:spAutoFit/>
          </a:bodyPr>
          <a:lstStyle/>
          <a:p>
            <a:pPr algn="l">
              <a:buNone/>
              <a:defRPr>
                <a:latin typeface="Arial"/>
                <a:ea typeface="Arial"/>
                <a:cs typeface="Arial"/>
              </a:defRPr>
            </a:pPr>
            <a:r>
              <a:rPr sz="2700" b="1" i="0" u="none">
                <a:solidFill>
                  <a:srgbClr val="0F172A"/>
                </a:solidFill>
                <a:latin typeface="Arial"/>
                <a:ea typeface="Arial"/>
                <a:cs typeface="Arial"/>
              </a:rPr>
              <a:t>+$17.0M</a:t>
            </a:r>
          </a:p>
        </p:txBody>
      </p:sp>
      <p:sp>
        <p:nvSpPr>
          <p:cNvPr id="23" name="TextBox 22">
            <a:extLst>
              <a:ext uri="{FF2B5EF4-FFF2-40B4-BE49-F238E27FC236}">
                <a16:creationId xmlns:a16="http://schemas.microsoft.com/office/drawing/2014/main" id="{0CE3326E-0B01-462E-ACF2-5783DBFCD2EB}"/>
              </a:ext>
            </a:extLst>
          </p:cNvPr>
          <p:cNvSpPr>
            <a:spLocks noGrp="1"/>
          </p:cNvSpPr>
          <p:nvPr/>
        </p:nvSpPr>
        <p:spPr>
          <a:xfrm>
            <a:off x="8515350" y="3403252"/>
            <a:ext cx="3631406"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Net Uplift | 14.3% Margin</a:t>
            </a:r>
          </a:p>
        </p:txBody>
      </p:sp>
      <p:sp>
        <p:nvSpPr>
          <p:cNvPr id="24" name="TextBox 23">
            <a:extLst>
              <a:ext uri="{FF2B5EF4-FFF2-40B4-BE49-F238E27FC236}">
                <a16:creationId xmlns:a16="http://schemas.microsoft.com/office/drawing/2014/main" id="{491DB641-E998-4029-B0FA-8FE654A6E03A}"/>
              </a:ext>
            </a:extLst>
          </p:cNvPr>
          <p:cNvSpPr>
            <a:spLocks noGrp="1"/>
          </p:cNvSpPr>
          <p:nvPr/>
        </p:nvSpPr>
        <p:spPr>
          <a:xfrm>
            <a:off x="8515350" y="3641377"/>
            <a:ext cx="3631406" cy="152400"/>
          </a:xfrm>
          <a:prstGeom prst="rect">
            <a:avLst/>
          </a:prstGeom>
          <a:noFill/>
        </p:spPr>
        <p:txBody>
          <a:bodyPr wrap="none" lIns="0" tIns="0" rIns="0" bIns="0" anchor="t">
            <a:spAutoFit/>
          </a:bodyPr>
          <a:lstStyle/>
          <a:p>
            <a:pPr algn="l">
              <a:buNone/>
              <a:defRPr>
                <a:latin typeface="Arial"/>
                <a:ea typeface="Arial"/>
                <a:cs typeface="Arial"/>
              </a:defRPr>
            </a:pPr>
            <a:r>
              <a:rPr sz="975" b="0" i="0" u="none">
                <a:solidFill>
                  <a:srgbClr val="64748B"/>
                </a:solidFill>
                <a:latin typeface="Arial"/>
                <a:ea typeface="Arial"/>
                <a:cs typeface="Arial"/>
              </a:rPr>
              <a:t>Projected Profit $55.4M | 14.3% Margin</a:t>
            </a:r>
          </a:p>
        </p:txBody>
      </p:sp>
      <p:sp>
        <p:nvSpPr>
          <p:cNvPr id="25" name="TextBox 24">
            <a:extLst>
              <a:ext uri="{FF2B5EF4-FFF2-40B4-BE49-F238E27FC236}">
                <a16:creationId xmlns:a16="http://schemas.microsoft.com/office/drawing/2014/main" id="{C2D771D6-1129-48CF-AACF-DD82836D5D3B}"/>
              </a:ext>
            </a:extLst>
          </p:cNvPr>
          <p:cNvSpPr>
            <a:spLocks noGrp="1"/>
          </p:cNvSpPr>
          <p:nvPr/>
        </p:nvSpPr>
        <p:spPr>
          <a:xfrm>
            <a:off x="733425" y="4593877"/>
            <a:ext cx="8376046" cy="190500"/>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0F172A"/>
                </a:solidFill>
                <a:latin typeface="Arial"/>
                <a:ea typeface="Arial"/>
                <a:cs typeface="Arial"/>
              </a:rPr>
              <a:t>Finance verification rule</a:t>
            </a:r>
          </a:p>
        </p:txBody>
      </p:sp>
      <p:sp>
        <p:nvSpPr>
          <p:cNvPr id="26" name="TextBox 25">
            <a:extLst>
              <a:ext uri="{FF2B5EF4-FFF2-40B4-BE49-F238E27FC236}">
                <a16:creationId xmlns:a16="http://schemas.microsoft.com/office/drawing/2014/main" id="{47EB8DC8-5E7A-4854-932D-EB7972F4B55A}"/>
              </a:ext>
            </a:extLst>
          </p:cNvPr>
          <p:cNvSpPr>
            <a:spLocks noGrp="1"/>
          </p:cNvSpPr>
          <p:nvPr/>
        </p:nvSpPr>
        <p:spPr>
          <a:xfrm>
            <a:off x="733425" y="4803427"/>
            <a:ext cx="7977187" cy="161925"/>
          </a:xfrm>
          <a:prstGeom prst="rect">
            <a:avLst/>
          </a:prstGeom>
          <a:noFill/>
        </p:spPr>
        <p:txBody>
          <a:bodyPr wrap="none" lIns="0" tIns="0" rIns="0" bIns="0" anchor="t">
            <a:spAutoFit/>
          </a:bodyPr>
          <a:lstStyle/>
          <a:p>
            <a:pPr algn="l">
              <a:buNone/>
              <a:defRPr>
                <a:latin typeface="Arial"/>
                <a:ea typeface="Arial"/>
                <a:cs typeface="Arial"/>
              </a:defRPr>
            </a:pPr>
            <a:r>
              <a:rPr sz="1050" b="0" i="0" u="none">
                <a:solidFill>
                  <a:srgbClr val="475569"/>
                </a:solidFill>
                <a:latin typeface="Arial"/>
                <a:ea typeface="Arial"/>
                <a:cs typeface="Arial"/>
              </a:rPr>
              <a:t>Book value after a reconciled baseline, a valid comparison, and two positive reads.</a:t>
            </a:r>
          </a:p>
        </p:txBody>
      </p:sp>
      <p:sp>
        <p:nvSpPr>
          <p:cNvPr id="27" name="TextBox 26">
            <a:extLst>
              <a:ext uri="{FF2B5EF4-FFF2-40B4-BE49-F238E27FC236}">
                <a16:creationId xmlns:a16="http://schemas.microsoft.com/office/drawing/2014/main" id="{E8D828F1-5AD7-441F-9AFB-0A7ACEEBD755}"/>
              </a:ext>
            </a:extLst>
          </p:cNvPr>
          <p:cNvSpPr>
            <a:spLocks noGrp="1"/>
          </p:cNvSpPr>
          <p:nvPr/>
        </p:nvSpPr>
        <p:spPr>
          <a:xfrm>
            <a:off x="4352925" y="2726977"/>
            <a:ext cx="1583531" cy="152400"/>
          </a:xfrm>
          <a:prstGeom prst="rect">
            <a:avLst/>
          </a:prstGeom>
          <a:noFill/>
        </p:spPr>
        <p:txBody>
          <a:bodyPr wrap="none" lIns="0" tIns="0" rIns="0" bIns="0" anchor="t">
            <a:spAutoFit/>
          </a:bodyPr>
          <a:lstStyle/>
          <a:p>
            <a:pPr algn="l">
              <a:buNone/>
              <a:defRPr>
                <a:latin typeface="Arial"/>
                <a:ea typeface="Arial"/>
                <a:cs typeface="Arial"/>
              </a:defRPr>
            </a:pPr>
            <a:r>
              <a:rPr sz="975" b="1" i="0" u="none">
                <a:solidFill>
                  <a:srgbClr val="EA580C"/>
                </a:solidFill>
                <a:latin typeface="Arial"/>
                <a:ea typeface="Arial"/>
                <a:cs typeface="Arial"/>
              </a:rPr>
              <a:t>BASE CASE TARGET</a:t>
            </a:r>
          </a:p>
        </p:txBody>
      </p:sp>
      <p:sp>
        <p:nvSpPr>
          <p:cNvPr id="28" name="TextBox 27">
            <a:extLst>
              <a:ext uri="{FF2B5EF4-FFF2-40B4-BE49-F238E27FC236}">
                <a16:creationId xmlns:a16="http://schemas.microsoft.com/office/drawing/2014/main" id="{B993EE9C-4A2A-4244-8956-EEE8ED424FB1}"/>
              </a:ext>
            </a:extLst>
          </p:cNvPr>
          <p:cNvSpPr>
            <a:spLocks noGrp="1"/>
          </p:cNvSpPr>
          <p:nvPr/>
        </p:nvSpPr>
        <p:spPr>
          <a:xfrm>
            <a:off x="7000875" y="2736502"/>
            <a:ext cx="876300" cy="133350"/>
          </a:xfrm>
          <a:prstGeom prst="rect">
            <a:avLst/>
          </a:prstGeom>
          <a:noFill/>
        </p:spPr>
        <p:txBody>
          <a:bodyPr wrap="square" lIns="0" tIns="0" rIns="0" bIns="0" anchor="t">
            <a:spAutoFit/>
          </a:bodyPr>
          <a:lstStyle/>
          <a:p>
            <a:pPr algn="l">
              <a:buNone/>
              <a:defRPr>
                <a:latin typeface="Arial"/>
                <a:ea typeface="Arial"/>
                <a:cs typeface="Arial"/>
              </a:defRPr>
            </a:pPr>
            <a:r>
              <a:rPr sz="825" b="1" i="0" u="none">
                <a:solidFill>
                  <a:srgbClr val="B45309"/>
                </a:solidFill>
                <a:latin typeface="Arial"/>
                <a:ea typeface="Arial"/>
                <a:cs typeface="Arial"/>
              </a:rPr>
              <a:t>Recommended</a:t>
            </a:r>
          </a:p>
        </p:txBody>
      </p:sp>
    </p:spTree>
    <p:extLst>
      <p:ext uri="{BB962C8B-B14F-4D97-AF65-F5344CB8AC3E}">
        <p14:creationId xmlns:p14="http://schemas.microsoft.com/office/powerpoint/2010/main" val="387202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8CC8F9C-7774-4DC8-ABEF-B31D7FA84EE5}"/>
              </a:ext>
            </a:extLst>
          </p:cNvPr>
          <p:cNvSpPr>
            <a:spLocks noGrp="1"/>
          </p:cNvSpPr>
          <p:nvPr/>
        </p:nvSpPr>
        <p:spPr>
          <a:xfrm>
            <a:off x="533400" y="4462313"/>
            <a:ext cx="11125200" cy="504825"/>
          </a:xfrm>
          <a:prstGeom prst="roundRect">
            <a:avLst>
              <a:gd name="adj" fmla="val 15094"/>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ounded Rectangle 2">
            <a:extLst>
              <a:ext uri="{FF2B5EF4-FFF2-40B4-BE49-F238E27FC236}">
                <a16:creationId xmlns:a16="http://schemas.microsoft.com/office/drawing/2014/main" id="{9D3736CD-71CA-4CB5-BD75-3641A4A42453}"/>
              </a:ext>
            </a:extLst>
          </p:cNvPr>
          <p:cNvSpPr>
            <a:spLocks noGrp="1"/>
          </p:cNvSpPr>
          <p:nvPr/>
        </p:nvSpPr>
        <p:spPr>
          <a:xfrm>
            <a:off x="9658350" y="710505"/>
            <a:ext cx="304800" cy="219075"/>
          </a:xfrm>
          <a:prstGeom prst="roundRect">
            <a:avLst>
              <a:gd name="adj" fmla="val 1739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8123BD79-7C72-4172-BC9F-D3EFA509831A}"/>
              </a:ext>
            </a:extLst>
          </p:cNvPr>
          <p:cNvSpPr>
            <a:spLocks noGrp="1"/>
          </p:cNvSpPr>
          <p:nvPr/>
        </p:nvSpPr>
        <p:spPr>
          <a:xfrm>
            <a:off x="533400" y="2668041"/>
            <a:ext cx="2667000" cy="1565671"/>
          </a:xfrm>
          <a:prstGeom prst="roundRect">
            <a:avLst>
              <a:gd name="adj" fmla="val 48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C40B80B9-31D0-4327-921C-01E28BED707B}"/>
              </a:ext>
            </a:extLst>
          </p:cNvPr>
          <p:cNvSpPr>
            <a:spLocks noGrp="1"/>
          </p:cNvSpPr>
          <p:nvPr/>
        </p:nvSpPr>
        <p:spPr>
          <a:xfrm>
            <a:off x="3352800" y="2668041"/>
            <a:ext cx="2667000" cy="1565671"/>
          </a:xfrm>
          <a:prstGeom prst="roundRect">
            <a:avLst>
              <a:gd name="adj" fmla="val 48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C6B71BA8-8E79-4573-AD92-2F0761E14D02}"/>
              </a:ext>
            </a:extLst>
          </p:cNvPr>
          <p:cNvSpPr>
            <a:spLocks noGrp="1"/>
          </p:cNvSpPr>
          <p:nvPr/>
        </p:nvSpPr>
        <p:spPr>
          <a:xfrm>
            <a:off x="6172200" y="2668041"/>
            <a:ext cx="2667000" cy="1565671"/>
          </a:xfrm>
          <a:prstGeom prst="roundRect">
            <a:avLst>
              <a:gd name="adj" fmla="val 48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F94A3BFC-64E6-4A11-8158-D07840934DCF}"/>
              </a:ext>
            </a:extLst>
          </p:cNvPr>
          <p:cNvSpPr>
            <a:spLocks noGrp="1"/>
          </p:cNvSpPr>
          <p:nvPr/>
        </p:nvSpPr>
        <p:spPr>
          <a:xfrm>
            <a:off x="8991600" y="2668041"/>
            <a:ext cx="2667000" cy="1565671"/>
          </a:xfrm>
          <a:prstGeom prst="roundRect">
            <a:avLst>
              <a:gd name="adj" fmla="val 48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727AA87B-92D8-4110-92A0-D7E3DA62FE64}"/>
              </a:ext>
            </a:extLst>
          </p:cNvPr>
          <p:cNvSpPr>
            <a:spLocks noGrp="1"/>
          </p:cNvSpPr>
          <p:nvPr/>
        </p:nvSpPr>
        <p:spPr>
          <a:xfrm>
            <a:off x="533400" y="4224188"/>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93A1A74F-B919-44C2-AAA5-A25645105EF6}"/>
              </a:ext>
            </a:extLst>
          </p:cNvPr>
          <p:cNvSpPr>
            <a:spLocks noGrp="1"/>
          </p:cNvSpPr>
          <p:nvPr/>
        </p:nvSpPr>
        <p:spPr>
          <a:xfrm>
            <a:off x="533400" y="2668041"/>
            <a:ext cx="2667000" cy="381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A3370CB7-5E6C-4BD5-904F-3791B55D4F29}"/>
              </a:ext>
            </a:extLst>
          </p:cNvPr>
          <p:cNvSpPr>
            <a:spLocks noGrp="1"/>
          </p:cNvSpPr>
          <p:nvPr/>
        </p:nvSpPr>
        <p:spPr>
          <a:xfrm>
            <a:off x="533400"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8ADEBA59-6179-4A48-A5F1-62708537124E}"/>
              </a:ext>
            </a:extLst>
          </p:cNvPr>
          <p:cNvSpPr>
            <a:spLocks noGrp="1"/>
          </p:cNvSpPr>
          <p:nvPr/>
        </p:nvSpPr>
        <p:spPr>
          <a:xfrm>
            <a:off x="3190875"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B2B19FBD-6D00-4263-BB2F-ACF24ADCBFC9}"/>
              </a:ext>
            </a:extLst>
          </p:cNvPr>
          <p:cNvSpPr>
            <a:spLocks noGrp="1"/>
          </p:cNvSpPr>
          <p:nvPr/>
        </p:nvSpPr>
        <p:spPr>
          <a:xfrm>
            <a:off x="733425" y="3805088"/>
            <a:ext cx="22669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Rectangle 12">
            <a:extLst>
              <a:ext uri="{FF2B5EF4-FFF2-40B4-BE49-F238E27FC236}">
                <a16:creationId xmlns:a16="http://schemas.microsoft.com/office/drawing/2014/main" id="{28AF24B1-2E72-4403-9D6D-0AA9A2F8F604}"/>
              </a:ext>
            </a:extLst>
          </p:cNvPr>
          <p:cNvSpPr>
            <a:spLocks noGrp="1"/>
          </p:cNvSpPr>
          <p:nvPr/>
        </p:nvSpPr>
        <p:spPr>
          <a:xfrm>
            <a:off x="3352800" y="4224188"/>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44152156-862C-494C-9267-B78B3D4F40F7}"/>
              </a:ext>
            </a:extLst>
          </p:cNvPr>
          <p:cNvSpPr>
            <a:spLocks noGrp="1"/>
          </p:cNvSpPr>
          <p:nvPr/>
        </p:nvSpPr>
        <p:spPr>
          <a:xfrm>
            <a:off x="3352800" y="2668041"/>
            <a:ext cx="266700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740A53C4-F9DA-4E27-A329-69647403C67F}"/>
              </a:ext>
            </a:extLst>
          </p:cNvPr>
          <p:cNvSpPr>
            <a:spLocks noGrp="1"/>
          </p:cNvSpPr>
          <p:nvPr/>
        </p:nvSpPr>
        <p:spPr>
          <a:xfrm>
            <a:off x="3352800"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Rectangle 15">
            <a:extLst>
              <a:ext uri="{FF2B5EF4-FFF2-40B4-BE49-F238E27FC236}">
                <a16:creationId xmlns:a16="http://schemas.microsoft.com/office/drawing/2014/main" id="{EE428264-046E-47D3-BF37-A497DBB4478A}"/>
              </a:ext>
            </a:extLst>
          </p:cNvPr>
          <p:cNvSpPr>
            <a:spLocks noGrp="1"/>
          </p:cNvSpPr>
          <p:nvPr/>
        </p:nvSpPr>
        <p:spPr>
          <a:xfrm>
            <a:off x="6010275"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632A61A1-DBC1-43A4-93F3-EF8F73EFFAB0}"/>
              </a:ext>
            </a:extLst>
          </p:cNvPr>
          <p:cNvSpPr>
            <a:spLocks noGrp="1"/>
          </p:cNvSpPr>
          <p:nvPr/>
        </p:nvSpPr>
        <p:spPr>
          <a:xfrm>
            <a:off x="3552825" y="3805088"/>
            <a:ext cx="22669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F39BBCBC-AED5-4BF9-91A8-BC61B6AFC306}"/>
              </a:ext>
            </a:extLst>
          </p:cNvPr>
          <p:cNvSpPr>
            <a:spLocks noGrp="1"/>
          </p:cNvSpPr>
          <p:nvPr/>
        </p:nvSpPr>
        <p:spPr>
          <a:xfrm>
            <a:off x="6172200" y="4224188"/>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649DF910-A008-40FC-8784-0C032A2147F7}"/>
              </a:ext>
            </a:extLst>
          </p:cNvPr>
          <p:cNvSpPr>
            <a:spLocks noGrp="1"/>
          </p:cNvSpPr>
          <p:nvPr/>
        </p:nvSpPr>
        <p:spPr>
          <a:xfrm>
            <a:off x="6172200" y="2668041"/>
            <a:ext cx="2667000" cy="381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E9D7E0E-175E-4E35-B218-49ECD95E3CD2}"/>
              </a:ext>
            </a:extLst>
          </p:cNvPr>
          <p:cNvSpPr>
            <a:spLocks noGrp="1"/>
          </p:cNvSpPr>
          <p:nvPr/>
        </p:nvSpPr>
        <p:spPr>
          <a:xfrm>
            <a:off x="6172200"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B970FFA4-A289-456D-8D69-9C3F5D2F354B}"/>
              </a:ext>
            </a:extLst>
          </p:cNvPr>
          <p:cNvSpPr>
            <a:spLocks noGrp="1"/>
          </p:cNvSpPr>
          <p:nvPr/>
        </p:nvSpPr>
        <p:spPr>
          <a:xfrm>
            <a:off x="8829675"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Rectangle 21">
            <a:extLst>
              <a:ext uri="{FF2B5EF4-FFF2-40B4-BE49-F238E27FC236}">
                <a16:creationId xmlns:a16="http://schemas.microsoft.com/office/drawing/2014/main" id="{8F36F51B-827F-4B0B-8A4C-A1E28353F5C5}"/>
              </a:ext>
            </a:extLst>
          </p:cNvPr>
          <p:cNvSpPr>
            <a:spLocks noGrp="1"/>
          </p:cNvSpPr>
          <p:nvPr/>
        </p:nvSpPr>
        <p:spPr>
          <a:xfrm>
            <a:off x="6372225" y="3805088"/>
            <a:ext cx="22669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6EA31516-19F5-4544-9961-F743DCB0E6FB}"/>
              </a:ext>
            </a:extLst>
          </p:cNvPr>
          <p:cNvSpPr>
            <a:spLocks noGrp="1"/>
          </p:cNvSpPr>
          <p:nvPr/>
        </p:nvSpPr>
        <p:spPr>
          <a:xfrm>
            <a:off x="8991600" y="4224188"/>
            <a:ext cx="2667000" cy="9525"/>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371CB187-A3A5-4CBC-B853-F6A890F69ED4}"/>
              </a:ext>
            </a:extLst>
          </p:cNvPr>
          <p:cNvSpPr>
            <a:spLocks noGrp="1"/>
          </p:cNvSpPr>
          <p:nvPr/>
        </p:nvSpPr>
        <p:spPr>
          <a:xfrm>
            <a:off x="8991600" y="2668041"/>
            <a:ext cx="2667000" cy="381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4389B341-44C2-449C-BB16-7BE85F35AB23}"/>
              </a:ext>
            </a:extLst>
          </p:cNvPr>
          <p:cNvSpPr>
            <a:spLocks noGrp="1"/>
          </p:cNvSpPr>
          <p:nvPr/>
        </p:nvSpPr>
        <p:spPr>
          <a:xfrm>
            <a:off x="8991600"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0A7AB550-9F53-4510-8C44-3CF1F3A5072E}"/>
              </a:ext>
            </a:extLst>
          </p:cNvPr>
          <p:cNvSpPr>
            <a:spLocks noGrp="1"/>
          </p:cNvSpPr>
          <p:nvPr/>
        </p:nvSpPr>
        <p:spPr>
          <a:xfrm>
            <a:off x="11649075" y="2668041"/>
            <a:ext cx="9525" cy="1565671"/>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C5887665-A07D-430A-955A-7DFB7F2BAA6F}"/>
              </a:ext>
            </a:extLst>
          </p:cNvPr>
          <p:cNvSpPr>
            <a:spLocks noGrp="1"/>
          </p:cNvSpPr>
          <p:nvPr/>
        </p:nvSpPr>
        <p:spPr>
          <a:xfrm>
            <a:off x="9191625" y="3805088"/>
            <a:ext cx="2266950" cy="952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A229F3B1-DC38-4142-A008-5D3C0D050F1F}"/>
              </a:ext>
            </a:extLst>
          </p:cNvPr>
          <p:cNvSpPr>
            <a:spLocks noGrp="1"/>
          </p:cNvSpPr>
          <p:nvPr/>
        </p:nvSpPr>
        <p:spPr>
          <a:xfrm>
            <a:off x="10058400" y="710470"/>
            <a:ext cx="1695450" cy="219075"/>
          </a:xfrm>
          <a:prstGeom prst="rect">
            <a:avLst/>
          </a:prstGeom>
          <a:noFill/>
        </p:spPr>
        <p:txBody>
          <a:bodyPr wrap="square" lIns="0" tIns="0" rIns="0" bIns="0" anchor="ctr">
            <a:normAutofit/>
          </a:bodyPr>
          <a:lstStyle/>
          <a:p>
            <a:pPr algn="l">
              <a:buNone/>
              <a:defRPr>
                <a:latin typeface="Arial"/>
                <a:ea typeface="Arial"/>
                <a:cs typeface="Arial"/>
              </a:defRPr>
            </a:pPr>
            <a:r>
              <a:rPr sz="975" b="1" i="0" u="none">
                <a:solidFill>
                  <a:srgbClr val="64748B"/>
                </a:solidFill>
                <a:latin typeface="Arial"/>
                <a:ea typeface="Arial"/>
                <a:cs typeface="Arial"/>
              </a:rPr>
              <a:t>TWO TWO CONSULTING</a:t>
            </a:r>
          </a:p>
        </p:txBody>
      </p:sp>
      <p:sp>
        <p:nvSpPr>
          <p:cNvPr id="29" name="TextBox 28">
            <a:extLst>
              <a:ext uri="{FF2B5EF4-FFF2-40B4-BE49-F238E27FC236}">
                <a16:creationId xmlns:a16="http://schemas.microsoft.com/office/drawing/2014/main" id="{FFC10CD0-702F-48C3-A805-DA51E3A1B532}"/>
              </a:ext>
            </a:extLst>
          </p:cNvPr>
          <p:cNvSpPr>
            <a:spLocks noGrp="1"/>
          </p:cNvSpPr>
          <p:nvPr/>
        </p:nvSpPr>
        <p:spPr>
          <a:xfrm>
            <a:off x="533400" y="381000"/>
            <a:ext cx="9263062"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180-DAY ACTION PLAN</a:t>
            </a:r>
          </a:p>
        </p:txBody>
      </p:sp>
      <p:sp>
        <p:nvSpPr>
          <p:cNvPr id="30" name="TextBox 29">
            <a:extLst>
              <a:ext uri="{FF2B5EF4-FFF2-40B4-BE49-F238E27FC236}">
                <a16:creationId xmlns:a16="http://schemas.microsoft.com/office/drawing/2014/main" id="{63051516-290D-4E28-8C77-704AD5548F37}"/>
              </a:ext>
            </a:extLst>
          </p:cNvPr>
          <p:cNvSpPr>
            <a:spLocks noGrp="1"/>
          </p:cNvSpPr>
          <p:nvPr/>
        </p:nvSpPr>
        <p:spPr>
          <a:xfrm>
            <a:off x="533400" y="609600"/>
            <a:ext cx="9726215" cy="320040"/>
          </a:xfrm>
          <a:prstGeom prst="rect">
            <a:avLst/>
          </a:prstGeom>
          <a:noFill/>
        </p:spPr>
        <p:txBody>
          <a:bodyPr wrap="none" lIns="0" tIns="0" rIns="0" bIns="0" anchor="t">
            <a:spAutoFit/>
          </a:bodyPr>
          <a:lstStyle/>
          <a:p>
            <a:pPr algn="l">
              <a:lnSpc>
                <a:spcPts val="2520"/>
              </a:lnSpc>
              <a:buNone/>
              <a:defRPr>
                <a:latin typeface="Arial"/>
                <a:ea typeface="Arial"/>
                <a:cs typeface="Arial"/>
              </a:defRPr>
            </a:pPr>
            <a:r>
              <a:rPr sz="2100" b="1" i="0" u="none">
                <a:solidFill>
                  <a:srgbClr val="0F172A"/>
                </a:solidFill>
                <a:latin typeface="Arial"/>
                <a:ea typeface="Arial"/>
                <a:cs typeface="Arial"/>
              </a:rPr>
              <a:t>Every Phase Ends With a Stop or Scale Decision</a:t>
            </a:r>
          </a:p>
        </p:txBody>
      </p:sp>
      <p:sp>
        <p:nvSpPr>
          <p:cNvPr id="31" name="TextBox 30">
            <a:extLst>
              <a:ext uri="{FF2B5EF4-FFF2-40B4-BE49-F238E27FC236}">
                <a16:creationId xmlns:a16="http://schemas.microsoft.com/office/drawing/2014/main" id="{28165830-8569-4163-A69B-2860773E0CC0}"/>
              </a:ext>
            </a:extLst>
          </p:cNvPr>
          <p:cNvSpPr>
            <a:spLocks noGrp="1"/>
          </p:cNvSpPr>
          <p:nvPr/>
        </p:nvSpPr>
        <p:spPr>
          <a:xfrm>
            <a:off x="9734550" y="748605"/>
            <a:ext cx="247650" cy="142875"/>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FFFFFF"/>
                </a:solidFill>
                <a:latin typeface="Arial"/>
                <a:ea typeface="Arial"/>
                <a:cs typeface="Arial"/>
              </a:rPr>
              <a:t>22</a:t>
            </a:r>
          </a:p>
        </p:txBody>
      </p:sp>
      <p:sp>
        <p:nvSpPr>
          <p:cNvPr id="32" name="TextBox 31">
            <a:extLst>
              <a:ext uri="{FF2B5EF4-FFF2-40B4-BE49-F238E27FC236}">
                <a16:creationId xmlns:a16="http://schemas.microsoft.com/office/drawing/2014/main" id="{6F1D6F52-CF73-46F5-811A-7AC5F85BB77A}"/>
              </a:ext>
            </a:extLst>
          </p:cNvPr>
          <p:cNvSpPr>
            <a:spLocks noGrp="1"/>
          </p:cNvSpPr>
          <p:nvPr/>
        </p:nvSpPr>
        <p:spPr>
          <a:xfrm>
            <a:off x="762000" y="4633763"/>
            <a:ext cx="6584156"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0F172A"/>
                </a:solidFill>
                <a:latin typeface="Arial"/>
                <a:ea typeface="Arial"/>
                <a:cs typeface="Arial"/>
              </a:rPr>
              <a:t>Ownership: Single Executive Value Owner across Pricing, CRM, &amp; Merchandising</a:t>
            </a:r>
          </a:p>
        </p:txBody>
      </p:sp>
      <p:sp>
        <p:nvSpPr>
          <p:cNvPr id="33" name="TextBox 32">
            <a:extLst>
              <a:ext uri="{FF2B5EF4-FFF2-40B4-BE49-F238E27FC236}">
                <a16:creationId xmlns:a16="http://schemas.microsoft.com/office/drawing/2014/main" id="{E5DC99EE-FD09-4395-A1D4-55A547C8ECF8}"/>
              </a:ext>
            </a:extLst>
          </p:cNvPr>
          <p:cNvSpPr>
            <a:spLocks noGrp="1"/>
          </p:cNvSpPr>
          <p:nvPr/>
        </p:nvSpPr>
        <p:spPr>
          <a:xfrm>
            <a:off x="7543800" y="4633763"/>
            <a:ext cx="4648200" cy="161925"/>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Stop Rule: Pause any test failing 50% ROI gate after 2 cycles</a:t>
            </a:r>
          </a:p>
        </p:txBody>
      </p:sp>
      <p:sp>
        <p:nvSpPr>
          <p:cNvPr id="34" name="TextBox 33">
            <a:extLst>
              <a:ext uri="{FF2B5EF4-FFF2-40B4-BE49-F238E27FC236}">
                <a16:creationId xmlns:a16="http://schemas.microsoft.com/office/drawing/2014/main" id="{30C8193A-427E-45BE-89C0-3B67DB53122F}"/>
              </a:ext>
            </a:extLst>
          </p:cNvPr>
          <p:cNvSpPr>
            <a:spLocks noGrp="1"/>
          </p:cNvSpPr>
          <p:nvPr/>
        </p:nvSpPr>
        <p:spPr>
          <a:xfrm>
            <a:off x="733425" y="2896641"/>
            <a:ext cx="2833687" cy="142875"/>
          </a:xfrm>
          <a:prstGeom prst="rect">
            <a:avLst/>
          </a:prstGeom>
          <a:noFill/>
        </p:spPr>
        <p:txBody>
          <a:bodyPr wrap="none" lIns="0" tIns="0" rIns="0" bIns="0" anchor="t">
            <a:spAutoFit/>
          </a:bodyPr>
          <a:lstStyle/>
          <a:p>
            <a:pPr algn="l">
              <a:buNone/>
              <a:defRPr>
                <a:latin typeface="Arial"/>
                <a:ea typeface="Arial"/>
                <a:cs typeface="Arial"/>
              </a:defRPr>
            </a:pPr>
            <a:r>
              <a:rPr sz="900" b="1" i="0" u="none">
                <a:solidFill>
                  <a:srgbClr val="EA580C"/>
                </a:solidFill>
                <a:latin typeface="Arial"/>
                <a:ea typeface="Arial"/>
                <a:cs typeface="Arial"/>
              </a:rPr>
              <a:t>DAYS 0–30</a:t>
            </a:r>
          </a:p>
        </p:txBody>
      </p:sp>
      <p:sp>
        <p:nvSpPr>
          <p:cNvPr id="35" name="TextBox 34">
            <a:extLst>
              <a:ext uri="{FF2B5EF4-FFF2-40B4-BE49-F238E27FC236}">
                <a16:creationId xmlns:a16="http://schemas.microsoft.com/office/drawing/2014/main" id="{7A100ECB-471C-4980-9258-EE59AAAEC316}"/>
              </a:ext>
            </a:extLst>
          </p:cNvPr>
          <p:cNvSpPr>
            <a:spLocks noGrp="1"/>
          </p:cNvSpPr>
          <p:nvPr/>
        </p:nvSpPr>
        <p:spPr>
          <a:xfrm>
            <a:off x="733425" y="3096666"/>
            <a:ext cx="2975371"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1. CONTROL</a:t>
            </a:r>
          </a:p>
        </p:txBody>
      </p:sp>
      <p:sp>
        <p:nvSpPr>
          <p:cNvPr id="36" name="TextBox 35">
            <a:extLst>
              <a:ext uri="{FF2B5EF4-FFF2-40B4-BE49-F238E27FC236}">
                <a16:creationId xmlns:a16="http://schemas.microsoft.com/office/drawing/2014/main" id="{47FBF741-62AA-4479-B4B6-9F1B0E1F8E1F}"/>
              </a:ext>
            </a:extLst>
          </p:cNvPr>
          <p:cNvSpPr>
            <a:spLocks noGrp="1"/>
          </p:cNvSpPr>
          <p:nvPr/>
        </p:nvSpPr>
        <p:spPr>
          <a:xfrm>
            <a:off x="733425" y="3344316"/>
            <a:ext cx="2362200" cy="346471"/>
          </a:xfrm>
          <a:prstGeom prst="rect">
            <a:avLst/>
          </a:prstGeom>
          <a:noFill/>
        </p:spPr>
        <p:txBody>
          <a:bodyPr wrap="square" lIns="0" tIns="0" rIns="0" bIns="0" anchor="t">
            <a:spAutoFit/>
          </a:bodyPr>
          <a:lstStyle/>
          <a:p>
            <a:pPr algn="l">
              <a:lnSpc>
                <a:spcPts val="1364"/>
              </a:lnSpc>
              <a:buNone/>
              <a:defRPr>
                <a:latin typeface="Arial"/>
                <a:ea typeface="Arial"/>
                <a:cs typeface="Arial"/>
              </a:defRPr>
            </a:pPr>
            <a:r>
              <a:rPr sz="975" b="0" i="0" u="none">
                <a:solidFill>
                  <a:srgbClr val="475569"/>
                </a:solidFill>
                <a:latin typeface="Arial"/>
                <a:ea typeface="Arial"/>
                <a:cs typeface="Arial"/>
              </a:rPr>
              <a:t>Freeze unapproved deep offers. Publish the top-50 </a:t>
            </a:r>
            <a:r>
              <a:rPr lang="en-US" sz="975" b="0" i="0" u="none">
                <a:solidFill>
                  <a:srgbClr val="475569"/>
                </a:solidFill>
                <a:latin typeface="Arial"/>
                <a:ea typeface="Arial"/>
                <a:cs typeface="Arial"/>
              </a:rPr>
              <a:t>Loss Making Combinations</a:t>
            </a:r>
            <a:r>
              <a:rPr sz="975" b="0" i="0" u="none">
                <a:solidFill>
                  <a:srgbClr val="475569"/>
                </a:solidFill>
                <a:latin typeface="Arial"/>
                <a:ea typeface="Arial"/>
                <a:cs typeface="Arial"/>
              </a:rPr>
              <a:t>s.</a:t>
            </a:r>
          </a:p>
        </p:txBody>
      </p:sp>
      <p:sp>
        <p:nvSpPr>
          <p:cNvPr id="37" name="TextBox 36">
            <a:extLst>
              <a:ext uri="{FF2B5EF4-FFF2-40B4-BE49-F238E27FC236}">
                <a16:creationId xmlns:a16="http://schemas.microsoft.com/office/drawing/2014/main" id="{87C70CAB-DCE6-44D6-9219-3618041112AF}"/>
              </a:ext>
            </a:extLst>
          </p:cNvPr>
          <p:cNvSpPr>
            <a:spLocks noGrp="1"/>
          </p:cNvSpPr>
          <p:nvPr/>
        </p:nvSpPr>
        <p:spPr>
          <a:xfrm>
            <a:off x="733425" y="3881288"/>
            <a:ext cx="2362200" cy="152400"/>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0F172A"/>
                </a:solidFill>
                <a:latin typeface="Arial"/>
                <a:ea typeface="Arial"/>
                <a:cs typeface="Arial"/>
              </a:rPr>
              <a:t>Gate: Zero unapproved deep promos</a:t>
            </a:r>
          </a:p>
        </p:txBody>
      </p:sp>
      <p:sp>
        <p:nvSpPr>
          <p:cNvPr id="38" name="TextBox 37">
            <a:extLst>
              <a:ext uri="{FF2B5EF4-FFF2-40B4-BE49-F238E27FC236}">
                <a16:creationId xmlns:a16="http://schemas.microsoft.com/office/drawing/2014/main" id="{5CF8E6DD-057E-495B-9480-E35F44D08DCD}"/>
              </a:ext>
            </a:extLst>
          </p:cNvPr>
          <p:cNvSpPr>
            <a:spLocks noGrp="1"/>
          </p:cNvSpPr>
          <p:nvPr/>
        </p:nvSpPr>
        <p:spPr>
          <a:xfrm>
            <a:off x="3552825" y="2896641"/>
            <a:ext cx="2833687" cy="142875"/>
          </a:xfrm>
          <a:prstGeom prst="rect">
            <a:avLst/>
          </a:prstGeom>
          <a:noFill/>
        </p:spPr>
        <p:txBody>
          <a:bodyPr wrap="none" lIns="0" tIns="0" rIns="0" bIns="0" anchor="t">
            <a:spAutoFit/>
          </a:bodyPr>
          <a:lstStyle/>
          <a:p>
            <a:pPr algn="l">
              <a:buNone/>
              <a:defRPr>
                <a:latin typeface="Arial"/>
                <a:ea typeface="Arial"/>
                <a:cs typeface="Arial"/>
              </a:defRPr>
            </a:pPr>
            <a:r>
              <a:rPr sz="900" b="1" i="0" u="none">
                <a:solidFill>
                  <a:srgbClr val="2563EB"/>
                </a:solidFill>
                <a:latin typeface="Arial"/>
                <a:ea typeface="Arial"/>
                <a:cs typeface="Arial"/>
              </a:rPr>
              <a:t>DAYS 31–60</a:t>
            </a:r>
          </a:p>
        </p:txBody>
      </p:sp>
      <p:sp>
        <p:nvSpPr>
          <p:cNvPr id="39" name="TextBox 38">
            <a:extLst>
              <a:ext uri="{FF2B5EF4-FFF2-40B4-BE49-F238E27FC236}">
                <a16:creationId xmlns:a16="http://schemas.microsoft.com/office/drawing/2014/main" id="{BA2EC309-5E6E-4BAB-AFA8-B5C0F39D3699}"/>
              </a:ext>
            </a:extLst>
          </p:cNvPr>
          <p:cNvSpPr>
            <a:spLocks noGrp="1"/>
          </p:cNvSpPr>
          <p:nvPr/>
        </p:nvSpPr>
        <p:spPr>
          <a:xfrm>
            <a:off x="3552825" y="3096666"/>
            <a:ext cx="2975371"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2. PILOT</a:t>
            </a:r>
          </a:p>
        </p:txBody>
      </p:sp>
      <p:sp>
        <p:nvSpPr>
          <p:cNvPr id="40" name="TextBox 39">
            <a:extLst>
              <a:ext uri="{FF2B5EF4-FFF2-40B4-BE49-F238E27FC236}">
                <a16:creationId xmlns:a16="http://schemas.microsoft.com/office/drawing/2014/main" id="{DA4E365D-6737-4F91-B135-D8B756E9D97C}"/>
              </a:ext>
            </a:extLst>
          </p:cNvPr>
          <p:cNvSpPr>
            <a:spLocks noGrp="1"/>
          </p:cNvSpPr>
          <p:nvPr/>
        </p:nvSpPr>
        <p:spPr>
          <a:xfrm>
            <a:off x="3552825" y="3344316"/>
            <a:ext cx="2362200" cy="346471"/>
          </a:xfrm>
          <a:prstGeom prst="rect">
            <a:avLst/>
          </a:prstGeom>
          <a:noFill/>
        </p:spPr>
        <p:txBody>
          <a:bodyPr wrap="square" lIns="0" tIns="0" rIns="0" bIns="0" anchor="t">
            <a:spAutoFit/>
          </a:bodyPr>
          <a:lstStyle/>
          <a:p>
            <a:pPr algn="l">
              <a:lnSpc>
                <a:spcPts val="1364"/>
              </a:lnSpc>
              <a:buNone/>
              <a:defRPr>
                <a:latin typeface="Arial"/>
                <a:ea typeface="Arial"/>
                <a:cs typeface="Arial"/>
              </a:defRPr>
            </a:pPr>
            <a:r>
              <a:rPr sz="975" b="0" i="0" u="none">
                <a:solidFill>
                  <a:srgbClr val="475569"/>
                </a:solidFill>
                <a:latin typeface="Arial"/>
                <a:ea typeface="Arial"/>
                <a:cs typeface="Arial"/>
              </a:rPr>
              <a:t>Run the West retention and Southeast offer-depth tests.</a:t>
            </a:r>
          </a:p>
        </p:txBody>
      </p:sp>
      <p:sp>
        <p:nvSpPr>
          <p:cNvPr id="41" name="TextBox 40">
            <a:extLst>
              <a:ext uri="{FF2B5EF4-FFF2-40B4-BE49-F238E27FC236}">
                <a16:creationId xmlns:a16="http://schemas.microsoft.com/office/drawing/2014/main" id="{D05A9B48-6C51-489E-AD3D-DA7164C4D39F}"/>
              </a:ext>
            </a:extLst>
          </p:cNvPr>
          <p:cNvSpPr>
            <a:spLocks noGrp="1"/>
          </p:cNvSpPr>
          <p:nvPr/>
        </p:nvSpPr>
        <p:spPr>
          <a:xfrm>
            <a:off x="3552825" y="3881288"/>
            <a:ext cx="2362200" cy="152400"/>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0F172A"/>
                </a:solidFill>
                <a:latin typeface="Arial"/>
                <a:ea typeface="Arial"/>
                <a:cs typeface="Arial"/>
              </a:rPr>
              <a:t>Gate: ≥50% campaign ROI verified</a:t>
            </a:r>
          </a:p>
        </p:txBody>
      </p:sp>
      <p:sp>
        <p:nvSpPr>
          <p:cNvPr id="42" name="TextBox 41">
            <a:extLst>
              <a:ext uri="{FF2B5EF4-FFF2-40B4-BE49-F238E27FC236}">
                <a16:creationId xmlns:a16="http://schemas.microsoft.com/office/drawing/2014/main" id="{2337418D-5231-47CF-A5D2-251D61D58B28}"/>
              </a:ext>
            </a:extLst>
          </p:cNvPr>
          <p:cNvSpPr>
            <a:spLocks noGrp="1"/>
          </p:cNvSpPr>
          <p:nvPr/>
        </p:nvSpPr>
        <p:spPr>
          <a:xfrm>
            <a:off x="6372225" y="2896641"/>
            <a:ext cx="2833687" cy="142875"/>
          </a:xfrm>
          <a:prstGeom prst="rect">
            <a:avLst/>
          </a:prstGeom>
          <a:noFill/>
        </p:spPr>
        <p:txBody>
          <a:bodyPr wrap="none" lIns="0" tIns="0" rIns="0" bIns="0" anchor="t">
            <a:spAutoFit/>
          </a:bodyPr>
          <a:lstStyle/>
          <a:p>
            <a:pPr algn="l">
              <a:buNone/>
              <a:defRPr>
                <a:latin typeface="Arial"/>
                <a:ea typeface="Arial"/>
                <a:cs typeface="Arial"/>
              </a:defRPr>
            </a:pPr>
            <a:r>
              <a:rPr sz="900" b="1" i="0" u="none">
                <a:solidFill>
                  <a:srgbClr val="16A34A"/>
                </a:solidFill>
                <a:latin typeface="Arial"/>
                <a:ea typeface="Arial"/>
                <a:cs typeface="Arial"/>
              </a:rPr>
              <a:t>DAYS 61–120</a:t>
            </a:r>
          </a:p>
        </p:txBody>
      </p:sp>
      <p:sp>
        <p:nvSpPr>
          <p:cNvPr id="43" name="TextBox 42">
            <a:extLst>
              <a:ext uri="{FF2B5EF4-FFF2-40B4-BE49-F238E27FC236}">
                <a16:creationId xmlns:a16="http://schemas.microsoft.com/office/drawing/2014/main" id="{5B631999-1800-4497-94EF-6B62386EF879}"/>
              </a:ext>
            </a:extLst>
          </p:cNvPr>
          <p:cNvSpPr>
            <a:spLocks noGrp="1"/>
          </p:cNvSpPr>
          <p:nvPr/>
        </p:nvSpPr>
        <p:spPr>
          <a:xfrm>
            <a:off x="6372225" y="3096666"/>
            <a:ext cx="2975371"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3. PROVE</a:t>
            </a:r>
          </a:p>
        </p:txBody>
      </p:sp>
      <p:sp>
        <p:nvSpPr>
          <p:cNvPr id="44" name="TextBox 43">
            <a:extLst>
              <a:ext uri="{FF2B5EF4-FFF2-40B4-BE49-F238E27FC236}">
                <a16:creationId xmlns:a16="http://schemas.microsoft.com/office/drawing/2014/main" id="{B3C00206-CF64-4FAB-9F4D-6F783349DC96}"/>
              </a:ext>
            </a:extLst>
          </p:cNvPr>
          <p:cNvSpPr>
            <a:spLocks noGrp="1"/>
          </p:cNvSpPr>
          <p:nvPr/>
        </p:nvSpPr>
        <p:spPr>
          <a:xfrm>
            <a:off x="6372225" y="3344316"/>
            <a:ext cx="2362200" cy="522194"/>
          </a:xfrm>
          <a:prstGeom prst="rect">
            <a:avLst/>
          </a:prstGeom>
          <a:noFill/>
        </p:spPr>
        <p:txBody>
          <a:bodyPr wrap="square" lIns="0" tIns="0" rIns="0" bIns="0" anchor="t">
            <a:spAutoFit/>
          </a:bodyPr>
          <a:lstStyle/>
          <a:p>
            <a:pPr algn="l">
              <a:lnSpc>
                <a:spcPts val="1364"/>
              </a:lnSpc>
              <a:buNone/>
              <a:defRPr>
                <a:latin typeface="Arial"/>
                <a:ea typeface="Arial"/>
                <a:cs typeface="Arial"/>
              </a:defRPr>
            </a:pPr>
            <a:r>
              <a:rPr sz="975" b="0" i="0" u="none">
                <a:solidFill>
                  <a:srgbClr val="475569"/>
                </a:solidFill>
                <a:latin typeface="Arial"/>
                <a:ea typeface="Arial"/>
                <a:cs typeface="Arial"/>
              </a:rPr>
              <a:t>Compare holdouts, close the next 15 </a:t>
            </a:r>
            <a:r>
              <a:rPr lang="en-US" sz="975" b="0" i="0" u="none">
                <a:solidFill>
                  <a:srgbClr val="475569"/>
                </a:solidFill>
                <a:latin typeface="Arial"/>
                <a:ea typeface="Arial"/>
                <a:cs typeface="Arial"/>
              </a:rPr>
              <a:t>Loss Making Combinations</a:t>
            </a:r>
            <a:r>
              <a:rPr sz="975" b="0" i="0" u="none">
                <a:solidFill>
                  <a:srgbClr val="475569"/>
                </a:solidFill>
                <a:latin typeface="Arial"/>
                <a:ea typeface="Arial"/>
                <a:cs typeface="Arial"/>
              </a:rPr>
              <a:t>s, and stop weak tests.</a:t>
            </a:r>
          </a:p>
        </p:txBody>
      </p:sp>
      <p:sp>
        <p:nvSpPr>
          <p:cNvPr id="45" name="TextBox 44">
            <a:extLst>
              <a:ext uri="{FF2B5EF4-FFF2-40B4-BE49-F238E27FC236}">
                <a16:creationId xmlns:a16="http://schemas.microsoft.com/office/drawing/2014/main" id="{7D909CF8-0A9D-4DFE-B137-657B7F3B77D2}"/>
              </a:ext>
            </a:extLst>
          </p:cNvPr>
          <p:cNvSpPr>
            <a:spLocks noGrp="1"/>
          </p:cNvSpPr>
          <p:nvPr/>
        </p:nvSpPr>
        <p:spPr>
          <a:xfrm>
            <a:off x="6372225" y="3881288"/>
            <a:ext cx="2362200" cy="274320"/>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0F172A"/>
                </a:solidFill>
                <a:latin typeface="Arial"/>
                <a:ea typeface="Arial"/>
                <a:cs typeface="Arial"/>
              </a:rPr>
              <a:t>Gate: Retained CLV positive and 15 pockets closed</a:t>
            </a:r>
          </a:p>
        </p:txBody>
      </p:sp>
      <p:sp>
        <p:nvSpPr>
          <p:cNvPr id="46" name="TextBox 45">
            <a:extLst>
              <a:ext uri="{FF2B5EF4-FFF2-40B4-BE49-F238E27FC236}">
                <a16:creationId xmlns:a16="http://schemas.microsoft.com/office/drawing/2014/main" id="{7CD9B36A-62AC-4791-9530-A88E99C0A75B}"/>
              </a:ext>
            </a:extLst>
          </p:cNvPr>
          <p:cNvSpPr>
            <a:spLocks noGrp="1"/>
          </p:cNvSpPr>
          <p:nvPr/>
        </p:nvSpPr>
        <p:spPr>
          <a:xfrm>
            <a:off x="9191625" y="2896641"/>
            <a:ext cx="2833687" cy="142875"/>
          </a:xfrm>
          <a:prstGeom prst="rect">
            <a:avLst/>
          </a:prstGeom>
          <a:noFill/>
        </p:spPr>
        <p:txBody>
          <a:bodyPr wrap="none" lIns="0" tIns="0" rIns="0" bIns="0" anchor="t">
            <a:spAutoFit/>
          </a:bodyPr>
          <a:lstStyle/>
          <a:p>
            <a:pPr algn="l">
              <a:buNone/>
              <a:defRPr>
                <a:latin typeface="Arial"/>
                <a:ea typeface="Arial"/>
                <a:cs typeface="Arial"/>
              </a:defRPr>
            </a:pPr>
            <a:r>
              <a:rPr sz="900" b="1" i="0" u="none">
                <a:solidFill>
                  <a:srgbClr val="0F172A"/>
                </a:solidFill>
                <a:latin typeface="Arial"/>
                <a:ea typeface="Arial"/>
                <a:cs typeface="Arial"/>
              </a:rPr>
              <a:t>DAYS 121–180</a:t>
            </a:r>
          </a:p>
        </p:txBody>
      </p:sp>
      <p:sp>
        <p:nvSpPr>
          <p:cNvPr id="47" name="TextBox 46">
            <a:extLst>
              <a:ext uri="{FF2B5EF4-FFF2-40B4-BE49-F238E27FC236}">
                <a16:creationId xmlns:a16="http://schemas.microsoft.com/office/drawing/2014/main" id="{1C683694-7AB5-4A4E-9FF4-F3D6C53F588F}"/>
              </a:ext>
            </a:extLst>
          </p:cNvPr>
          <p:cNvSpPr>
            <a:spLocks noGrp="1"/>
          </p:cNvSpPr>
          <p:nvPr/>
        </p:nvSpPr>
        <p:spPr>
          <a:xfrm>
            <a:off x="9191625" y="3096666"/>
            <a:ext cx="2975371" cy="194310"/>
          </a:xfrm>
          <a:prstGeom prst="rect">
            <a:avLst/>
          </a:prstGeom>
          <a:noFill/>
        </p:spPr>
        <p:txBody>
          <a:bodyPr wrap="none" lIns="0" tIns="0" rIns="0" bIns="0" anchor="t">
            <a:spAutoFit/>
          </a:bodyPr>
          <a:lstStyle/>
          <a:p>
            <a:pPr algn="l">
              <a:buNone/>
              <a:defRPr>
                <a:latin typeface="Arial"/>
                <a:ea typeface="Arial"/>
                <a:cs typeface="Arial"/>
              </a:defRPr>
            </a:pPr>
            <a:r>
              <a:rPr sz="1275" b="1" i="0" u="none">
                <a:solidFill>
                  <a:srgbClr val="0F172A"/>
                </a:solidFill>
                <a:latin typeface="Arial"/>
                <a:ea typeface="Arial"/>
                <a:cs typeface="Arial"/>
              </a:rPr>
              <a:t>4. SCALE</a:t>
            </a:r>
          </a:p>
        </p:txBody>
      </p:sp>
      <p:sp>
        <p:nvSpPr>
          <p:cNvPr id="48" name="TextBox 47">
            <a:extLst>
              <a:ext uri="{FF2B5EF4-FFF2-40B4-BE49-F238E27FC236}">
                <a16:creationId xmlns:a16="http://schemas.microsoft.com/office/drawing/2014/main" id="{85496632-D895-4381-9A22-D8BAEBA5038C}"/>
              </a:ext>
            </a:extLst>
          </p:cNvPr>
          <p:cNvSpPr>
            <a:spLocks noGrp="1"/>
          </p:cNvSpPr>
          <p:nvPr/>
        </p:nvSpPr>
        <p:spPr>
          <a:xfrm>
            <a:off x="9191625" y="3344316"/>
            <a:ext cx="2362200" cy="346471"/>
          </a:xfrm>
          <a:prstGeom prst="rect">
            <a:avLst/>
          </a:prstGeom>
          <a:noFill/>
        </p:spPr>
        <p:txBody>
          <a:bodyPr wrap="square" lIns="0" tIns="0" rIns="0" bIns="0" anchor="t">
            <a:spAutoFit/>
          </a:bodyPr>
          <a:lstStyle/>
          <a:p>
            <a:pPr algn="l">
              <a:lnSpc>
                <a:spcPts val="1364"/>
              </a:lnSpc>
              <a:buNone/>
              <a:defRPr>
                <a:latin typeface="Arial"/>
                <a:ea typeface="Arial"/>
                <a:cs typeface="Arial"/>
              </a:defRPr>
            </a:pPr>
            <a:r>
              <a:rPr sz="975" b="0" i="0" u="none">
                <a:solidFill>
                  <a:srgbClr val="475569"/>
                </a:solidFill>
                <a:latin typeface="Arial"/>
                <a:ea typeface="Arial"/>
                <a:cs typeface="Arial"/>
              </a:rPr>
              <a:t>Automate winning rules. Open the Q3 supply chain and logistics workstream.</a:t>
            </a:r>
          </a:p>
        </p:txBody>
      </p:sp>
      <p:sp>
        <p:nvSpPr>
          <p:cNvPr id="49" name="TextBox 48">
            <a:extLst>
              <a:ext uri="{FF2B5EF4-FFF2-40B4-BE49-F238E27FC236}">
                <a16:creationId xmlns:a16="http://schemas.microsoft.com/office/drawing/2014/main" id="{4EAE06CA-95F4-4F29-B207-62CF56EE5F8A}"/>
              </a:ext>
            </a:extLst>
          </p:cNvPr>
          <p:cNvSpPr>
            <a:spLocks noGrp="1"/>
          </p:cNvSpPr>
          <p:nvPr/>
        </p:nvSpPr>
        <p:spPr>
          <a:xfrm>
            <a:off x="9191625" y="3881288"/>
            <a:ext cx="2362200" cy="152400"/>
          </a:xfrm>
          <a:prstGeom prst="rect">
            <a:avLst/>
          </a:prstGeom>
          <a:noFill/>
        </p:spPr>
        <p:txBody>
          <a:bodyPr wrap="square" lIns="0" tIns="0" rIns="0" bIns="0" anchor="t">
            <a:spAutoFit/>
          </a:bodyPr>
          <a:lstStyle/>
          <a:p>
            <a:pPr algn="l">
              <a:buNone/>
              <a:defRPr>
                <a:latin typeface="Arial"/>
                <a:ea typeface="Arial"/>
                <a:cs typeface="Arial"/>
              </a:defRPr>
            </a:pPr>
            <a:r>
              <a:rPr sz="900" b="1" i="0" u="none">
                <a:solidFill>
                  <a:srgbClr val="0F172A"/>
                </a:solidFill>
                <a:latin typeface="Arial"/>
                <a:ea typeface="Arial"/>
                <a:cs typeface="Arial"/>
              </a:rPr>
              <a:t>Gate: +$12.0M verified annual uplift</a:t>
            </a:r>
          </a:p>
        </p:txBody>
      </p:sp>
    </p:spTree>
    <p:extLst>
      <p:ext uri="{BB962C8B-B14F-4D97-AF65-F5344CB8AC3E}">
        <p14:creationId xmlns:p14="http://schemas.microsoft.com/office/powerpoint/2010/main" val="1901851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5E2BEC-5FB7-47E8-B89D-F491594830AF}"/>
              </a:ext>
            </a:extLst>
          </p:cNvPr>
          <p:cNvSpPr>
            <a:spLocks noGrp="1"/>
          </p:cNvSpPr>
          <p:nvPr/>
        </p:nvSpPr>
        <p:spPr>
          <a:xfrm>
            <a:off x="533400" y="5810250"/>
            <a:ext cx="11125200" cy="5143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A05ABBE-C56A-400D-9D42-00E2B56A2DD1}"/>
              </a:ext>
            </a:extLst>
          </p:cNvPr>
          <p:cNvSpPr>
            <a:spLocks noGrp="1"/>
          </p:cNvSpPr>
          <p:nvPr/>
        </p:nvSpPr>
        <p:spPr>
          <a:xfrm>
            <a:off x="533400" y="5810250"/>
            <a:ext cx="11125200" cy="9525"/>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ounded Rectangle 3">
            <a:extLst>
              <a:ext uri="{FF2B5EF4-FFF2-40B4-BE49-F238E27FC236}">
                <a16:creationId xmlns:a16="http://schemas.microsoft.com/office/drawing/2014/main" id="{0BD17B41-D516-4B5E-9331-39E09951932F}"/>
              </a:ext>
            </a:extLst>
          </p:cNvPr>
          <p:cNvSpPr>
            <a:spLocks noGrp="1"/>
          </p:cNvSpPr>
          <p:nvPr/>
        </p:nvSpPr>
        <p:spPr>
          <a:xfrm>
            <a:off x="9324975" y="6010275"/>
            <a:ext cx="2333625" cy="314325"/>
          </a:xfrm>
          <a:prstGeom prst="roundRect">
            <a:avLst>
              <a:gd name="adj" fmla="val 1818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ounded Rectangle 4">
            <a:extLst>
              <a:ext uri="{FF2B5EF4-FFF2-40B4-BE49-F238E27FC236}">
                <a16:creationId xmlns:a16="http://schemas.microsoft.com/office/drawing/2014/main" id="{C6DAB152-9907-4C51-9BEA-519E4F5C587B}"/>
              </a:ext>
            </a:extLst>
          </p:cNvPr>
          <p:cNvSpPr>
            <a:spLocks noGrp="1"/>
          </p:cNvSpPr>
          <p:nvPr/>
        </p:nvSpPr>
        <p:spPr>
          <a:xfrm>
            <a:off x="533400" y="533400"/>
            <a:ext cx="438150" cy="333375"/>
          </a:xfrm>
          <a:prstGeom prst="roundRect">
            <a:avLst>
              <a:gd name="adj" fmla="val 17142"/>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ounded Rectangle 5">
            <a:extLst>
              <a:ext uri="{FF2B5EF4-FFF2-40B4-BE49-F238E27FC236}">
                <a16:creationId xmlns:a16="http://schemas.microsoft.com/office/drawing/2014/main" id="{B232940D-A0B2-4D27-8366-A250DAB00BAF}"/>
              </a:ext>
            </a:extLst>
          </p:cNvPr>
          <p:cNvSpPr>
            <a:spLocks noGrp="1"/>
          </p:cNvSpPr>
          <p:nvPr/>
        </p:nvSpPr>
        <p:spPr>
          <a:xfrm>
            <a:off x="533400" y="2970907"/>
            <a:ext cx="3581400" cy="1468635"/>
          </a:xfrm>
          <a:prstGeom prst="roundRect">
            <a:avLst>
              <a:gd name="adj" fmla="val 6485"/>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ounded Rectangle 6">
            <a:extLst>
              <a:ext uri="{FF2B5EF4-FFF2-40B4-BE49-F238E27FC236}">
                <a16:creationId xmlns:a16="http://schemas.microsoft.com/office/drawing/2014/main" id="{977E6DCA-12FE-459F-8F33-E102B3A1439E}"/>
              </a:ext>
            </a:extLst>
          </p:cNvPr>
          <p:cNvSpPr>
            <a:spLocks noGrp="1"/>
          </p:cNvSpPr>
          <p:nvPr/>
        </p:nvSpPr>
        <p:spPr>
          <a:xfrm>
            <a:off x="4305300" y="2970907"/>
            <a:ext cx="3581400" cy="1468635"/>
          </a:xfrm>
          <a:prstGeom prst="roundRect">
            <a:avLst>
              <a:gd name="adj" fmla="val 6485"/>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ounded Rectangle 7">
            <a:extLst>
              <a:ext uri="{FF2B5EF4-FFF2-40B4-BE49-F238E27FC236}">
                <a16:creationId xmlns:a16="http://schemas.microsoft.com/office/drawing/2014/main" id="{59A5CC41-F7A7-4172-94A2-C7F95CF00CDD}"/>
              </a:ext>
            </a:extLst>
          </p:cNvPr>
          <p:cNvSpPr>
            <a:spLocks noGrp="1"/>
          </p:cNvSpPr>
          <p:nvPr/>
        </p:nvSpPr>
        <p:spPr>
          <a:xfrm>
            <a:off x="8077200" y="2970907"/>
            <a:ext cx="3581400" cy="1468635"/>
          </a:xfrm>
          <a:prstGeom prst="roundRect">
            <a:avLst>
              <a:gd name="adj" fmla="val 6485"/>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Rounded Rectangle 8">
            <a:extLst>
              <a:ext uri="{FF2B5EF4-FFF2-40B4-BE49-F238E27FC236}">
                <a16:creationId xmlns:a16="http://schemas.microsoft.com/office/drawing/2014/main" id="{C6911A07-D2C1-4C06-8213-5E2C522E85AE}"/>
              </a:ext>
            </a:extLst>
          </p:cNvPr>
          <p:cNvSpPr>
            <a:spLocks noGrp="1"/>
          </p:cNvSpPr>
          <p:nvPr/>
        </p:nvSpPr>
        <p:spPr>
          <a:xfrm>
            <a:off x="771525" y="3189982"/>
            <a:ext cx="209550" cy="238125"/>
          </a:xfrm>
          <a:prstGeom prst="roundRect">
            <a:avLst>
              <a:gd name="adj" fmla="val 18181"/>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Rounded Rectangle 9">
            <a:extLst>
              <a:ext uri="{FF2B5EF4-FFF2-40B4-BE49-F238E27FC236}">
                <a16:creationId xmlns:a16="http://schemas.microsoft.com/office/drawing/2014/main" id="{64FB0577-1302-4B75-8F93-58DD9BB5CF14}"/>
              </a:ext>
            </a:extLst>
          </p:cNvPr>
          <p:cNvSpPr>
            <a:spLocks noGrp="1"/>
          </p:cNvSpPr>
          <p:nvPr/>
        </p:nvSpPr>
        <p:spPr>
          <a:xfrm>
            <a:off x="4543425" y="3189982"/>
            <a:ext cx="238125" cy="238125"/>
          </a:xfrm>
          <a:prstGeom prst="roundRect">
            <a:avLst>
              <a:gd name="adj" fmla="val 16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ounded Rectangle 10">
            <a:extLst>
              <a:ext uri="{FF2B5EF4-FFF2-40B4-BE49-F238E27FC236}">
                <a16:creationId xmlns:a16="http://schemas.microsoft.com/office/drawing/2014/main" id="{0964768D-E68F-4DA0-B4C1-63FD5FB706FC}"/>
              </a:ext>
            </a:extLst>
          </p:cNvPr>
          <p:cNvSpPr>
            <a:spLocks noGrp="1"/>
          </p:cNvSpPr>
          <p:nvPr/>
        </p:nvSpPr>
        <p:spPr>
          <a:xfrm>
            <a:off x="8315325" y="3189982"/>
            <a:ext cx="238125" cy="238125"/>
          </a:xfrm>
          <a:prstGeom prst="roundRect">
            <a:avLst>
              <a:gd name="adj" fmla="val 16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E9C9618-82CE-4AFD-BFA5-18F2B5F4D94F}"/>
              </a:ext>
            </a:extLst>
          </p:cNvPr>
          <p:cNvSpPr>
            <a:spLocks noGrp="1"/>
          </p:cNvSpPr>
          <p:nvPr/>
        </p:nvSpPr>
        <p:spPr>
          <a:xfrm>
            <a:off x="10086975" y="609600"/>
            <a:ext cx="1964531" cy="180975"/>
          </a:xfrm>
          <a:prstGeom prst="rect">
            <a:avLst/>
          </a:prstGeom>
          <a:noFill/>
        </p:spPr>
        <p:txBody>
          <a:bodyPr wrap="none" lIns="0" tIns="0" rIns="0" bIns="0" anchor="t">
            <a:spAutoFit/>
          </a:bodyPr>
          <a:lstStyle/>
          <a:p>
            <a:pPr algn="l">
              <a:buNone/>
              <a:defRPr>
                <a:latin typeface="Arial"/>
                <a:ea typeface="Arial"/>
                <a:cs typeface="Arial"/>
              </a:defRPr>
            </a:pPr>
            <a:r>
              <a:rPr sz="1125" b="0" i="0" u="none">
                <a:solidFill>
                  <a:srgbClr val="94A3B8"/>
                </a:solidFill>
                <a:latin typeface="Arial"/>
                <a:ea typeface="Arial"/>
                <a:cs typeface="Arial"/>
              </a:rPr>
              <a:t>Action Required Today</a:t>
            </a:r>
          </a:p>
        </p:txBody>
      </p:sp>
      <p:sp>
        <p:nvSpPr>
          <p:cNvPr id="13" name="TextBox 12">
            <a:extLst>
              <a:ext uri="{FF2B5EF4-FFF2-40B4-BE49-F238E27FC236}">
                <a16:creationId xmlns:a16="http://schemas.microsoft.com/office/drawing/2014/main" id="{0F2338F5-D297-4305-B93A-5B2417C14A0A}"/>
              </a:ext>
            </a:extLst>
          </p:cNvPr>
          <p:cNvSpPr>
            <a:spLocks noGrp="1"/>
          </p:cNvSpPr>
          <p:nvPr/>
        </p:nvSpPr>
        <p:spPr>
          <a:xfrm>
            <a:off x="533400" y="1932682"/>
            <a:ext cx="11658600" cy="171450"/>
          </a:xfrm>
          <a:prstGeom prst="rect">
            <a:avLst/>
          </a:prstGeom>
          <a:noFill/>
        </p:spPr>
        <p:txBody>
          <a:bodyPr wrap="none" lIns="0" tIns="0" rIns="0" bIns="0" anchor="t">
            <a:spAutoFit/>
          </a:bodyPr>
          <a:lstStyle/>
          <a:p>
            <a:pPr algn="l">
              <a:buNone/>
              <a:defRPr>
                <a:latin typeface="Arial"/>
                <a:ea typeface="Arial"/>
                <a:cs typeface="Arial"/>
              </a:defRPr>
            </a:pPr>
            <a:r>
              <a:rPr sz="1050" b="1" i="0" u="none">
                <a:solidFill>
                  <a:srgbClr val="EA580C"/>
                </a:solidFill>
                <a:latin typeface="Arial"/>
                <a:ea typeface="Arial"/>
                <a:cs typeface="Arial"/>
              </a:rPr>
              <a:t>BOARD DECISION</a:t>
            </a:r>
          </a:p>
        </p:txBody>
      </p:sp>
      <p:sp>
        <p:nvSpPr>
          <p:cNvPr id="14" name="TextBox 13">
            <a:extLst>
              <a:ext uri="{FF2B5EF4-FFF2-40B4-BE49-F238E27FC236}">
                <a16:creationId xmlns:a16="http://schemas.microsoft.com/office/drawing/2014/main" id="{4F11EFEE-E9EC-4CCC-9C95-E1ADB41919B2}"/>
              </a:ext>
            </a:extLst>
          </p:cNvPr>
          <p:cNvSpPr>
            <a:spLocks noGrp="1"/>
          </p:cNvSpPr>
          <p:nvPr/>
        </p:nvSpPr>
        <p:spPr>
          <a:xfrm>
            <a:off x="533400" y="2218432"/>
            <a:ext cx="11658600" cy="447675"/>
          </a:xfrm>
          <a:prstGeom prst="rect">
            <a:avLst/>
          </a:prstGeom>
          <a:noFill/>
        </p:spPr>
        <p:txBody>
          <a:bodyPr wrap="none" lIns="0" tIns="0" rIns="0" bIns="0" anchor="t">
            <a:spAutoFit/>
          </a:bodyPr>
          <a:lstStyle/>
          <a:p>
            <a:pPr algn="l">
              <a:buNone/>
              <a:defRPr>
                <a:latin typeface="Arial"/>
                <a:ea typeface="Arial"/>
                <a:cs typeface="Arial"/>
              </a:defRPr>
            </a:pPr>
            <a:r>
              <a:rPr sz="2850" b="1" i="0" u="none">
                <a:solidFill>
                  <a:srgbClr val="FFFFFF"/>
                </a:solidFill>
                <a:latin typeface="Arial"/>
                <a:ea typeface="Arial"/>
                <a:cs typeface="Arial"/>
              </a:rPr>
              <a:t>Three Decisions Start the Q1–Q2 Plan</a:t>
            </a:r>
          </a:p>
        </p:txBody>
      </p:sp>
      <p:sp>
        <p:nvSpPr>
          <p:cNvPr id="15" name="TextBox 14">
            <a:extLst>
              <a:ext uri="{FF2B5EF4-FFF2-40B4-BE49-F238E27FC236}">
                <a16:creationId xmlns:a16="http://schemas.microsoft.com/office/drawing/2014/main" id="{6D4ABC82-E820-4228-AC90-BC8C070C0704}"/>
              </a:ext>
            </a:extLst>
          </p:cNvPr>
          <p:cNvSpPr>
            <a:spLocks noGrp="1"/>
          </p:cNvSpPr>
          <p:nvPr/>
        </p:nvSpPr>
        <p:spPr>
          <a:xfrm>
            <a:off x="533400" y="6076950"/>
            <a:ext cx="6060281" cy="180975"/>
          </a:xfrm>
          <a:prstGeom prst="rect">
            <a:avLst/>
          </a:prstGeom>
          <a:noFill/>
        </p:spPr>
        <p:txBody>
          <a:bodyPr wrap="none" lIns="0" tIns="0" rIns="0" bIns="0" anchor="t">
            <a:spAutoFit/>
          </a:bodyPr>
          <a:lstStyle/>
          <a:p>
            <a:pPr algn="l">
              <a:buNone/>
              <a:defRPr>
                <a:latin typeface="Arial"/>
                <a:ea typeface="Arial"/>
                <a:cs typeface="Arial"/>
              </a:defRPr>
            </a:pPr>
            <a:r>
              <a:rPr sz="1125" b="1" i="0" u="none">
                <a:solidFill>
                  <a:srgbClr val="94A3B8"/>
                </a:solidFill>
                <a:latin typeface="Arial"/>
                <a:ea typeface="Arial"/>
                <a:cs typeface="Arial"/>
              </a:rPr>
              <a:t>Target Profitability Baseline: $50.4M Net Profit (13.0% Margin Target)</a:t>
            </a:r>
          </a:p>
        </p:txBody>
      </p:sp>
      <p:sp>
        <p:nvSpPr>
          <p:cNvPr id="16" name="TextBox 15">
            <a:extLst>
              <a:ext uri="{FF2B5EF4-FFF2-40B4-BE49-F238E27FC236}">
                <a16:creationId xmlns:a16="http://schemas.microsoft.com/office/drawing/2014/main" id="{3976F668-D6BC-4B3C-AD6D-88C60B043BE5}"/>
              </a:ext>
            </a:extLst>
          </p:cNvPr>
          <p:cNvSpPr>
            <a:spLocks noGrp="1"/>
          </p:cNvSpPr>
          <p:nvPr/>
        </p:nvSpPr>
        <p:spPr>
          <a:xfrm>
            <a:off x="9477375" y="6086475"/>
            <a:ext cx="21240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FFFFFF"/>
                </a:solidFill>
                <a:latin typeface="Arial"/>
                <a:ea typeface="Arial"/>
                <a:cs typeface="Arial"/>
              </a:rPr>
              <a:t>Ready for a Q1 Decision</a:t>
            </a:r>
          </a:p>
        </p:txBody>
      </p:sp>
      <p:sp>
        <p:nvSpPr>
          <p:cNvPr id="17" name="TextBox 16">
            <a:extLst>
              <a:ext uri="{FF2B5EF4-FFF2-40B4-BE49-F238E27FC236}">
                <a16:creationId xmlns:a16="http://schemas.microsoft.com/office/drawing/2014/main" id="{9B6B12DD-11CE-45D9-AAC0-69040352ADE8}"/>
              </a:ext>
            </a:extLst>
          </p:cNvPr>
          <p:cNvSpPr>
            <a:spLocks noGrp="1"/>
          </p:cNvSpPr>
          <p:nvPr/>
        </p:nvSpPr>
        <p:spPr>
          <a:xfrm>
            <a:off x="647700" y="590550"/>
            <a:ext cx="304800" cy="219075"/>
          </a:xfrm>
          <a:prstGeom prst="rect">
            <a:avLst/>
          </a:prstGeom>
          <a:noFill/>
        </p:spPr>
        <p:txBody>
          <a:bodyPr wrap="square" lIns="0" tIns="0" rIns="0" bIns="0" anchor="t">
            <a:spAutoFit/>
          </a:bodyPr>
          <a:lstStyle/>
          <a:p>
            <a:pPr algn="l">
              <a:buNone/>
              <a:defRPr>
                <a:latin typeface="Arial"/>
                <a:ea typeface="Arial"/>
                <a:cs typeface="Arial"/>
              </a:defRPr>
            </a:pPr>
            <a:r>
              <a:rPr sz="1350" b="1" i="0" u="none">
                <a:solidFill>
                  <a:srgbClr val="FFFFFF"/>
                </a:solidFill>
                <a:latin typeface="Arial"/>
                <a:ea typeface="Arial"/>
                <a:cs typeface="Arial"/>
              </a:rPr>
              <a:t>22</a:t>
            </a:r>
          </a:p>
        </p:txBody>
      </p:sp>
      <p:sp>
        <p:nvSpPr>
          <p:cNvPr id="18" name="TextBox 17">
            <a:extLst>
              <a:ext uri="{FF2B5EF4-FFF2-40B4-BE49-F238E27FC236}">
                <a16:creationId xmlns:a16="http://schemas.microsoft.com/office/drawing/2014/main" id="{D0688434-3170-44B4-A209-61E9DF7BD0B5}"/>
              </a:ext>
            </a:extLst>
          </p:cNvPr>
          <p:cNvSpPr>
            <a:spLocks noGrp="1"/>
          </p:cNvSpPr>
          <p:nvPr/>
        </p:nvSpPr>
        <p:spPr>
          <a:xfrm>
            <a:off x="1085850" y="600075"/>
            <a:ext cx="2464593" cy="200025"/>
          </a:xfrm>
          <a:prstGeom prst="rect">
            <a:avLst/>
          </a:prstGeom>
          <a:noFill/>
        </p:spPr>
        <p:txBody>
          <a:bodyPr wrap="none" lIns="0" tIns="0" rIns="0" bIns="0" anchor="t">
            <a:spAutoFit/>
          </a:bodyPr>
          <a:lstStyle/>
          <a:p>
            <a:pPr algn="l">
              <a:buNone/>
              <a:defRPr>
                <a:latin typeface="Arial"/>
                <a:ea typeface="Arial"/>
                <a:cs typeface="Arial"/>
              </a:defRPr>
            </a:pPr>
            <a:r>
              <a:rPr sz="1200" b="1" i="0" u="none">
                <a:solidFill>
                  <a:srgbClr val="FFFFFF"/>
                </a:solidFill>
                <a:latin typeface="Arial"/>
                <a:ea typeface="Arial"/>
                <a:cs typeface="Arial"/>
              </a:rPr>
              <a:t>TWO TWO CONSULTING</a:t>
            </a:r>
          </a:p>
        </p:txBody>
      </p:sp>
      <p:sp>
        <p:nvSpPr>
          <p:cNvPr id="19" name="TextBox 18">
            <a:extLst>
              <a:ext uri="{FF2B5EF4-FFF2-40B4-BE49-F238E27FC236}">
                <a16:creationId xmlns:a16="http://schemas.microsoft.com/office/drawing/2014/main" id="{B2615E23-80EF-4F9A-89AD-ABB4DC66A6BD}"/>
              </a:ext>
            </a:extLst>
          </p:cNvPr>
          <p:cNvSpPr>
            <a:spLocks noGrp="1"/>
          </p:cNvSpPr>
          <p:nvPr/>
        </p:nvSpPr>
        <p:spPr>
          <a:xfrm>
            <a:off x="847725" y="3228082"/>
            <a:ext cx="152400"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FFFFFF"/>
                </a:solidFill>
                <a:latin typeface="Arial"/>
                <a:ea typeface="Arial"/>
                <a:cs typeface="Arial"/>
              </a:rPr>
              <a:t>1</a:t>
            </a:r>
          </a:p>
        </p:txBody>
      </p:sp>
      <p:sp>
        <p:nvSpPr>
          <p:cNvPr id="20" name="TextBox 19">
            <a:extLst>
              <a:ext uri="{FF2B5EF4-FFF2-40B4-BE49-F238E27FC236}">
                <a16:creationId xmlns:a16="http://schemas.microsoft.com/office/drawing/2014/main" id="{63B4C510-B802-4B09-88B0-DEA9848EEDCE}"/>
              </a:ext>
            </a:extLst>
          </p:cNvPr>
          <p:cNvSpPr>
            <a:spLocks noGrp="1"/>
          </p:cNvSpPr>
          <p:nvPr/>
        </p:nvSpPr>
        <p:spPr>
          <a:xfrm>
            <a:off x="771525" y="3551932"/>
            <a:ext cx="4075509"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FFFFFF"/>
                </a:solidFill>
                <a:latin typeface="Arial"/>
                <a:ea typeface="Arial"/>
                <a:cs typeface="Arial"/>
              </a:rPr>
              <a:t>Approve the Promotion Guardrails</a:t>
            </a:r>
          </a:p>
        </p:txBody>
      </p:sp>
      <p:sp>
        <p:nvSpPr>
          <p:cNvPr id="21" name="TextBox 20">
            <a:extLst>
              <a:ext uri="{FF2B5EF4-FFF2-40B4-BE49-F238E27FC236}">
                <a16:creationId xmlns:a16="http://schemas.microsoft.com/office/drawing/2014/main" id="{AB136B1D-8DD0-41FB-940B-DA9ACAB22D3D}"/>
              </a:ext>
            </a:extLst>
          </p:cNvPr>
          <p:cNvSpPr>
            <a:spLocks noGrp="1"/>
          </p:cNvSpPr>
          <p:nvPr/>
        </p:nvSpPr>
        <p:spPr>
          <a:xfrm>
            <a:off x="771525" y="3828157"/>
            <a:ext cx="3200400" cy="373380"/>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94A3B8"/>
                </a:solidFill>
                <a:latin typeface="Arial"/>
                <a:ea typeface="Arial"/>
                <a:cs typeface="Arial"/>
              </a:rPr>
              <a:t>Freeze unapproved BOGO and Clearance. Require at least 5% margin and 50% ROI.</a:t>
            </a:r>
          </a:p>
        </p:txBody>
      </p:sp>
      <p:sp>
        <p:nvSpPr>
          <p:cNvPr id="22" name="TextBox 21">
            <a:extLst>
              <a:ext uri="{FF2B5EF4-FFF2-40B4-BE49-F238E27FC236}">
                <a16:creationId xmlns:a16="http://schemas.microsoft.com/office/drawing/2014/main" id="{F9F56142-4B25-46C0-9CEC-7F884BE821C5}"/>
              </a:ext>
            </a:extLst>
          </p:cNvPr>
          <p:cNvSpPr>
            <a:spLocks noGrp="1"/>
          </p:cNvSpPr>
          <p:nvPr/>
        </p:nvSpPr>
        <p:spPr>
          <a:xfrm>
            <a:off x="4619625" y="3228082"/>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FFFFFF"/>
                </a:solidFill>
                <a:latin typeface="Arial"/>
                <a:ea typeface="Arial"/>
                <a:cs typeface="Arial"/>
              </a:rPr>
              <a:t>2</a:t>
            </a:r>
          </a:p>
        </p:txBody>
      </p:sp>
      <p:sp>
        <p:nvSpPr>
          <p:cNvPr id="23" name="TextBox 22">
            <a:extLst>
              <a:ext uri="{FF2B5EF4-FFF2-40B4-BE49-F238E27FC236}">
                <a16:creationId xmlns:a16="http://schemas.microsoft.com/office/drawing/2014/main" id="{EAF87F46-508D-4C48-887E-D3E43577396D}"/>
              </a:ext>
            </a:extLst>
          </p:cNvPr>
          <p:cNvSpPr>
            <a:spLocks noGrp="1"/>
          </p:cNvSpPr>
          <p:nvPr/>
        </p:nvSpPr>
        <p:spPr>
          <a:xfrm>
            <a:off x="4543425" y="3551932"/>
            <a:ext cx="4075509"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FFFFFF"/>
                </a:solidFill>
                <a:latin typeface="Arial"/>
                <a:ea typeface="Arial"/>
                <a:cs typeface="Arial"/>
              </a:rPr>
              <a:t>Name the Executive Value Owner</a:t>
            </a:r>
          </a:p>
        </p:txBody>
      </p:sp>
      <p:sp>
        <p:nvSpPr>
          <p:cNvPr id="24" name="TextBox 23">
            <a:extLst>
              <a:ext uri="{FF2B5EF4-FFF2-40B4-BE49-F238E27FC236}">
                <a16:creationId xmlns:a16="http://schemas.microsoft.com/office/drawing/2014/main" id="{BD362D3B-3E15-459C-9322-6EE359DC204B}"/>
              </a:ext>
            </a:extLst>
          </p:cNvPr>
          <p:cNvSpPr>
            <a:spLocks noGrp="1"/>
          </p:cNvSpPr>
          <p:nvPr/>
        </p:nvSpPr>
        <p:spPr>
          <a:xfrm>
            <a:off x="4543425" y="3828157"/>
            <a:ext cx="3200400" cy="373380"/>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94A3B8"/>
                </a:solidFill>
                <a:latin typeface="Arial"/>
                <a:ea typeface="Arial"/>
                <a:cs typeface="Arial"/>
              </a:rPr>
              <a:t>Give one leader authority across pricing, CRM, merchandising, and FP&amp;A.</a:t>
            </a:r>
          </a:p>
        </p:txBody>
      </p:sp>
      <p:sp>
        <p:nvSpPr>
          <p:cNvPr id="25" name="TextBox 24">
            <a:extLst>
              <a:ext uri="{FF2B5EF4-FFF2-40B4-BE49-F238E27FC236}">
                <a16:creationId xmlns:a16="http://schemas.microsoft.com/office/drawing/2014/main" id="{30224F7F-8B8D-410A-8BFE-B7E774DE3A86}"/>
              </a:ext>
            </a:extLst>
          </p:cNvPr>
          <p:cNvSpPr>
            <a:spLocks noGrp="1"/>
          </p:cNvSpPr>
          <p:nvPr/>
        </p:nvSpPr>
        <p:spPr>
          <a:xfrm>
            <a:off x="8391525" y="3228082"/>
            <a:ext cx="180975" cy="161925"/>
          </a:xfrm>
          <a:prstGeom prst="rect">
            <a:avLst/>
          </a:prstGeom>
          <a:noFill/>
        </p:spPr>
        <p:txBody>
          <a:bodyPr wrap="square" lIns="0" tIns="0" rIns="0" bIns="0" anchor="t">
            <a:spAutoFit/>
          </a:bodyPr>
          <a:lstStyle/>
          <a:p>
            <a:pPr algn="l">
              <a:buNone/>
              <a:defRPr>
                <a:latin typeface="Arial"/>
                <a:ea typeface="Arial"/>
                <a:cs typeface="Arial"/>
              </a:defRPr>
            </a:pPr>
            <a:r>
              <a:rPr sz="1050" b="1" i="0" u="none">
                <a:solidFill>
                  <a:srgbClr val="FFFFFF"/>
                </a:solidFill>
                <a:latin typeface="Arial"/>
                <a:ea typeface="Arial"/>
                <a:cs typeface="Arial"/>
              </a:rPr>
              <a:t>3</a:t>
            </a:r>
          </a:p>
        </p:txBody>
      </p:sp>
      <p:sp>
        <p:nvSpPr>
          <p:cNvPr id="26" name="TextBox 25">
            <a:extLst>
              <a:ext uri="{FF2B5EF4-FFF2-40B4-BE49-F238E27FC236}">
                <a16:creationId xmlns:a16="http://schemas.microsoft.com/office/drawing/2014/main" id="{0106575B-BFF0-48C5-B7BF-59B0BDB94C5D}"/>
              </a:ext>
            </a:extLst>
          </p:cNvPr>
          <p:cNvSpPr>
            <a:spLocks noGrp="1"/>
          </p:cNvSpPr>
          <p:nvPr/>
        </p:nvSpPr>
        <p:spPr>
          <a:xfrm>
            <a:off x="8315325" y="3551932"/>
            <a:ext cx="3876675" cy="205740"/>
          </a:xfrm>
          <a:prstGeom prst="rect">
            <a:avLst/>
          </a:prstGeom>
          <a:noFill/>
        </p:spPr>
        <p:txBody>
          <a:bodyPr wrap="none" lIns="0" tIns="0" rIns="0" bIns="0" anchor="t">
            <a:spAutoFit/>
          </a:bodyPr>
          <a:lstStyle/>
          <a:p>
            <a:pPr algn="l">
              <a:buNone/>
              <a:defRPr>
                <a:latin typeface="Arial"/>
                <a:ea typeface="Arial"/>
                <a:cs typeface="Arial"/>
              </a:defRPr>
            </a:pPr>
            <a:r>
              <a:rPr sz="1350" b="1" i="0" u="none">
                <a:solidFill>
                  <a:srgbClr val="FFFFFF"/>
                </a:solidFill>
                <a:latin typeface="Arial"/>
                <a:ea typeface="Arial"/>
                <a:cs typeface="Arial"/>
              </a:rPr>
              <a:t>Fund the Dashboard and Two Pilots</a:t>
            </a:r>
          </a:p>
        </p:txBody>
      </p:sp>
      <p:sp>
        <p:nvSpPr>
          <p:cNvPr id="27" name="TextBox 26">
            <a:extLst>
              <a:ext uri="{FF2B5EF4-FFF2-40B4-BE49-F238E27FC236}">
                <a16:creationId xmlns:a16="http://schemas.microsoft.com/office/drawing/2014/main" id="{6CBD5E52-DC3F-4FE5-BF06-4FA03F02F869}"/>
              </a:ext>
            </a:extLst>
          </p:cNvPr>
          <p:cNvSpPr>
            <a:spLocks noGrp="1"/>
          </p:cNvSpPr>
          <p:nvPr/>
        </p:nvSpPr>
        <p:spPr>
          <a:xfrm>
            <a:off x="8315325" y="3828157"/>
            <a:ext cx="3200400" cy="373380"/>
          </a:xfrm>
          <a:prstGeom prst="rect">
            <a:avLst/>
          </a:prstGeom>
          <a:noFill/>
        </p:spPr>
        <p:txBody>
          <a:bodyPr wrap="square" lIns="0" tIns="0" rIns="0" bIns="0" anchor="t">
            <a:spAutoFit/>
          </a:bodyPr>
          <a:lstStyle/>
          <a:p>
            <a:pPr algn="l">
              <a:lnSpc>
                <a:spcPts val="1470"/>
              </a:lnSpc>
              <a:buNone/>
              <a:defRPr>
                <a:latin typeface="Arial"/>
                <a:ea typeface="Arial"/>
                <a:cs typeface="Arial"/>
              </a:defRPr>
            </a:pPr>
            <a:r>
              <a:rPr sz="1050" b="0" i="0" u="none">
                <a:solidFill>
                  <a:srgbClr val="94A3B8"/>
                </a:solidFill>
                <a:latin typeface="Arial"/>
                <a:ea typeface="Arial"/>
                <a:cs typeface="Arial"/>
              </a:rPr>
              <a:t>Use the $6.0M envelope for the dashboard, two controlled pilots, and Finance verification.</a:t>
            </a:r>
          </a:p>
        </p:txBody>
      </p:sp>
    </p:spTree>
    <p:extLst>
      <p:ext uri="{BB962C8B-B14F-4D97-AF65-F5344CB8AC3E}">
        <p14:creationId xmlns:p14="http://schemas.microsoft.com/office/powerpoint/2010/main" val="1299282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759</TotalTime>
  <Words>1784</Words>
  <Application>Microsoft Macintosh PowerPoint</Application>
  <DocSecurity>0</DocSecurity>
  <PresentationFormat>Widescreen</PresentationFormat>
  <Paragraphs>216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Bhatta, Shalom</cp:lastModifiedBy>
  <cp:revision>7</cp:revision>
  <dcterms:created xsi:type="dcterms:W3CDTF">2026-09-20T00:11:13Z</dcterms:created>
  <dcterms:modified xsi:type="dcterms:W3CDTF">2026-09-20T12:56:13Z</dcterms:modified>
</cp:coreProperties>
</file>