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4.xml" ContentType="application/vnd.openxmlformats-officedocument.drawingml.chart+xml"/>
  <Override PartName="/ppt/slides/charts/chart1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b8c823d3f740c8" /><Relationship Type="http://schemas.openxmlformats.org/officeDocument/2006/relationships/extended-properties" Target="/docProps/app.xml" Id="R58575938587647a7" /><Relationship Type="http://schemas.openxmlformats.org/officeDocument/2006/relationships/officeDocument" Target="/ppt/presentation.xml" Id="Rbcb678aa1f3d4a43" /></Relationships>
</file>

<file path=ppt/presentation.xml><?xml version="1.0" encoding="utf-8"?>
<p:presentation xmlns:p="http://schemas.openxmlformats.org/presentationml/2006/main">
  <p:sldMasterIdLst>
    <p:sldMasterId xmlns:r="http://schemas.openxmlformats.org/officeDocument/2006/relationships" id="2147483648" r:id="R84318373e36249e9"/>
  </p:sldMasterIdLst>
  <p:notesMasterIdLst>
    <p:notesMasterId xmlns:r="http://schemas.openxmlformats.org/officeDocument/2006/relationships" r:id="R91757bcade4148cb"/>
  </p:notesMasterIdLst>
  <p:sldIdLst>
    <p:sldId xmlns:r="http://schemas.openxmlformats.org/officeDocument/2006/relationships" id="256" r:id="R59a624099288413f"/>
    <p:sldId xmlns:r="http://schemas.openxmlformats.org/officeDocument/2006/relationships" id="257" r:id="R6fe9b4517f0a46e6"/>
    <p:sldId xmlns:r="http://schemas.openxmlformats.org/officeDocument/2006/relationships" id="258" r:id="Rd6bc4a3815ba4634"/>
    <p:sldId xmlns:r="http://schemas.openxmlformats.org/officeDocument/2006/relationships" id="259" r:id="Rae531339c85442d4"/>
    <p:sldId xmlns:r="http://schemas.openxmlformats.org/officeDocument/2006/relationships" id="260" r:id="Rdb8eaedb96334482"/>
    <p:sldId xmlns:r="http://schemas.openxmlformats.org/officeDocument/2006/relationships" id="261" r:id="R0dba1148f0b64937"/>
    <p:sldId xmlns:r="http://schemas.openxmlformats.org/officeDocument/2006/relationships" id="262" r:id="R86935878ddd640e8"/>
    <p:sldId xmlns:r="http://schemas.openxmlformats.org/officeDocument/2006/relationships" id="263" r:id="R0218b11d77bf48c3"/>
    <p:sldId xmlns:r="http://schemas.openxmlformats.org/officeDocument/2006/relationships" id="264" r:id="R9574c180b10a4c7a"/>
    <p:sldId xmlns:r="http://schemas.openxmlformats.org/officeDocument/2006/relationships" id="265" r:id="Raf2a7ae8d1a5462e"/>
    <p:sldId xmlns:r="http://schemas.openxmlformats.org/officeDocument/2006/relationships" id="266" r:id="R9e70eaef604d4260"/>
    <p:sldId xmlns:r="http://schemas.openxmlformats.org/officeDocument/2006/relationships" id="267" r:id="R0d6e81c6a553445c"/>
    <p:sldId xmlns:r="http://schemas.openxmlformats.org/officeDocument/2006/relationships" id="268" r:id="Redd93ff1d2c94f53"/>
    <p:sldId xmlns:r="http://schemas.openxmlformats.org/officeDocument/2006/relationships" id="269" r:id="R015db71a17bf41c3"/>
    <p:sldId xmlns:r="http://schemas.openxmlformats.org/officeDocument/2006/relationships" id="270" r:id="R4041efbf606c40ac"/>
    <p:sldId xmlns:r="http://schemas.openxmlformats.org/officeDocument/2006/relationships" id="271" r:id="R7438e7233ad64b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f09b513281494c" /><Relationship Type="http://schemas.openxmlformats.org/officeDocument/2006/relationships/slideMaster" Target="/ppt/slideMasters/slideMaster1.xml" Id="R84318373e36249e9" /><Relationship Type="http://schemas.openxmlformats.org/officeDocument/2006/relationships/notesMaster" Target="/ppt/notesMasters/notesMaster1.xml" Id="R91757bcade4148cb" /><Relationship Type="http://schemas.openxmlformats.org/officeDocument/2006/relationships/presProps" Target="/ppt/presProps.xml" Id="R8e0743283f3c415f" /><Relationship Type="http://schemas.openxmlformats.org/officeDocument/2006/relationships/viewProps" Target="/ppt/viewProps.xml" Id="R4b7d29f3e7b94348" /><Relationship Type="http://schemas.openxmlformats.org/officeDocument/2006/relationships/tableStyles" Target="/ppt/tableStyles.xml" Id="R3454156471804494" /><Relationship Type="http://schemas.openxmlformats.org/officeDocument/2006/relationships/slide" Target="/ppt/slides/slide1.xml" Id="R59a624099288413f" /><Relationship Type="http://schemas.openxmlformats.org/officeDocument/2006/relationships/slide" Target="/ppt/slides/slide2.xml" Id="R6fe9b4517f0a46e6" /><Relationship Type="http://schemas.openxmlformats.org/officeDocument/2006/relationships/slide" Target="/ppt/slides/slide3.xml" Id="Rd6bc4a3815ba4634" /><Relationship Type="http://schemas.openxmlformats.org/officeDocument/2006/relationships/slide" Target="/ppt/slides/slide4.xml" Id="Rae531339c85442d4" /><Relationship Type="http://schemas.openxmlformats.org/officeDocument/2006/relationships/slide" Target="/ppt/slides/slide5.xml" Id="Rdb8eaedb96334482" /><Relationship Type="http://schemas.openxmlformats.org/officeDocument/2006/relationships/slide" Target="/ppt/slides/slide6.xml" Id="R0dba1148f0b64937" /><Relationship Type="http://schemas.openxmlformats.org/officeDocument/2006/relationships/slide" Target="/ppt/slides/slide7.xml" Id="R86935878ddd640e8" /><Relationship Type="http://schemas.openxmlformats.org/officeDocument/2006/relationships/slide" Target="/ppt/slides/slide8.xml" Id="R0218b11d77bf48c3" /><Relationship Type="http://schemas.openxmlformats.org/officeDocument/2006/relationships/slide" Target="/ppt/slides/slide9.xml" Id="R9574c180b10a4c7a" /><Relationship Type="http://schemas.openxmlformats.org/officeDocument/2006/relationships/slide" Target="/ppt/slides/slide10.xml" Id="Raf2a7ae8d1a5462e" /><Relationship Type="http://schemas.openxmlformats.org/officeDocument/2006/relationships/slide" Target="/ppt/slides/slide11.xml" Id="R9e70eaef604d4260" /><Relationship Type="http://schemas.openxmlformats.org/officeDocument/2006/relationships/slide" Target="/ppt/slides/slide12.xml" Id="R0d6e81c6a553445c" /><Relationship Type="http://schemas.openxmlformats.org/officeDocument/2006/relationships/slide" Target="/ppt/slides/slide13.xml" Id="Redd93ff1d2c94f53" /><Relationship Type="http://schemas.openxmlformats.org/officeDocument/2006/relationships/slide" Target="/ppt/slides/slide14.xml" Id="R015db71a17bf41c3" /><Relationship Type="http://schemas.openxmlformats.org/officeDocument/2006/relationships/slide" Target="/ppt/slides/slide15.xml" Id="R4041efbf606c40ac" /><Relationship Type="http://schemas.openxmlformats.org/officeDocument/2006/relationships/slide" Target="/ppt/slides/slide16.xml" Id="R7438e7233ad64b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b0fd1f9d8b4d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c9f937539747cc" /><Relationship Type="http://schemas.openxmlformats.org/officeDocument/2006/relationships/notesMaster" Target="/ppt/notesMasters/notesMaster1.xml" Id="R83eb8b806e2d49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4f6eec7fa44e2e" /><Relationship Type="http://schemas.openxmlformats.org/officeDocument/2006/relationships/notesMaster" Target="/ppt/notesMasters/notesMaster1.xml" Id="R64cbdd7aa39544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a8bdee0183457f" /><Relationship Type="http://schemas.openxmlformats.org/officeDocument/2006/relationships/notesMaster" Target="/ppt/notesMasters/notesMaster1.xml" Id="R6220737c66f548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da96c2a5714bc8" /><Relationship Type="http://schemas.openxmlformats.org/officeDocument/2006/relationships/notesMaster" Target="/ppt/notesMasters/notesMaster1.xml" Id="Rd992e53b549845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4aae5fbda0463e" /><Relationship Type="http://schemas.openxmlformats.org/officeDocument/2006/relationships/notesMaster" Target="/ppt/notesMasters/notesMaster1.xml" Id="R61d2d3df4d1746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297483dd0e4cc0" /><Relationship Type="http://schemas.openxmlformats.org/officeDocument/2006/relationships/notesMaster" Target="/ppt/notesMasters/notesMaster1.xml" Id="R4e2ef884c6fe43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aeaf69c27b4ad2" /><Relationship Type="http://schemas.openxmlformats.org/officeDocument/2006/relationships/notesMaster" Target="/ppt/notesMasters/notesMaster1.xml" Id="R20c6c618789047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6131f1a4d24c78" /><Relationship Type="http://schemas.openxmlformats.org/officeDocument/2006/relationships/notesMaster" Target="/ppt/notesMasters/notesMaster1.xml" Id="R096f5ee1585c4e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9cdaa800c14d6b" /><Relationship Type="http://schemas.openxmlformats.org/officeDocument/2006/relationships/notesMaster" Target="/ppt/notesMasters/notesMaster1.xml" Id="R5fe7f791e53d4a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f3ae0337f1417e" /><Relationship Type="http://schemas.openxmlformats.org/officeDocument/2006/relationships/notesMaster" Target="/ppt/notesMasters/notesMaster1.xml" Id="R3c234774b72a42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d890b59f784c40" /><Relationship Type="http://schemas.openxmlformats.org/officeDocument/2006/relationships/notesMaster" Target="/ppt/notesMasters/notesMaster1.xml" Id="Rbeb1e0315bbd42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6ecc9c22584f33" /><Relationship Type="http://schemas.openxmlformats.org/officeDocument/2006/relationships/notesMaster" Target="/ppt/notesMasters/notesMaster1.xml" Id="R341ea06437584a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3f591c5dfa4c69" /><Relationship Type="http://schemas.openxmlformats.org/officeDocument/2006/relationships/notesMaster" Target="/ppt/notesMasters/notesMaster1.xml" Id="Re452766d2c8e41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09f2d838944a80" /><Relationship Type="http://schemas.openxmlformats.org/officeDocument/2006/relationships/notesMaster" Target="/ppt/notesMasters/notesMaster1.xml" Id="R910ca0555ab247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470723eeaf404c" /><Relationship Type="http://schemas.openxmlformats.org/officeDocument/2006/relationships/notesMaster" Target="/ppt/notesMasters/notesMaster1.xml" Id="R58699596a7c048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02125242a44443c" /><Relationship Type="http://schemas.openxmlformats.org/officeDocument/2006/relationships/notesMaster" Target="/ppt/notesMasters/notesMaster1.xml" Id="R9a8189fbf44b4c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start with where HRG wants to end: more profit from the growth the business already has. The recommendation concentrates on four problems that can be tested in Q1 and Q2, using a live dashboard and a 180-day action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destination is 12 million dollars in verified annual profit uplift. That raises projected profit from 38.4 to 50.4 million dollars and margin from 9.9 to 13 percent, holding revenue constant. Finance verifies each benefit before it enters the value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one-minute demonstration. Choose one of the four problems, change the region, and use the promotion test or customer segment view. The final screen names the owner, next action, and success threshold. I will now show that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HRG has seven problem areas. The pitch focuses on the first four because the current data supports immediate owners, controlled tests, and measurable value. Fragmented reporting enables the work through the dashboard. Inventory, supply chain, and logistics return in Q3.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reason to act is the widening gap between growth and profit. Revenue growth reached 12.7 percent in 2025 while profit growth fell to negative 4.8 percent. Leadership estimates that HRG loses 18 to 25 million dollars in profit each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one is promotion margin. No Promotion produces 23.4 percent margin. BOGO falls to negative 16.4 percent and Clearance to negative 35.6 percent. Units per record do not show a measurable lift. The first decision is a margin floor, an ROI threshold, a holdout, and a stop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two is hidden loss. The company is profitable overall, yet 54.5 percent of observations lose money. Labor remains near 23 million dollars in each sales-size group. The weekly loss-pocket file should rank the top 50 recurring pockets and assign each one to an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Problems three and four concern customer value and churn. The top quartile holds 55 percent of customer lifetime value. Loyalty tiers do not separate value well, and Bronze has the highest observed churn rate. HRG should pair value with risk before spending a retention dollar.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by Risk view identifies 1,408 Protect-now customers. The first retention test uses a narrow audience, a capped 10-percent offer, and a randomized 15-percent holdout. Service activity comes before discounts for the Grow-and-retain segment.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models support decisions but do not replace experiments. The churn model ranks outreach. The promotion model estimates profit under different rules. A holdout group and Finance reconciliation determine whether HRG created incremental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has four phases. The first 30 days control leakage and establish the baseline. Days 31 to 60 run two pilots. Days 61 to 120 measure the result and close loss pockets. The final phase scales only the rules that cleared the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Supply chain and logistics remain in scope for Q3. The file has a 449.7-million-dollar cost base and no transaction key linking it to retail activity. Finance reconciles the baseline in Q2 before HRG opens the supplier, inventory, and logistics workstream.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asking for three decisions. Approve the promotion guardrails. Name one executive value owner. Fund the dashboard and two controlled pilots within the 6-million-dollar implementation envelope. The Q3 operating case returns after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connects the four priorities to the base-case economics and documents the planning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explains the three datasets, their coverage, and the limits created by the lack of a shared transaction or customer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preserves the original assignment agenda for reference. The main presentation follows the consultant-pitch sequence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b486758e7746c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A1BD9750-3646-4327-BD81-51E83C4AC997}"/>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0d5d8d99164016" /><Relationship Type="http://schemas.openxmlformats.org/officeDocument/2006/relationships/slideLayout" Target="/ppt/slideLayouts/slideLayout1.xml" Id="R9dd780b702714de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766CD065-DDCD-41BC-B0EE-4A6C45B5A66C}"/>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d780b702714de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d61011ee4f4eae" /><Relationship Type="http://schemas.openxmlformats.org/officeDocument/2006/relationships/image" Target="/ppt/media/image.png" Id="R08a8ae2125d041a7" /><Relationship Type="http://schemas.openxmlformats.org/officeDocument/2006/relationships/notesSlide" Target="/ppt/notesSlides/notesSlide1.xml" Id="Rc2dd7d3d1f8f40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9e40496946403c" /><Relationship Type="http://schemas.openxmlformats.org/officeDocument/2006/relationships/chart" Target="/ppt/slides/charts/chart1.xml" Id="R10acbd0f64bb401b" /><Relationship Type="http://schemas.openxmlformats.org/officeDocument/2006/relationships/notesSlide" Target="/ppt/notesSlides/notesSlide2.xml" Id="R8a5fb0439c1147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502a2b52114b57" /><Relationship Type="http://schemas.openxmlformats.org/officeDocument/2006/relationships/chart" Target="/ppt/slides/charts/chart2.xml" Id="R4000d45a51a44ad6" /><Relationship Type="http://schemas.openxmlformats.org/officeDocument/2006/relationships/chart" Target="/ppt/slides/charts/chart3.xml" Id="Ra13d1c52615f4c5e" /><Relationship Type="http://schemas.openxmlformats.org/officeDocument/2006/relationships/chart" Target="/ppt/slides/charts/chart4.xml" Id="R594b70c0e562421c" /><Relationship Type="http://schemas.openxmlformats.org/officeDocument/2006/relationships/chart" Target="/ppt/slides/charts/chart5.xml" Id="Rb54d896acf37490a" /><Relationship Type="http://schemas.openxmlformats.org/officeDocument/2006/relationships/notesSlide" Target="/ppt/notesSlides/notesSlide3.xml" Id="Re27d51fa8aee43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e198c7bef94539" /><Relationship Type="http://schemas.openxmlformats.org/officeDocument/2006/relationships/notesSlide" Target="/ppt/notesSlides/notesSlide4.xml" Id="R6c1ff856eaa44a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5f4755a949400d" /><Relationship Type="http://schemas.openxmlformats.org/officeDocument/2006/relationships/chart" Target="/ppt/slides/charts/chart6.xml" Id="R49809fd759ea41fb" /><Relationship Type="http://schemas.openxmlformats.org/officeDocument/2006/relationships/notesSlide" Target="/ppt/notesSlides/notesSlide5.xml" Id="R2ac7b070932f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027e85f46f4147" /><Relationship Type="http://schemas.openxmlformats.org/officeDocument/2006/relationships/chart" Target="/ppt/slides/charts/chart7.xml" Id="Rf7db95c76d494cfa" /><Relationship Type="http://schemas.openxmlformats.org/officeDocument/2006/relationships/chart" Target="/ppt/slides/charts/chart8.xml" Id="R8583b0f7149e4c58" /><Relationship Type="http://schemas.openxmlformats.org/officeDocument/2006/relationships/notesSlide" Target="/ppt/notesSlides/notesSlide6.xml" Id="Rb49fc754d15b43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1d54c4c1114d30" /><Relationship Type="http://schemas.openxmlformats.org/officeDocument/2006/relationships/chart" Target="/ppt/slides/charts/chart9.xml" Id="R1a50fb84c38648dc" /><Relationship Type="http://schemas.openxmlformats.org/officeDocument/2006/relationships/notesSlide" Target="/ppt/notesSlides/notesSlide7.xml" Id="Rc17d8183987c48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6146bd19f34b63" /><Relationship Type="http://schemas.openxmlformats.org/officeDocument/2006/relationships/chart" Target="/ppt/slides/charts/chart10.xml" Id="R8e6247fdbbb14bea" /><Relationship Type="http://schemas.openxmlformats.org/officeDocument/2006/relationships/chart" Target="/ppt/slides/charts/chart11.xml" Id="Re7f477334b5949cc" /><Relationship Type="http://schemas.openxmlformats.org/officeDocument/2006/relationships/notesSlide" Target="/ppt/notesSlides/notesSlide8.xml" Id="R3dd6831285ce4e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beb277803b4c8a" /><Relationship Type="http://schemas.openxmlformats.org/officeDocument/2006/relationships/notesSlide" Target="/ppt/notesSlides/notesSlide9.xml" Id="R4ef79279588a47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6de44f285b4b71" /><Relationship Type="http://schemas.openxmlformats.org/officeDocument/2006/relationships/chart" Target="/ppt/slides/charts/chart12.xml" Id="R1eb41da5b87d4a2a" /><Relationship Type="http://schemas.openxmlformats.org/officeDocument/2006/relationships/chart" Target="/ppt/slides/charts/chart13.xml" Id="Re5bf412b9d4e49fa" /><Relationship Type="http://schemas.openxmlformats.org/officeDocument/2006/relationships/notesSlide" Target="/ppt/notesSlides/notesSlide10.xml" Id="R83e7a2f99cf04e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b2801db2744f52" /><Relationship Type="http://schemas.openxmlformats.org/officeDocument/2006/relationships/notesSlide" Target="/ppt/notesSlides/notesSlide11.xml" Id="Rcfe383e52f044c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17400f7fac4e44" /><Relationship Type="http://schemas.openxmlformats.org/officeDocument/2006/relationships/chart" Target="/ppt/slides/charts/chart14.xml" Id="Re4de80e75ea74bc5" /><Relationship Type="http://schemas.openxmlformats.org/officeDocument/2006/relationships/chart" Target="/ppt/slides/charts/chart15.xml" Id="Rbabe4081625b4af7" /><Relationship Type="http://schemas.openxmlformats.org/officeDocument/2006/relationships/notesSlide" Target="/ppt/notesSlides/notesSlide12.xml" Id="Re3aa1581bebc49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7ae288f4e4464e" /><Relationship Type="http://schemas.openxmlformats.org/officeDocument/2006/relationships/notesSlide" Target="/ppt/notesSlides/notesSlide13.xml" Id="Rb4a89476d77e40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4c10cbbc714a0d" /><Relationship Type="http://schemas.openxmlformats.org/officeDocument/2006/relationships/notesSlide" Target="/ppt/notesSlides/notesSlide14.xml" Id="R2619314c380441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b9019cc25164f00" /><Relationship Type="http://schemas.openxmlformats.org/officeDocument/2006/relationships/notesSlide" Target="/ppt/notesSlides/notesSlide15.xml" Id="R219f4ee051014d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dec91fca4de4d68" /><Relationship Type="http://schemas.openxmlformats.org/officeDocument/2006/relationships/image" Target="/ppt/media/image2.png" Id="R9b81d8e28bbf48b2" /><Relationship Type="http://schemas.openxmlformats.org/officeDocument/2006/relationships/notesSlide" Target="/ppt/notesSlides/notesSlide16.xml" Id="R8eb83ba89f1a44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Promotion guardrails</c:v>
          </c:tx>
          <c:spPr>
            <a:solidFill xmlns:a="http://schemas.openxmlformats.org/drawingml/2006/main">
              <a:srgbClr val="EA580C"/>
            </a:solidFill>
          </c:spPr>
          <c:cat>
            <c:strRef>
              <c:f>'Chart Data'!$A$2:$A$4</c:f>
              <c:strCache>
                <c:ptCount val="3"/>
                <c:pt idx="0">
                  <c:v>Downside +$5.5M</c:v>
                </c:pt>
                <c:pt idx="1">
                  <c:v>Base +$12.0M</c:v>
                </c:pt>
                <c:pt idx="2">
                  <c:v>Upside +$17.0M</c:v>
                </c:pt>
              </c:strCache>
            </c:strRef>
          </c:cat>
          <c:val>
            <c:numRef>
              <c:f>'Chart Data'!$B$2:$B$4</c:f>
              <c:numCache>
                <c:formatCode>$0M</c:formatCode>
                <c:ptCount val="3"/>
                <c:pt idx="0">
                  <c:v>1.8</c:v>
                </c:pt>
                <c:pt idx="1">
                  <c:v>4.2</c:v>
                </c:pt>
                <c:pt idx="2">
                  <c:v>6</c:v>
                </c:pt>
              </c:numCache>
            </c:numRef>
          </c:val>
        </c:ser>
        <c:ser>
          <c:idx val="1"/>
          <c:order val="1"/>
          <c:tx>
            <c:v>Close loss pockets</c:v>
          </c:tx>
          <c:spPr>
            <a:solidFill xmlns:a="http://schemas.openxmlformats.org/drawingml/2006/main">
              <a:srgbClr val="D6D3D1"/>
            </a:solidFill>
          </c:spPr>
          <c:cat>
            <c:strRef>
              <c:f>'Chart Data'!$C$2:$C$4</c:f>
              <c:strCache>
                <c:ptCount val="3"/>
                <c:pt idx="0">
                  <c:v>Downside +$5.5M</c:v>
                </c:pt>
                <c:pt idx="1">
                  <c:v>Base +$12.0M</c:v>
                </c:pt>
                <c:pt idx="2">
                  <c:v>Upside +$17.0M</c:v>
                </c:pt>
              </c:strCache>
            </c:strRef>
          </c:cat>
          <c:val>
            <c:numRef>
              <c:f>'Chart Data'!$D$2:$D$4</c:f>
              <c:numCache>
                <c:formatCode>$0M</c:formatCode>
                <c:ptCount val="3"/>
                <c:pt idx="0">
                  <c:v>1.6</c:v>
                </c:pt>
                <c:pt idx="1">
                  <c:v>3.8</c:v>
                </c:pt>
                <c:pt idx="2">
                  <c:v>5.2</c:v>
                </c:pt>
              </c:numCache>
            </c:numRef>
          </c:val>
        </c:ser>
        <c:ser>
          <c:idx val="2"/>
          <c:order val="2"/>
          <c:tx>
            <c:v>Value × Risk retention</c:v>
          </c:tx>
          <c:spPr>
            <a:solidFill xmlns:a="http://schemas.openxmlformats.org/drawingml/2006/main">
              <a:srgbClr val="A8A29E"/>
            </a:solidFill>
          </c:spPr>
          <c:cat>
            <c:strRef>
              <c:f>'Chart Data'!$E$2:$E$4</c:f>
              <c:strCache>
                <c:ptCount val="3"/>
                <c:pt idx="0">
                  <c:v>Downside +$5.5M</c:v>
                </c:pt>
                <c:pt idx="1">
                  <c:v>Base +$12.0M</c:v>
                </c:pt>
                <c:pt idx="2">
                  <c:v>Upside +$17.0M</c:v>
                </c:pt>
              </c:strCache>
            </c:strRef>
          </c:cat>
          <c:val>
            <c:numRef>
              <c:f>'Chart Data'!$F$2:$F$4</c:f>
              <c:numCache>
                <c:formatCode>$0M</c:formatCode>
                <c:ptCount val="3"/>
                <c:pt idx="0">
                  <c:v>1.2</c:v>
                </c:pt>
                <c:pt idx="1">
                  <c:v>2.5</c:v>
                </c:pt>
                <c:pt idx="2">
                  <c:v>3.5</c:v>
                </c:pt>
              </c:numCache>
            </c:numRef>
          </c:val>
        </c:ser>
        <c:ser>
          <c:idx val="3"/>
          <c:order val="3"/>
          <c:tx>
            <c:v>Cost + assortment</c:v>
          </c:tx>
          <c:spPr>
            <a:solidFill xmlns:a="http://schemas.openxmlformats.org/drawingml/2006/main">
              <a:srgbClr val="292524"/>
            </a:solidFill>
          </c:spPr>
          <c:cat>
            <c:strRef>
              <c:f>'Chart Data'!$G$2:$G$4</c:f>
              <c:strCache>
                <c:ptCount val="3"/>
                <c:pt idx="0">
                  <c:v>Downside +$5.5M</c:v>
                </c:pt>
                <c:pt idx="1">
                  <c:v>Base +$12.0M</c:v>
                </c:pt>
                <c:pt idx="2">
                  <c:v>Upside +$17.0M</c:v>
                </c:pt>
              </c:strCache>
            </c:strRef>
          </c:cat>
          <c:val>
            <c:numRef>
              <c:f>'Chart Data'!$H$2:$H$4</c:f>
              <c:numCache>
                <c:formatCode>$0M</c:formatCode>
                <c:ptCount val="3"/>
                <c:pt idx="0">
                  <c:v>0.9</c:v>
                </c:pt>
                <c:pt idx="1">
                  <c:v>1.5</c:v>
                </c:pt>
                <c:pt idx="2">
                  <c:v>2.3</c:v>
                </c:pt>
              </c:numCache>
            </c:numRef>
          </c:val>
        </c:ser>
        <c:gapWidth val="5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1125">
                <a:solidFill>
                  <a:srgbClr val="57534E"/>
                </a:solidFill>
                <a:latin typeface="Calibri"/>
                <a:ea typeface="Calibri"/>
                <a:cs typeface="Calibri"/>
              </a:defRPr>
            </a:pPr>
          </a:p>
        </c:txPr>
        <c:crossAx val="48672768"/>
      </c:catAx>
      <c:valAx>
        <c:axId val="48672768"/>
        <c:scaling>
          <c:orientation val="minMax"/>
          <c:max val="18"/>
          <c:min val="0"/>
        </c:scaling>
        <c:delete val="0"/>
        <c:axPos val="l"/>
        <c:majorGridlines>
          <c:spPr>
            <a:ln xmlns:a="http://schemas.openxmlformats.org/drawingml/2006/main" w="9525">
              <a:solidFill>
                <a:srgbClr val="E7E5E4"/>
              </a:solidFill>
              <a:prstDash val="solid"/>
            </a:ln>
          </c:spPr>
        </c:majorGridlines>
        <c:numFmt formatCode="$0M"/>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A8A29E"/>
                </a:solidFill>
                <a:latin typeface="Calibri"/>
                <a:ea typeface="Calibri"/>
                <a:cs typeface="Calibri"/>
              </a:defRPr>
            </a:pPr>
          </a:p>
        </c:txPr>
        <c:crossAx val="48650112"/>
        <c:crossBetween val="between"/>
        <c:majorUnit val="3"/>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7534E"/>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Profit ($M)</c:v>
          </c:tx>
          <c:spPr>
            <a:solidFill xmlns:a="http://schemas.openxmlformats.org/drawingml/2006/main">
              <a:srgbClr val="BBB6B2"/>
            </a:solidFill>
          </c:spPr>
          <c:dPt>
            <c:idx val="0"/>
            <c:invertIfNegative val="0"/>
            <c:spPr>
              <a:solidFill xmlns:a="http://schemas.openxmlformats.org/drawingml/2006/main">
                <a:srgbClr val="EA580C"/>
              </a:solidFill>
            </c:spPr>
          </c:dPt>
          <c:cat>
            <c:strRef>
              <c:f>'Chart Data'!$A$2:$A$9</c:f>
              <c:strCache>
                <c:ptCount val="8"/>
                <c:pt idx="0">
                  <c:v>Home</c:v>
                </c:pt>
                <c:pt idx="1">
                  <c:v>Elec.</c:v>
                </c:pt>
                <c:pt idx="2">
                  <c:v>Beauty</c:v>
                </c:pt>
                <c:pt idx="3">
                  <c:v>Appar.</c:v>
                </c:pt>
                <c:pt idx="4">
                  <c:v>Sport</c:v>
                </c:pt>
                <c:pt idx="5">
                  <c:v>Toys</c:v>
                </c:pt>
                <c:pt idx="6">
                  <c:v>Groc.</c:v>
                </c:pt>
                <c:pt idx="7">
                  <c:v>Seas.</c:v>
                </c:pt>
              </c:strCache>
            </c:strRef>
          </c:cat>
          <c:val>
            <c:numRef>
              <c:f>'Chart Data'!$B$2:$B$9</c:f>
              <c:numCache>
                <c:formatCode>0.0</c:formatCode>
                <c:ptCount val="8"/>
                <c:pt idx="0">
                  <c:v>6.057</c:v>
                </c:pt>
                <c:pt idx="1">
                  <c:v>5.3996</c:v>
                </c:pt>
                <c:pt idx="2">
                  <c:v>5.3708</c:v>
                </c:pt>
                <c:pt idx="3">
                  <c:v>5.2623</c:v>
                </c:pt>
                <c:pt idx="4">
                  <c:v>4.5516</c:v>
                </c:pt>
                <c:pt idx="5">
                  <c:v>4.1477</c:v>
                </c:pt>
                <c:pt idx="6">
                  <c:v>4.1142</c:v>
                </c:pt>
                <c:pt idx="7">
                  <c:v>3.4673</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750">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Churn rate</c:v>
          </c:tx>
          <c:spPr>
            <a:solidFill xmlns:a="http://schemas.openxmlformats.org/drawingml/2006/main">
              <a:srgbClr val="BBB6B2"/>
            </a:solidFill>
          </c:spPr>
          <c:dPt>
            <c:idx val="0"/>
            <c:invertIfNegative val="0"/>
            <c:spPr>
              <a:solidFill xmlns:a="http://schemas.openxmlformats.org/drawingml/2006/main">
                <a:srgbClr val="EA580C"/>
              </a:solidFill>
            </c:spPr>
          </c:dPt>
          <c:cat>
            <c:strRef>
              <c:f>'Chart Data'!$A$2:$A$5</c:f>
              <c:strCache>
                <c:ptCount val="4"/>
                <c:pt idx="0">
                  <c:v>Bronze</c:v>
                </c:pt>
                <c:pt idx="1">
                  <c:v>Silver</c:v>
                </c:pt>
                <c:pt idx="2">
                  <c:v>Gold</c:v>
                </c:pt>
                <c:pt idx="3">
                  <c:v>Platinum</c:v>
                </c:pt>
              </c:strCache>
            </c:strRef>
          </c:cat>
          <c:val>
            <c:numRef>
              <c:f>'Chart Data'!$B$2:$B$5</c:f>
              <c:numCache>
                <c:formatCode>0.0%</c:formatCode>
                <c:ptCount val="4"/>
                <c:pt idx="0">
                  <c:v>0.0614022762</c:v>
                </c:pt>
                <c:pt idx="1">
                  <c:v>0.0302314596</c:v>
                </c:pt>
                <c:pt idx="2">
                  <c:v>0.036036036</c:v>
                </c:pt>
                <c:pt idx="3">
                  <c:v>0.0368239356</c:v>
                </c:pt>
              </c:numCache>
            </c:numRef>
          </c:val>
        </c:ser>
        <c:dLbls>
          <c:txPr>
            <a:bodyPr xmlns:a="http://schemas.openxmlformats.org/drawingml/2006/main" anchorCtr="1"/>
            <a:lstStyle xmlns:a="http://schemas.openxmlformats.org/drawingml/2006/main"/>
            <a:p xmlns:a="http://schemas.openxmlformats.org/drawingml/2006/main">
              <a:pPr>
                <a:defRPr sz="825"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82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Supply-chain risk</c:v>
          </c:tx>
          <c:spPr>
            <a:solidFill xmlns:a="http://schemas.openxmlformats.org/drawingml/2006/main">
              <a:srgbClr val="BBB6B2"/>
            </a:solidFill>
          </c:spPr>
          <c:dPt>
            <c:idx val="3"/>
            <c:invertIfNegative val="0"/>
            <c:spPr>
              <a:solidFill xmlns:a="http://schemas.openxmlformats.org/drawingml/2006/main">
                <a:srgbClr val="EA580C"/>
              </a:solidFill>
            </c:spPr>
          </c:dPt>
          <c:cat>
            <c:strRef>
              <c:f>'Chart Data'!$A$2:$A$5</c:f>
              <c:strCache>
                <c:ptCount val="4"/>
                <c:pt idx="0">
                  <c:v>≤15</c:v>
                </c:pt>
                <c:pt idx="1">
                  <c:v>16–30</c:v>
                </c:pt>
                <c:pt idx="2">
                  <c:v>31–45</c:v>
                </c:pt>
                <c:pt idx="3">
                  <c:v>46–60</c:v>
                </c:pt>
              </c:strCache>
            </c:strRef>
          </c:cat>
          <c:val>
            <c:numRef>
              <c:f>'Chart Data'!$B$2:$B$5</c:f>
              <c:numCache>
                <c:formatCode>0</c:formatCode>
                <c:ptCount val="4"/>
                <c:pt idx="0">
                  <c:v>26.8665</c:v>
                </c:pt>
                <c:pt idx="1">
                  <c:v>34.2898</c:v>
                </c:pt>
                <c:pt idx="2">
                  <c:v>41.9418</c:v>
                </c:pt>
                <c:pt idx="3">
                  <c:v>49.0073</c:v>
                </c:pt>
              </c:numCache>
            </c:numRef>
          </c:val>
        </c:ser>
        <c:dLbls>
          <c:txPr>
            <a:bodyPr xmlns:a="http://schemas.openxmlformats.org/drawingml/2006/main" anchorCtr="1"/>
            <a:lstStyle xmlns:a="http://schemas.openxmlformats.org/drawingml/2006/main"/>
            <a:p xmlns:a="http://schemas.openxmlformats.org/drawingml/2006/main">
              <a:pPr>
                <a:defRPr sz="825"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82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Profit margin</c:v>
          </c:tx>
          <c:spPr>
            <a:solidFill xmlns:a="http://schemas.openxmlformats.org/drawingml/2006/main">
              <a:srgbClr val="BBB6B2"/>
            </a:solidFill>
          </c:spPr>
          <c:invertIfNegative val="0"/>
          <c:dPt>
            <c:idx val="3"/>
            <c:invertIfNegative val="0"/>
            <c:spPr>
              <a:solidFill xmlns:a="http://schemas.openxmlformats.org/drawingml/2006/main">
                <a:srgbClr val="BF1D1D"/>
              </a:solidFill>
            </c:spPr>
          </c:dPt>
          <c:dPt>
            <c:idx val="4"/>
            <c:invertIfNegative val="0"/>
            <c:spPr>
              <a:solidFill xmlns:a="http://schemas.openxmlformats.org/drawingml/2006/main">
                <a:srgbClr val="BF1D1D"/>
              </a:solidFill>
            </c:spPr>
          </c:dPt>
          <c:cat>
            <c:strRef>
              <c:f>'Chart Data'!$A$2:$A$6</c:f>
              <c:strCache>
                <c:ptCount val="5"/>
                <c:pt idx="0">
                  <c:v>None</c:v>
                </c:pt>
                <c:pt idx="1">
                  <c:v>10%</c:v>
                </c:pt>
                <c:pt idx="2">
                  <c:v>20%</c:v>
                </c:pt>
                <c:pt idx="3">
                  <c:v>BOGO</c:v>
                </c:pt>
                <c:pt idx="4">
                  <c:v>Clear.</c:v>
                </c:pt>
              </c:strCache>
            </c:strRef>
          </c:cat>
          <c:val>
            <c:numRef>
              <c:f>'Chart Data'!$B$2:$B$6</c:f>
              <c:numCache>
                <c:formatCode>0%</c:formatCode>
                <c:ptCount val="5"/>
                <c:pt idx="0">
                  <c:v>0.2389224628</c:v>
                </c:pt>
                <c:pt idx="1">
                  <c:v>0.1603511036</c:v>
                </c:pt>
                <c:pt idx="2">
                  <c:v>0.0520839279</c:v>
                </c:pt>
                <c:pt idx="3">
                  <c:v>-0.164840551</c:v>
                </c:pt>
                <c:pt idx="4">
                  <c:v>-0.3514750409</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750">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ser>
          <c:idx val="0"/>
          <c:order val="0"/>
          <c:tx>
            <c:v>Revenue growth</c:v>
          </c:tx>
          <c:spPr>
            <a:ln xmlns:a="http://schemas.openxmlformats.org/drawingml/2006/main" w="28575">
              <a:solidFill>
                <a:srgbClr val="EA580C"/>
              </a:solidFill>
              <a:prstDash val="solid"/>
            </a:ln>
          </c:spPr>
          <c:marker>
            <c:symbol val="circle"/>
            <c:size val="9"/>
            <c:spPr>
              <a:solidFill xmlns:a="http://schemas.openxmlformats.org/drawingml/2006/main">
                <a:srgbClr val="EA580C"/>
              </a:solidFill>
            </c:spPr>
          </c:marker>
          <c:cat>
            <c:numRef>
              <c:f>'Chart Data'!$A$2:$A$5</c:f>
              <c:numCache>
                <c:formatCode>General</c:formatCode>
                <c:ptCount val="4"/>
                <c:pt idx="0">
                  <c:v>2022</c:v>
                </c:pt>
                <c:pt idx="1">
                  <c:v>2023</c:v>
                </c:pt>
                <c:pt idx="2">
                  <c:v>2024</c:v>
                </c:pt>
                <c:pt idx="3">
                  <c:v>2025</c:v>
                </c:pt>
              </c:numCache>
            </c:numRef>
          </c:cat>
          <c:val>
            <c:numRef>
              <c:f>'Chart Data'!$B$2:$B$5</c:f>
              <c:numCache>
                <c:formatCode>0.0"%"</c:formatCode>
                <c:ptCount val="4"/>
                <c:pt idx="0">
                  <c:v>5.8</c:v>
                </c:pt>
                <c:pt idx="1">
                  <c:v>8.1</c:v>
                </c:pt>
                <c:pt idx="2">
                  <c:v>10.4</c:v>
                </c:pt>
                <c:pt idx="3">
                  <c:v>12.7</c:v>
                </c:pt>
              </c:numCache>
            </c:numRef>
          </c:val>
        </c:ser>
        <c:ser>
          <c:idx val="1"/>
          <c:order val="1"/>
          <c:tx>
            <c:v>Profit growth</c:v>
          </c:tx>
          <c:spPr>
            <a:ln xmlns:a="http://schemas.openxmlformats.org/drawingml/2006/main" w="28575">
              <a:solidFill>
                <a:srgbClr val="292524"/>
              </a:solidFill>
              <a:prstDash val="solid"/>
            </a:ln>
          </c:spPr>
          <c:marker>
            <c:symbol val="circle"/>
            <c:size val="9"/>
            <c:spPr>
              <a:solidFill xmlns:a="http://schemas.openxmlformats.org/drawingml/2006/main">
                <a:srgbClr val="292524"/>
              </a:solidFill>
            </c:spPr>
          </c:marker>
          <c:cat>
            <c:numRef>
              <c:f>'Chart Data'!$C$2:$C$5</c:f>
              <c:numCache>
                <c:formatCode>General</c:formatCode>
                <c:ptCount val="4"/>
                <c:pt idx="0">
                  <c:v>2022</c:v>
                </c:pt>
                <c:pt idx="1">
                  <c:v>2023</c:v>
                </c:pt>
                <c:pt idx="2">
                  <c:v>2024</c:v>
                </c:pt>
                <c:pt idx="3">
                  <c:v>2025</c:v>
                </c:pt>
              </c:numCache>
            </c:numRef>
          </c:cat>
          <c:val>
            <c:numRef>
              <c:f>'Chart Data'!$D$2:$D$5</c:f>
              <c:numCache>
                <c:formatCode>0.0"%"</c:formatCode>
                <c:ptCount val="4"/>
                <c:pt idx="0">
                  <c:v>3.2</c:v>
                </c:pt>
                <c:pt idx="1">
                  <c:v>0.5</c:v>
                </c:pt>
                <c:pt idx="2">
                  <c:v>-2.1</c:v>
                </c:pt>
                <c:pt idx="3">
                  <c:v>-4.8</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max val="16"/>
          <c:min val="-8"/>
        </c:scaling>
        <c:delete val="0"/>
        <c:axPos val="l"/>
        <c:majorGridlines>
          <c:spPr>
            <a:ln xmlns:a="http://schemas.openxmlformats.org/drawingml/2006/main" w="9525">
              <a:solidFill>
                <a:srgbClr val="E7E5E4"/>
              </a:solidFill>
              <a:prstDash val="solid"/>
            </a:ln>
          </c:spPr>
        </c:majorGridlines>
        <c:numFmt formatCode="0&quot;%&quot;"/>
        <c:majorTickMark val="none"/>
        <c:minorTickMark val="none"/>
        <c:spPr>
          <a:ln xmlns:a="http://schemas.openxmlformats.org/drawingml/2006/main" w="9525">
            <a:solidFill>
              <a:srgbClr val="A8A29E"/>
            </a:solidFill>
            <a:prstDash val="solid"/>
          </a:ln>
        </c:spPr>
        <c:txPr>
          <a:bodyPr xmlns:a="http://schemas.openxmlformats.org/drawingml/2006/main" anchorCtr="1"/>
          <a:lstStyle xmlns:a="http://schemas.openxmlformats.org/drawingml/2006/main"/>
          <a:p xmlns:a="http://schemas.openxmlformats.org/drawingml/2006/main">
            <a:pPr>
              <a:defRPr sz="975">
                <a:solidFill>
                  <a:srgbClr val="A8A29E"/>
                </a:solidFill>
                <a:latin typeface="Calibri"/>
                <a:ea typeface="Calibri"/>
                <a:cs typeface="Calibri"/>
              </a:defRPr>
            </a:pPr>
          </a:p>
        </c:txPr>
        <c:crossAx val="48650112"/>
        <c:crossBetween val="between"/>
        <c:majorUnit val="4"/>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7534E"/>
              </a:solidFill>
              <a:latin typeface="Calibri"/>
              <a:ea typeface="Calibri"/>
              <a:cs typeface="Calibri"/>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Profit margin</c:v>
          </c:tx>
          <c:spPr>
            <a:solidFill xmlns:a="http://schemas.openxmlformats.org/drawingml/2006/main">
              <a:srgbClr val="BBB6B2"/>
            </a:solidFill>
          </c:spPr>
          <c:invertIfNegative val="0"/>
          <c:dPt>
            <c:idx val="1"/>
            <c:invertIfNegative val="0"/>
            <c:spPr>
              <a:solidFill xmlns:a="http://schemas.openxmlformats.org/drawingml/2006/main">
                <a:srgbClr val="EA580C"/>
              </a:solidFill>
            </c:spPr>
          </c:dPt>
          <c:dPt>
            <c:idx val="2"/>
            <c:invertIfNegative val="0"/>
            <c:spPr>
              <a:solidFill xmlns:a="http://schemas.openxmlformats.org/drawingml/2006/main">
                <a:srgbClr val="EA580C"/>
              </a:solidFill>
            </c:spPr>
          </c:dPt>
          <c:dPt>
            <c:idx val="3"/>
            <c:invertIfNegative val="0"/>
            <c:spPr>
              <a:solidFill xmlns:a="http://schemas.openxmlformats.org/drawingml/2006/main">
                <a:srgbClr val="BF1D1D"/>
              </a:solidFill>
            </c:spPr>
          </c:dPt>
          <c:dPt>
            <c:idx val="4"/>
            <c:invertIfNegative val="0"/>
            <c:spPr>
              <a:solidFill xmlns:a="http://schemas.openxmlformats.org/drawingml/2006/main">
                <a:srgbClr val="BF1D1D"/>
              </a:solidFill>
            </c:spPr>
          </c:dPt>
          <c:cat>
            <c:strRef>
              <c:f>'Chart Data'!$A$2:$A$6</c:f>
              <c:strCache>
                <c:ptCount val="5"/>
                <c:pt idx="0">
                  <c:v>No promotion</c:v>
                </c:pt>
                <c:pt idx="1">
                  <c:v>10% Off</c:v>
                </c:pt>
                <c:pt idx="2">
                  <c:v>20% Off</c:v>
                </c:pt>
                <c:pt idx="3">
                  <c:v>BOGO</c:v>
                </c:pt>
                <c:pt idx="4">
                  <c:v>Clearance</c:v>
                </c:pt>
              </c:strCache>
            </c:strRef>
          </c:cat>
          <c:val>
            <c:numRef>
              <c:f>'Chart Data'!$B$2:$B$6</c:f>
              <c:numCache>
                <c:formatCode>0.0%</c:formatCode>
                <c:ptCount val="5"/>
                <c:pt idx="0">
                  <c:v>0.2389224628</c:v>
                </c:pt>
                <c:pt idx="1">
                  <c:v>0.1603511036</c:v>
                </c:pt>
                <c:pt idx="2">
                  <c:v>0.0520839279</c:v>
                </c:pt>
                <c:pt idx="3">
                  <c:v>-0.164840551</c:v>
                </c:pt>
                <c:pt idx="4">
                  <c:v>-0.3514750409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units sold</c:v>
          </c:tx>
          <c:spPr>
            <a:solidFill xmlns:a="http://schemas.openxmlformats.org/drawingml/2006/main">
              <a:srgbClr val="BBB6B2"/>
            </a:solidFill>
          </c:spPr>
          <c:cat>
            <c:strRef>
              <c:f>'Chart Data'!$A$2:$A$6</c:f>
              <c:strCache>
                <c:ptCount val="5"/>
                <c:pt idx="0">
                  <c:v>No promotion</c:v>
                </c:pt>
                <c:pt idx="1">
                  <c:v>10% Off</c:v>
                </c:pt>
                <c:pt idx="2">
                  <c:v>20% Off</c:v>
                </c:pt>
                <c:pt idx="3">
                  <c:v>BOGO</c:v>
                </c:pt>
                <c:pt idx="4">
                  <c:v>Clearance</c:v>
                </c:pt>
              </c:strCache>
            </c:strRef>
          </c:cat>
          <c:val>
            <c:numRef>
              <c:f>'Chart Data'!$B$2:$B$6</c:f>
              <c:numCache>
                <c:formatCode>0</c:formatCode>
                <c:ptCount val="5"/>
                <c:pt idx="0">
                  <c:v>249.6757</c:v>
                </c:pt>
                <c:pt idx="1">
                  <c:v>253.717</c:v>
                </c:pt>
                <c:pt idx="2">
                  <c:v>253.4865</c:v>
                </c:pt>
                <c:pt idx="3">
                  <c:v>248.7795</c:v>
                </c:pt>
                <c:pt idx="4">
                  <c:v>252.7205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max val="275"/>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Profit ($M)</c:v>
          </c:tx>
          <c:spPr>
            <a:solidFill xmlns:a="http://schemas.openxmlformats.org/drawingml/2006/main">
              <a:srgbClr val="BF1D1D"/>
            </a:solidFill>
          </c:spPr>
          <c:invertIfNegative val="0"/>
          <c:dPt>
            <c:idx val="3"/>
            <c:invertIfNegative val="0"/>
            <c:spPr>
              <a:solidFill xmlns:a="http://schemas.openxmlformats.org/drawingml/2006/main">
                <a:srgbClr val="BBB6B2"/>
              </a:solidFill>
            </c:spPr>
          </c:dPt>
          <c:dPt>
            <c:idx val="4"/>
            <c:invertIfNegative val="0"/>
            <c:spPr>
              <a:solidFill xmlns:a="http://schemas.openxmlformats.org/drawingml/2006/main">
                <a:srgbClr val="EA580C"/>
              </a:solidFill>
            </c:spPr>
          </c:dPt>
          <c:cat>
            <c:strRef>
              <c:f>'Chart Data'!$A$2:$A$6</c:f>
              <c:strCache>
                <c:ptCount val="5"/>
                <c:pt idx="0">
                  <c:v>Smallest 20%</c:v>
                </c:pt>
                <c:pt idx="1">
                  <c:v>21–40%</c:v>
                </c:pt>
                <c:pt idx="2">
                  <c:v>41–60%</c:v>
                </c:pt>
                <c:pt idx="3">
                  <c:v>61–80%</c:v>
                </c:pt>
                <c:pt idx="4">
                  <c:v>Largest 20%</c:v>
                </c:pt>
              </c:strCache>
            </c:strRef>
          </c:cat>
          <c:val>
            <c:numRef>
              <c:f>'Chart Data'!$B$2:$B$6</c:f>
              <c:numCache>
                <c:formatCode>$0.0"M"</c:formatCode>
                <c:ptCount val="5"/>
                <c:pt idx="0">
                  <c:v>-20.7743</c:v>
                </c:pt>
                <c:pt idx="1">
                  <c:v>-14.9575</c:v>
                </c:pt>
                <c:pt idx="2">
                  <c:v>-5.8824</c:v>
                </c:pt>
                <c:pt idx="3">
                  <c:v>10.5594</c:v>
                </c:pt>
                <c:pt idx="4">
                  <c:v>69.4253</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total CLV</c:v>
          </c:tx>
          <c:spPr>
            <a:solidFill xmlns:a="http://schemas.openxmlformats.org/drawingml/2006/main">
              <a:srgbClr val="BBB6B2"/>
            </a:solidFill>
          </c:spPr>
          <c:dPt>
            <c:idx val="0"/>
            <c:invertIfNegative val="0"/>
            <c:spPr>
              <a:solidFill xmlns:a="http://schemas.openxmlformats.org/drawingml/2006/main">
                <a:srgbClr val="EA580C"/>
              </a:solidFill>
            </c:spPr>
          </c:dPt>
          <c:cat>
            <c:strRef>
              <c:f>'Chart Data'!$A$2:$A$5</c:f>
              <c:strCache>
                <c:ptCount val="4"/>
                <c:pt idx="0">
                  <c:v>Top 25%</c:v>
                </c:pt>
                <c:pt idx="1">
                  <c:v>26–50%</c:v>
                </c:pt>
                <c:pt idx="2">
                  <c:v>51–75%</c:v>
                </c:pt>
                <c:pt idx="3">
                  <c:v>Bottom 25%</c:v>
                </c:pt>
              </c:strCache>
            </c:strRef>
          </c:cat>
          <c:val>
            <c:numRef>
              <c:f>'Chart Data'!$B$2:$B$5</c:f>
              <c:numCache>
                <c:formatCode>0%</c:formatCode>
                <c:ptCount val="4"/>
                <c:pt idx="0">
                  <c:v>0.550939175</c:v>
                </c:pt>
                <c:pt idx="1">
                  <c:v>0.2375690441</c:v>
                </c:pt>
                <c:pt idx="2">
                  <c:v>0.1416595657</c:v>
                </c:pt>
                <c:pt idx="3">
                  <c:v>0.0698322151</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Churn rate</c:v>
          </c:tx>
          <c:spPr>
            <a:solidFill xmlns:a="http://schemas.openxmlformats.org/drawingml/2006/main">
              <a:srgbClr val="BBB6B2"/>
            </a:solidFill>
          </c:spPr>
          <c:dPt>
            <c:idx val="0"/>
            <c:invertIfNegative val="0"/>
            <c:spPr>
              <a:solidFill xmlns:a="http://schemas.openxmlformats.org/drawingml/2006/main">
                <a:srgbClr val="EA580C"/>
              </a:solidFill>
            </c:spPr>
          </c:dPt>
          <c:cat>
            <c:strRef>
              <c:f>'Chart Data'!$A$2:$A$5</c:f>
              <c:strCache>
                <c:ptCount val="4"/>
                <c:pt idx="0">
                  <c:v>Bronze</c:v>
                </c:pt>
                <c:pt idx="1">
                  <c:v>Silver</c:v>
                </c:pt>
                <c:pt idx="2">
                  <c:v>Gold</c:v>
                </c:pt>
                <c:pt idx="3">
                  <c:v>Platinum</c:v>
                </c:pt>
              </c:strCache>
            </c:strRef>
          </c:cat>
          <c:val>
            <c:numRef>
              <c:f>'Chart Data'!$B$2:$B$5</c:f>
              <c:numCache>
                <c:formatCode>0.0%</c:formatCode>
                <c:ptCount val="4"/>
                <c:pt idx="0">
                  <c:v>0.0614022762</c:v>
                </c:pt>
                <c:pt idx="1">
                  <c:v>0.0302314596</c:v>
                </c:pt>
                <c:pt idx="2">
                  <c:v>0.036036036</c:v>
                </c:pt>
                <c:pt idx="3">
                  <c:v>0.0368239356</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Actual churn</c:v>
          </c:tx>
          <c:spPr>
            <a:solidFill xmlns:a="http://schemas.openxmlformats.org/drawingml/2006/main">
              <a:srgbClr val="BBB6B2"/>
            </a:solidFill>
          </c:spPr>
          <c:dPt>
            <c:idx val="9"/>
            <c:invertIfNegative val="0"/>
            <c:spPr>
              <a:solidFill xmlns:a="http://schemas.openxmlformats.org/drawingml/2006/main">
                <a:srgbClr val="EA580C"/>
              </a:solidFill>
            </c:spPr>
          </c:dPt>
          <c:cat>
            <c:strRef>
              <c:f>'Chart Data'!$A$2:$A$11</c:f>
              <c:strCache>
                <c:ptCount val="10"/>
                <c:pt idx="0">
                  <c:v>D1</c:v>
                </c:pt>
                <c:pt idx="1">
                  <c:v>D2</c:v>
                </c:pt>
                <c:pt idx="2">
                  <c:v>D3</c:v>
                </c:pt>
                <c:pt idx="3">
                  <c:v>D4</c:v>
                </c:pt>
                <c:pt idx="4">
                  <c:v>D5</c:v>
                </c:pt>
                <c:pt idx="5">
                  <c:v>D6</c:v>
                </c:pt>
                <c:pt idx="6">
                  <c:v>D7</c:v>
                </c:pt>
                <c:pt idx="7">
                  <c:v>D8</c:v>
                </c:pt>
                <c:pt idx="8">
                  <c:v>D9</c:v>
                </c:pt>
                <c:pt idx="9">
                  <c:v>D10</c:v>
                </c:pt>
              </c:strCache>
            </c:strRef>
          </c:cat>
          <c:val>
            <c:numRef>
              <c:f>'Chart Data'!$B$2:$B$11</c:f>
              <c:numCache>
                <c:formatCode>0.0%</c:formatCode>
                <c:ptCount val="10"/>
                <c:pt idx="0">
                  <c:v>0.0233333333</c:v>
                </c:pt>
                <c:pt idx="1">
                  <c:v>0.0266666667</c:v>
                </c:pt>
                <c:pt idx="2">
                  <c:v>0.0316666667</c:v>
                </c:pt>
                <c:pt idx="3">
                  <c:v>0.0311111111</c:v>
                </c:pt>
                <c:pt idx="4">
                  <c:v>0.0361111111</c:v>
                </c:pt>
                <c:pt idx="5">
                  <c:v>0.0394444444</c:v>
                </c:pt>
                <c:pt idx="6">
                  <c:v>0.0488888889</c:v>
                </c:pt>
                <c:pt idx="7">
                  <c:v>0.0522222222</c:v>
                </c:pt>
                <c:pt idx="8">
                  <c:v>0.0688888889</c:v>
                </c:pt>
                <c:pt idx="9">
                  <c:v>0.0822222222</c:v>
                </c:pt>
              </c:numCache>
            </c:numRef>
          </c:val>
        </c:ser>
        <c:dLbls>
          <c:txPr>
            <a:bodyPr xmlns:a="http://schemas.openxmlformats.org/drawingml/2006/main" anchorCtr="1"/>
            <a:lstStyle xmlns:a="http://schemas.openxmlformats.org/drawingml/2006/main"/>
            <a:p xmlns:a="http://schemas.openxmlformats.org/drawingml/2006/main">
              <a:pPr>
                <a:defRPr sz="825"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82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influence</c:v>
          </c:tx>
          <c:spPr>
            <a:solidFill xmlns:a="http://schemas.openxmlformats.org/drawingml/2006/main">
              <a:srgbClr val="BBB6B2"/>
            </a:solidFill>
          </c:spPr>
          <c:dPt>
            <c:idx val="2"/>
            <c:invertIfNegative val="0"/>
            <c:spPr>
              <a:solidFill xmlns:a="http://schemas.openxmlformats.org/drawingml/2006/main">
                <a:srgbClr val="EA580C"/>
              </a:solidFill>
            </c:spPr>
          </c:dPt>
          <c:cat>
            <c:strRef>
              <c:f>'Chart Data'!$A$2:$A$6</c:f>
              <c:strCache>
                <c:ptCount val="5"/>
                <c:pt idx="0">
                  <c:v>Unit price</c:v>
                </c:pt>
                <c:pt idx="1">
                  <c:v>Units sold</c:v>
                </c:pt>
                <c:pt idx="2">
                  <c:v>Discount rate</c:v>
                </c:pt>
                <c:pt idx="3">
                  <c:v>Unit cost</c:v>
                </c:pt>
                <c:pt idx="4">
                  <c:v>Store labor</c:v>
                </c:pt>
              </c:strCache>
            </c:strRef>
          </c:cat>
          <c:val>
            <c:numRef>
              <c:f>'Chart Data'!$B$2:$B$6</c:f>
              <c:numCache>
                <c:formatCode>0%</c:formatCode>
                <c:ptCount val="5"/>
                <c:pt idx="0">
                  <c:v>0.5527562143</c:v>
                </c:pt>
                <c:pt idx="1">
                  <c:v>0.1895662803</c:v>
                </c:pt>
                <c:pt idx="2">
                  <c:v>0.1207270212</c:v>
                </c:pt>
                <c:pt idx="3">
                  <c:v>0.0887968814</c:v>
                </c:pt>
                <c:pt idx="4">
                  <c:v>0.0481536028</c:v>
                </c:pt>
              </c:numCache>
            </c:numRef>
          </c:val>
        </c:ser>
        <c:dLbls>
          <c:txPr>
            <a:bodyPr xmlns:a="http://schemas.openxmlformats.org/drawingml/2006/main" anchorCtr="1"/>
            <a:lstStyle xmlns:a="http://schemas.openxmlformats.org/drawingml/2006/main"/>
            <a:p xmlns:a="http://schemas.openxmlformats.org/drawingml/2006/main">
              <a:pPr>
                <a:defRPr sz="825"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00">
                <a:solidFill>
                  <a:srgbClr val="57534E"/>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Supply-chain risk</c:v>
          </c:tx>
          <c:spPr>
            <a:solidFill xmlns:a="http://schemas.openxmlformats.org/drawingml/2006/main">
              <a:srgbClr val="BBB6B2"/>
            </a:solidFill>
          </c:spPr>
          <c:dPt>
            <c:idx val="3"/>
            <c:invertIfNegative val="0"/>
            <c:spPr>
              <a:solidFill xmlns:a="http://schemas.openxmlformats.org/drawingml/2006/main">
                <a:srgbClr val="EA580C"/>
              </a:solidFill>
            </c:spPr>
          </c:dPt>
          <c:cat>
            <c:strRef>
              <c:f>'Chart Data'!$A$2:$A$5</c:f>
              <c:strCache>
                <c:ptCount val="4"/>
                <c:pt idx="0">
                  <c:v>15 or fewer</c:v>
                </c:pt>
                <c:pt idx="1">
                  <c:v>16–30</c:v>
                </c:pt>
                <c:pt idx="2">
                  <c:v>31–45</c:v>
                </c:pt>
                <c:pt idx="3">
                  <c:v>46–60</c:v>
                </c:pt>
              </c:strCache>
            </c:strRef>
          </c:cat>
          <c:val>
            <c:numRef>
              <c:f>'Chart Data'!$B$2:$B$5</c:f>
              <c:numCache>
                <c:formatCode>0</c:formatCode>
                <c:ptCount val="4"/>
                <c:pt idx="0">
                  <c:v>26.8665</c:v>
                </c:pt>
                <c:pt idx="1">
                  <c:v>34.2898</c:v>
                </c:pt>
                <c:pt idx="2">
                  <c:v>41.9418</c:v>
                </c:pt>
                <c:pt idx="3">
                  <c:v>49.0073</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Holding cost per record</c:v>
          </c:tx>
          <c:spPr>
            <a:solidFill xmlns:a="http://schemas.openxmlformats.org/drawingml/2006/main">
              <a:srgbClr val="BBB6B2"/>
            </a:solidFill>
          </c:spPr>
          <c:dPt>
            <c:idx val="0"/>
            <c:invertIfNegative val="0"/>
            <c:spPr>
              <a:solidFill xmlns:a="http://schemas.openxmlformats.org/drawingml/2006/main">
                <a:srgbClr val="EA580C"/>
              </a:solidFill>
            </c:spPr>
          </c:dPt>
          <c:cat>
            <c:strRef>
              <c:f>'Chart Data'!$A$2:$A$5</c:f>
              <c:strCache>
                <c:ptCount val="4"/>
                <c:pt idx="0">
                  <c:v>1–3x</c:v>
                </c:pt>
                <c:pt idx="1">
                  <c:v>3–6x</c:v>
                </c:pt>
                <c:pt idx="2">
                  <c:v>6–9x</c:v>
                </c:pt>
                <c:pt idx="3">
                  <c:v>9–12x</c:v>
                </c:pt>
              </c:strCache>
            </c:strRef>
          </c:cat>
          <c:val>
            <c:numRef>
              <c:f>'Chart Data'!$B$2:$B$5</c:f>
              <c:numCache>
                <c:formatCode>$#,##0</c:formatCode>
                <c:ptCount val="4"/>
                <c:pt idx="0">
                  <c:v>25046.1763</c:v>
                </c:pt>
                <c:pt idx="1">
                  <c:v>24968.6604</c:v>
                </c:pt>
                <c:pt idx="2">
                  <c:v>25206.7751</c:v>
                </c:pt>
                <c:pt idx="3">
                  <c:v>25112.046</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292524"/>
                  </a:solidFill>
                  <a:latin typeface="Calibri"/>
                  <a:ea typeface="Calibri"/>
                  <a:cs typeface="Calibri"/>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78716C"/>
            </a:solidFill>
            <a:prstDash val="solid"/>
          </a:ln>
        </c:spPr>
        <c:txPr>
          <a:bodyPr xmlns:a="http://schemas.openxmlformats.org/drawingml/2006/main" anchorCtr="1"/>
          <a:lstStyle xmlns:a="http://schemas.openxmlformats.org/drawingml/2006/main"/>
          <a:p xmlns:a="http://schemas.openxmlformats.org/drawingml/2006/main">
            <a:pPr>
              <a:defRPr sz="975">
                <a:solidFill>
                  <a:srgbClr val="57534E"/>
                </a:solidFill>
                <a:latin typeface="Calibri"/>
                <a:ea typeface="Calibri"/>
                <a:cs typeface="Calibri"/>
              </a:defRPr>
            </a:pPr>
          </a:p>
        </c:txPr>
        <c:crossAx val="48672768"/>
      </c:catAx>
      <c:valAx>
        <c:axId val="48672768"/>
        <c:scaling>
          <c:orientation val="minMax"/>
          <c:max val="280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C191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C70889-1CB6-4613-8977-586D5B064F9C}"/>
              </a:ext>
            </a:extLst>
          </p:cNvPr>
          <p:cNvSpPr>
            <a:spLocks xmlns:a="http://schemas.openxmlformats.org/drawingml/2006/main" noGrp="1"/>
          </p:cNvSpPr>
          <p:nvPr/>
        </p:nvSpPr>
        <p:spPr>
          <a:xfrm xmlns:a="http://schemas.openxmlformats.org/drawingml/2006/main">
            <a:off x="640080" y="6400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FB923C"/>
                </a:solidFill>
                <a:latin typeface="Calibri"/>
                <a:ea typeface="Calibri"/>
                <a:cs typeface="Calibri"/>
              </a:rPr>
              <a:t>Two Two Consulting</a:t>
            </a:r>
            <a:endParaRPr sz="1400"/>
          </a:p>
        </p:txBody>
      </p:sp>
      <p:sp>
        <p:nvSpPr>
          <p:cNvPr id="3" name="Text 1">
            <a:extLst xmlns:a="http://schemas.openxmlformats.org/drawingml/2006/main">
              <a:ext uri="{FF2B5EF4-FFF2-40B4-BE49-F238E27FC236}">
                <a16:creationId xmlns:a16="http://schemas.microsoft.com/office/drawing/2014/main" id="{62944F7A-27B9-42CD-AB8C-12DFBBE3B432}"/>
              </a:ext>
            </a:extLst>
          </p:cNvPr>
          <p:cNvSpPr>
            <a:spLocks xmlns:a="http://schemas.openxmlformats.org/drawingml/2006/main" noGrp="1"/>
          </p:cNvSpPr>
          <p:nvPr/>
        </p:nvSpPr>
        <p:spPr>
          <a:xfrm xmlns:a="http://schemas.openxmlformats.org/drawingml/2006/main">
            <a:off x="640080" y="1554480"/>
            <a:ext cx="576072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Cambria"/>
                <a:ea typeface="Cambria"/>
                <a:cs typeface="Cambria"/>
              </a:rPr>
              <a:t>HRG profit recovery plan</a:t>
            </a:r>
            <a:endParaRPr sz="4000"/>
          </a:p>
        </p:txBody>
      </p:sp>
      <p:sp>
        <p:nvSpPr>
          <p:cNvPr id="4" name="Text 2">
            <a:extLst xmlns:a="http://schemas.openxmlformats.org/drawingml/2006/main">
              <a:ext uri="{FF2B5EF4-FFF2-40B4-BE49-F238E27FC236}">
                <a16:creationId xmlns:a16="http://schemas.microsoft.com/office/drawing/2014/main" id="{12BA3640-9D9E-4091-9718-A514F3E38A75}"/>
              </a:ext>
            </a:extLst>
          </p:cNvPr>
          <p:cNvSpPr>
            <a:spLocks xmlns:a="http://schemas.openxmlformats.org/drawingml/2006/main" noGrp="1"/>
          </p:cNvSpPr>
          <p:nvPr/>
        </p:nvSpPr>
        <p:spPr>
          <a:xfrm xmlns:a="http://schemas.openxmlformats.org/drawingml/2006/main">
            <a:off x="640080" y="3794760"/>
            <a:ext cx="5760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E7E5E4"/>
                </a:solidFill>
                <a:latin typeface="Calibri"/>
                <a:ea typeface="Calibri"/>
                <a:cs typeface="Calibri"/>
              </a:rPr>
              <a:t>Four priority problems, a working dashboard, and a 180-day action plan</a:t>
            </a:r>
            <a:endParaRPr sz="1800"/>
          </a:p>
        </p:txBody>
      </p:sp>
      <p:sp>
        <p:nvSpPr>
          <p:cNvPr id="5" name="Text 3">
            <a:extLst xmlns:a="http://schemas.openxmlformats.org/drawingml/2006/main">
              <a:ext uri="{FF2B5EF4-FFF2-40B4-BE49-F238E27FC236}">
                <a16:creationId xmlns:a16="http://schemas.microsoft.com/office/drawing/2014/main" id="{C03CFAED-673B-40F5-92DC-76E1690A4C12}"/>
              </a:ext>
            </a:extLst>
          </p:cNvPr>
          <p:cNvSpPr>
            <a:spLocks xmlns:a="http://schemas.openxmlformats.org/drawingml/2006/main" noGrp="1"/>
          </p:cNvSpPr>
          <p:nvPr/>
        </p:nvSpPr>
        <p:spPr>
          <a:xfrm xmlns:a="http://schemas.openxmlformats.org/drawingml/2006/main">
            <a:off x="640080" y="45720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B923C"/>
                </a:solidFill>
                <a:latin typeface="Calibri"/>
                <a:ea typeface="Calibri"/>
                <a:cs typeface="Calibri"/>
              </a:rPr>
              <a:t>September 2026</a:t>
            </a:r>
            <a:endParaRPr sz="1400"/>
          </a:p>
        </p:txBody>
      </p:sp>
      <p:sp>
        <p:nvSpPr>
          <p:cNvPr id="6" name="Text 4">
            <a:extLst xmlns:a="http://schemas.openxmlformats.org/drawingml/2006/main">
              <a:ext uri="{FF2B5EF4-FFF2-40B4-BE49-F238E27FC236}">
                <a16:creationId xmlns:a16="http://schemas.microsoft.com/office/drawing/2014/main" id="{5FD6B111-27C6-463A-ACD6-2EDAB79E3A9B}"/>
              </a:ext>
            </a:extLst>
          </p:cNvPr>
          <p:cNvSpPr>
            <a:spLocks xmlns:a="http://schemas.openxmlformats.org/drawingml/2006/main" noGrp="1"/>
          </p:cNvSpPr>
          <p:nvPr/>
        </p:nvSpPr>
        <p:spPr>
          <a:xfrm xmlns:a="http://schemas.openxmlformats.org/drawingml/2006/main">
            <a:off x="640080" y="4937760"/>
            <a:ext cx="5760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A8A29E"/>
                </a:solidFill>
                <a:latin typeface="Calibri"/>
                <a:ea typeface="Calibri"/>
                <a:cs typeface="Calibri"/>
              </a:rPr>
              <a:t>Prepared for Jennifer Carson, Chief Operating Officer, and the Executive Leadership Team</a:t>
            </a:r>
            <a:endParaRPr sz="1200"/>
          </a:p>
        </p:txBody>
      </p:sp>
      <p:sp>
        <p:nvSpPr>
          <p:cNvPr id="7" name="Text 5">
            <a:extLst xmlns:a="http://schemas.openxmlformats.org/drawingml/2006/main">
              <a:ext uri="{FF2B5EF4-FFF2-40B4-BE49-F238E27FC236}">
                <a16:creationId xmlns:a16="http://schemas.microsoft.com/office/drawing/2014/main" id="{6278B9B1-7791-45EC-9499-A111B3837C8B}"/>
              </a:ext>
            </a:extLst>
          </p:cNvPr>
          <p:cNvSpPr>
            <a:spLocks xmlns:a="http://schemas.openxmlformats.org/drawingml/2006/main" noGrp="1"/>
          </p:cNvSpPr>
          <p:nvPr/>
        </p:nvSpPr>
        <p:spPr>
          <a:xfrm xmlns:a="http://schemas.openxmlformats.org/drawingml/2006/main">
            <a:off x="497205" y="5897880"/>
            <a:ext cx="741807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1"/>
                </a:solidFill>
                <a:latin typeface="Calibri"/>
                <a:ea typeface="Calibri"/>
                <a:cs typeface="Calibri"/>
              </a:rPr>
              <a:t>Team (Group 2): Shalom Bhatta, Sangam Dahal, Suyashkumar Chavan, Jiabao Chen, Rohit Varma Chekuri, Gopal Rao Desineni, Kanhav Bhatt, Abhishek Dipakkumar Contractor, Andrea Miguel Colmenares, Maria Eduarda Cesconetto</a:t>
            </a:r>
            <a:endParaRPr sz="1200">
              <a:solidFill>
                <a:schemeClr val="bg1"/>
              </a:solidFill>
            </a:endParaRPr>
          </a:p>
        </p:txBody>
      </p:sp>
      <p:pic>
        <p:nvPicPr>
          <p:cNvPr id="15" name="Picture 10"/>
          <p:cNvPicPr>
            <a:picLocks xmlns:a="http://schemas.openxmlformats.org/drawingml/2006/main" noChangeAspect="1"/>
          </p:cNvPicPr>
          <p:nvPr/>
        </p:nvPicPr>
        <p:blipFill>
          <a:blip xmlns:r="http://schemas.openxmlformats.org/officeDocument/2006/relationships" xmlns:a="http://schemas.openxmlformats.org/drawingml/2006/main" r:embed="R08a8ae2125d041a7"/>
          <a:stretch xmlns:a="http://schemas.openxmlformats.org/drawingml/2006/main">
            <a:fillRect l="0" t="0" r="0" b="0"/>
          </a:stretch>
        </p:blipFill>
        <p:spPr>
          <a:xfrm xmlns:a="http://schemas.openxmlformats.org/drawingml/2006/main">
            <a:off x="6096000" y="147570"/>
            <a:ext cx="6007201" cy="1490730"/>
          </a:xfrm>
          <a:prstGeom xmlns:a="http://schemas.openxmlformats.org/drawingml/2006/main" prst="rect">
            <a:avLst/>
          </a:prstGeom>
        </p:spPr>
      </p:pic>
    </p:spTree>
    <p:extLst>
      <p:ext uri="{BB962C8B-B14F-4D97-AF65-F5344CB8AC3E}">
        <p14:creationId xmlns:p14="http://schemas.microsoft.com/office/powerpoint/2010/main" val="12736488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573F73-9DAC-44E4-86E7-B4FEBA410BAA}"/>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Proposed destination</a:t>
            </a:r>
            <a:endParaRPr sz="1100"/>
          </a:p>
        </p:txBody>
      </p:sp>
      <p:sp>
        <p:nvSpPr>
          <p:cNvPr id="3" name="Text 1">
            <a:extLst xmlns:a="http://schemas.openxmlformats.org/drawingml/2006/main">
              <a:ext uri="{FF2B5EF4-FFF2-40B4-BE49-F238E27FC236}">
                <a16:creationId xmlns:a16="http://schemas.microsoft.com/office/drawing/2014/main" id="{715261ED-952A-4AB5-B87E-8AC59DC0794B}"/>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The base case adds $12.0M in net annual profit and lifts margin from 9.9% to 13.0%</a:t>
            </a:r>
            <a:endParaRPr sz="2500"/>
          </a:p>
        </p:txBody>
      </p:sp>
      <p:sp>
        <p:nvSpPr>
          <p:cNvPr id="4" name="Text 2">
            <a:extLst xmlns:a="http://schemas.openxmlformats.org/drawingml/2006/main">
              <a:ext uri="{FF2B5EF4-FFF2-40B4-BE49-F238E27FC236}">
                <a16:creationId xmlns:a16="http://schemas.microsoft.com/office/drawing/2014/main" id="{07D88A22-6403-4DC0-AE9C-7F6D2D544B51}"/>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Two Two Consulting planning model and live dashboard; baseline profit $38.4M on $388.4M revenue (9.9% margin). Scenarios are illustrative and require controlled-pilot verification.</a:t>
            </a:r>
            <a:endParaRPr sz="900"/>
          </a:p>
        </p:txBody>
      </p:sp>
      <p:sp>
        <p:nvSpPr>
          <p:cNvPr id="6" name="Text 3">
            <a:extLst xmlns:a="http://schemas.openxmlformats.org/drawingml/2006/main">
              <a:ext uri="{FF2B5EF4-FFF2-40B4-BE49-F238E27FC236}">
                <a16:creationId xmlns:a16="http://schemas.microsoft.com/office/drawing/2014/main" id="{1006AA56-E3AA-42C7-BE32-1B264032B9BA}"/>
              </a:ext>
            </a:extLst>
          </p:cNvPr>
          <p:cNvSpPr>
            <a:spLocks xmlns:a="http://schemas.openxmlformats.org/drawingml/2006/main" noGrp="1"/>
          </p:cNvSpPr>
          <p:nvPr/>
        </p:nvSpPr>
        <p:spPr>
          <a:xfrm xmlns:a="http://schemas.openxmlformats.org/drawingml/2006/main">
            <a:off x="548640" y="1691640"/>
            <a:ext cx="51206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Net annual profit uplift by source</a:t>
            </a:r>
            <a:endParaRPr sz="1300"/>
          </a:p>
        </p:txBody>
      </p:sp>
      <p:sp>
        <p:nvSpPr>
          <p:cNvPr id="7" name="Text 4">
            <a:extLst xmlns:a="http://schemas.openxmlformats.org/drawingml/2006/main">
              <a:ext uri="{FF2B5EF4-FFF2-40B4-BE49-F238E27FC236}">
                <a16:creationId xmlns:a16="http://schemas.microsoft.com/office/drawing/2014/main" id="{6FBDBE61-D486-436D-9050-0CC6DDC6E593}"/>
              </a:ext>
            </a:extLst>
          </p:cNvPr>
          <p:cNvSpPr>
            <a:spLocks xmlns:a="http://schemas.openxmlformats.org/drawingml/2006/main" noGrp="1"/>
          </p:cNvSpPr>
          <p:nvPr/>
        </p:nvSpPr>
        <p:spPr>
          <a:xfrm xmlns:a="http://schemas.openxmlformats.org/drawingml/2006/main">
            <a:off x="548640" y="1929384"/>
            <a:ext cx="5120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$M at verified full run-rate</a:t>
            </a:r>
            <a:endParaRPr sz="1050"/>
          </a:p>
        </p:txBody>
      </p:sp>
      <p:graphicFrame>
        <p:nvGraphicFramePr>
          <p:cNvPr id="34" name="Table 0"/>
          <p:cNvGraphicFramePr/>
          <p:nvPr/>
        </p:nvGraphicFramePr>
        <p:xfrm>
          <a:off xmlns:a="http://schemas.openxmlformats.org/drawingml/2006/main" x="5989320" y="1691640"/>
          <a:ext xmlns:a="http://schemas.openxmlformats.org/drawingml/2006/main" cx="5650992" cy="2706624"/>
        </p:xfrm>
        <a:graphic xmlns:a="http://schemas.openxmlformats.org/drawingml/2006/main">
          <a:graphicData uri="http://schemas.openxmlformats.org/drawingml/2006/table">
            <a:tbl>
              <a:tblPr/>
              <a:tblGrid>
                <a:gridCol w="2286000"/>
                <a:gridCol w="1097280"/>
                <a:gridCol w="1170432"/>
                <a:gridCol w="1097280"/>
              </a:tblGrid>
              <a:tr h="338328">
                <a:tc>
                  <a:txBody>
                    <a:bodyPr/>
                    <a:lstStyle/>
                    <a:p>
                      <a:pPr marL="0" indent="0">
                        <a:buNone/>
                      </a:pPr>
                      <a:r>
                        <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Downside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C2410C"/>
                          </a:solidFill>
                          <a:latin typeface="Calibri"/>
                          <a:ea typeface="Calibri"/>
                          <a:cs typeface="Calibri"/>
                        </a:rPr>
                        <a:t>Base case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Upside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338328">
                <a:tc>
                  <a:txBody>
                    <a:bodyPr/>
                    <a:lstStyle/>
                    <a:p>
                      <a:pPr marL="0" indent="0">
                        <a:buNone/>
                      </a:pPr>
                      <a:r>
                        <a:rPr sz="1100">
                          <a:solidFill>
                            <a:srgbClr val="292524"/>
                          </a:solidFill>
                          <a:latin typeface="Calibri"/>
                          <a:ea typeface="Calibri"/>
                          <a:cs typeface="Calibri"/>
                        </a:rPr>
                        <a:t>Net profit uplift</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+$5.5M</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+$12.0M</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+$17.0M</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Projected margin (today 9.9%)</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11.3%</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13.0%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14.3%</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Implementation cost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$6.5M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$6.0M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$8.0M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Gross annual benefit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$12.0M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$18.0M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$25.0M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Return on implementation cost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85%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200%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213%</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Simple payback</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6.5 months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4.0 months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3.8 months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38328">
                <a:tc>
                  <a:txBody>
                    <a:bodyPr/>
                    <a:lstStyle/>
                    <a:p>
                      <a:pPr marL="0" indent="0">
                        <a:buNone/>
                      </a:pPr>
                      <a:r>
                        <a:rPr sz="1100">
                          <a:solidFill>
                            <a:srgbClr val="292524"/>
                          </a:solidFill>
                          <a:latin typeface="Calibri"/>
                          <a:ea typeface="Calibri"/>
                          <a:cs typeface="Calibri"/>
                        </a:rPr>
                        <a:t>Planning likelihood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25%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50%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25%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10" name="Text 5">
            <a:extLst xmlns:a="http://schemas.openxmlformats.org/drawingml/2006/main">
              <a:ext uri="{FF2B5EF4-FFF2-40B4-BE49-F238E27FC236}">
                <a16:creationId xmlns:a16="http://schemas.microsoft.com/office/drawing/2014/main" id="{02C59285-5834-456F-853E-261A76A57923}"/>
              </a:ext>
            </a:extLst>
          </p:cNvPr>
          <p:cNvSpPr>
            <a:spLocks xmlns:a="http://schemas.openxmlformats.org/drawingml/2006/main" noGrp="1"/>
          </p:cNvSpPr>
          <p:nvPr/>
        </p:nvSpPr>
        <p:spPr>
          <a:xfrm xmlns:a="http://schemas.openxmlformats.org/drawingml/2006/main">
            <a:off x="5989320" y="4572000"/>
            <a:ext cx="56509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C2410C"/>
                </a:solidFill>
                <a:latin typeface="Calibri"/>
                <a:ea typeface="Calibri"/>
                <a:cs typeface="Calibri"/>
              </a:rPr>
              <a:t>What Finance will verify</a:t>
            </a:r>
            <a:endParaRPr sz="1150"/>
          </a:p>
        </p:txBody>
      </p:sp>
      <p:sp>
        <p:nvSpPr>
          <p:cNvPr id="11" name="Text 6">
            <a:extLst xmlns:a="http://schemas.openxmlformats.org/drawingml/2006/main">
              <a:ext uri="{FF2B5EF4-FFF2-40B4-BE49-F238E27FC236}">
                <a16:creationId xmlns:a16="http://schemas.microsoft.com/office/drawing/2014/main" id="{03DF5430-3141-4B44-9F48-2C30ABE18220}"/>
              </a:ext>
            </a:extLst>
          </p:cNvPr>
          <p:cNvSpPr>
            <a:spLocks xmlns:a="http://schemas.openxmlformats.org/drawingml/2006/main" noGrp="1"/>
          </p:cNvSpPr>
          <p:nvPr/>
        </p:nvSpPr>
        <p:spPr>
          <a:xfrm xmlns:a="http://schemas.openxmlformats.org/drawingml/2006/main">
            <a:off x="5989320" y="4828032"/>
            <a:ext cx="5650992"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050">
                <a:solidFill>
                  <a:srgbClr val="292524"/>
                </a:solidFill>
                <a:latin typeface="Calibri"/>
                <a:ea typeface="Calibri"/>
                <a:cs typeface="Calibri"/>
              </a:rPr>
              <a:t>$18.0M of gross annual benefit less $6.0M of implementation cost produces +$12.0M in net profit. Finance records value after a valid baseline, a holdout comparison, all costs, and two positive measurement cycles.</a:t>
            </a:r>
            <a:endParaRPr sz="1050"/>
          </a:p>
        </p:txBody>
      </p:sp>
      <p:sp>
        <p:nvSpPr>
          <p:cNvPr id="25" name="Slide Number Placeholder 0">
            <a:extLst xmlns:a="http://schemas.openxmlformats.org/drawingml/2006/main">
              <a:ext uri="{FF2B5EF4-FFF2-40B4-BE49-F238E27FC236}">
                <a16:creationId xmlns:a16="http://schemas.microsoft.com/office/drawing/2014/main" id="{2340C9E9-2765-4E00-B36B-DBC5138DAC45}"/>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14</a:t>
            </a:fld>
            <a:endParaRPr/>
          </a:p>
        </p:txBody>
      </p:sp>
      <p:graphicFrame>
        <p:nvGraphicFramePr>
          <p:cNvPr id="38" name="Aligned net-profit projection"/>
          <p:cNvGraphicFramePr/>
          <p:nvPr/>
        </p:nvGraphicFramePr>
        <p:xfrm>
          <a:off xmlns:a="http://schemas.openxmlformats.org/drawingml/2006/main" x="548640" y="2194560"/>
          <a:ext xmlns:a="http://schemas.openxmlformats.org/drawingml/2006/main" cx="5120640" cy="4069080"/>
        </p:xfrm>
        <a:graphic xmlns:a="http://schemas.openxmlformats.org/drawingml/2006/main">
          <a:graphicData uri="http://schemas.openxmlformats.org/drawingml/2006/chart">
            <c:chart xmlns:r="http://schemas.openxmlformats.org/officeDocument/2006/relationships" xmlns:c="http://schemas.openxmlformats.org/drawingml/2006/chart" r:id="R10acbd0f64bb401b"/>
          </a:graphicData>
        </a:graphic>
      </p:graphicFrame>
    </p:spTree>
    <p:extLst>
      <p:ext uri="{BB962C8B-B14F-4D97-AF65-F5344CB8AC3E}">
        <p14:creationId xmlns:p14="http://schemas.microsoft.com/office/powerpoint/2010/main" val="2042762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18BE60-2F12-4DA6-8F8E-A623F1B65D01}"/>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Live dashboard</a:t>
            </a:r>
            <a:endParaRPr sz="1100"/>
          </a:p>
        </p:txBody>
      </p:sp>
      <p:sp>
        <p:nvSpPr>
          <p:cNvPr id="3" name="Text 1">
            <a:extLst xmlns:a="http://schemas.openxmlformats.org/drawingml/2006/main">
              <a:ext uri="{FF2B5EF4-FFF2-40B4-BE49-F238E27FC236}">
                <a16:creationId xmlns:a16="http://schemas.microsoft.com/office/drawing/2014/main" id="{15A747A2-3EFE-467F-8C7A-85444FB96AEC}"/>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One-minute dashboard walkthrough</a:t>
            </a:r>
            <a:endParaRPr sz="2500"/>
          </a:p>
        </p:txBody>
      </p:sp>
      <p:sp>
        <p:nvSpPr>
          <p:cNvPr id="4" name="Text 2">
            <a:extLst xmlns:a="http://schemas.openxmlformats.org/drawingml/2006/main">
              <a:ext uri="{FF2B5EF4-FFF2-40B4-BE49-F238E27FC236}">
                <a16:creationId xmlns:a16="http://schemas.microsoft.com/office/drawing/2014/main" id="{04C501CF-E118-4EEA-AF8F-1AC7B8158610}"/>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The dashboard is interactive. Financial values are planning scenarios that require controlled tests and Finance verification.</a:t>
            </a:r>
            <a:endParaRPr sz="900"/>
          </a:p>
        </p:txBody>
      </p:sp>
      <p:sp>
        <p:nvSpPr>
          <p:cNvPr id="6" name="Text 3">
            <a:extLst xmlns:a="http://schemas.openxmlformats.org/drawingml/2006/main">
              <a:ext uri="{FF2B5EF4-FFF2-40B4-BE49-F238E27FC236}">
                <a16:creationId xmlns:a16="http://schemas.microsoft.com/office/drawing/2014/main" id="{A63E8CEB-EE0D-4781-8557-6FCA7FE4736E}"/>
              </a:ext>
            </a:extLst>
          </p:cNvPr>
          <p:cNvSpPr>
            <a:spLocks xmlns:a="http://schemas.openxmlformats.org/drawingml/2006/main" noGrp="1"/>
          </p:cNvSpPr>
          <p:nvPr/>
        </p:nvSpPr>
        <p:spPr>
          <a:xfrm xmlns:a="http://schemas.openxmlformats.org/drawingml/2006/main">
            <a:off x="548640" y="169164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$388.4M</a:t>
            </a:r>
            <a:endParaRPr sz="2400"/>
          </a:p>
        </p:txBody>
      </p:sp>
      <p:sp>
        <p:nvSpPr>
          <p:cNvPr id="7" name="Text 4">
            <a:extLst xmlns:a="http://schemas.openxmlformats.org/drawingml/2006/main">
              <a:ext uri="{FF2B5EF4-FFF2-40B4-BE49-F238E27FC236}">
                <a16:creationId xmlns:a16="http://schemas.microsoft.com/office/drawing/2014/main" id="{43AF7B86-199D-412D-B06B-9658810E6B6B}"/>
              </a:ext>
            </a:extLst>
          </p:cNvPr>
          <p:cNvSpPr>
            <a:spLocks xmlns:a="http://schemas.openxmlformats.org/drawingml/2006/main" noGrp="1"/>
          </p:cNvSpPr>
          <p:nvPr/>
        </p:nvSpPr>
        <p:spPr>
          <a:xfrm xmlns:a="http://schemas.openxmlformats.org/drawingml/2006/main">
            <a:off x="548640" y="214884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7534E"/>
                </a:solidFill>
                <a:latin typeface="Calibri"/>
                <a:ea typeface="Calibri"/>
                <a:cs typeface="Calibri"/>
              </a:rPr>
              <a:t>Revenue</a:t>
            </a:r>
            <a:endParaRPr sz="1000"/>
          </a:p>
        </p:txBody>
      </p:sp>
      <p:sp>
        <p:nvSpPr>
          <p:cNvPr id="8" name="Text 5">
            <a:extLst xmlns:a="http://schemas.openxmlformats.org/drawingml/2006/main">
              <a:ext uri="{FF2B5EF4-FFF2-40B4-BE49-F238E27FC236}">
                <a16:creationId xmlns:a16="http://schemas.microsoft.com/office/drawing/2014/main" id="{1457E80C-DA3C-44A7-9742-5AD1BEE1BE52}"/>
              </a:ext>
            </a:extLst>
          </p:cNvPr>
          <p:cNvSpPr>
            <a:spLocks xmlns:a="http://schemas.openxmlformats.org/drawingml/2006/main" noGrp="1"/>
          </p:cNvSpPr>
          <p:nvPr/>
        </p:nvSpPr>
        <p:spPr>
          <a:xfrm xmlns:a="http://schemas.openxmlformats.org/drawingml/2006/main">
            <a:off x="2103120" y="169164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$38.4M</a:t>
            </a:r>
            <a:endParaRPr sz="2400"/>
          </a:p>
        </p:txBody>
      </p:sp>
      <p:sp>
        <p:nvSpPr>
          <p:cNvPr id="9" name="Text 6">
            <a:extLst xmlns:a="http://schemas.openxmlformats.org/drawingml/2006/main">
              <a:ext uri="{FF2B5EF4-FFF2-40B4-BE49-F238E27FC236}">
                <a16:creationId xmlns:a16="http://schemas.microsoft.com/office/drawing/2014/main" id="{7ADC06D1-06A6-459E-A5F2-233231984BAB}"/>
              </a:ext>
            </a:extLst>
          </p:cNvPr>
          <p:cNvSpPr>
            <a:spLocks xmlns:a="http://schemas.openxmlformats.org/drawingml/2006/main" noGrp="1"/>
          </p:cNvSpPr>
          <p:nvPr/>
        </p:nvSpPr>
        <p:spPr>
          <a:xfrm xmlns:a="http://schemas.openxmlformats.org/drawingml/2006/main">
            <a:off x="2103120" y="214884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7534E"/>
                </a:solidFill>
                <a:latin typeface="Calibri"/>
                <a:ea typeface="Calibri"/>
                <a:cs typeface="Calibri"/>
              </a:rPr>
              <a:t>Profit</a:t>
            </a:r>
            <a:endParaRPr sz="1000"/>
          </a:p>
        </p:txBody>
      </p:sp>
      <p:sp>
        <p:nvSpPr>
          <p:cNvPr id="10" name="Text 7">
            <a:extLst xmlns:a="http://schemas.openxmlformats.org/drawingml/2006/main">
              <a:ext uri="{FF2B5EF4-FFF2-40B4-BE49-F238E27FC236}">
                <a16:creationId xmlns:a16="http://schemas.microsoft.com/office/drawing/2014/main" id="{2A95436A-7D78-4D3B-B6D7-E40C1E48AED6}"/>
              </a:ext>
            </a:extLst>
          </p:cNvPr>
          <p:cNvSpPr>
            <a:spLocks xmlns:a="http://schemas.openxmlformats.org/drawingml/2006/main" noGrp="1"/>
          </p:cNvSpPr>
          <p:nvPr/>
        </p:nvSpPr>
        <p:spPr>
          <a:xfrm xmlns:a="http://schemas.openxmlformats.org/drawingml/2006/main">
            <a:off x="3657600" y="169164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9.9%</a:t>
            </a:r>
            <a:endParaRPr sz="2400"/>
          </a:p>
        </p:txBody>
      </p:sp>
      <p:sp>
        <p:nvSpPr>
          <p:cNvPr id="11" name="Text 8">
            <a:extLst xmlns:a="http://schemas.openxmlformats.org/drawingml/2006/main">
              <a:ext uri="{FF2B5EF4-FFF2-40B4-BE49-F238E27FC236}">
                <a16:creationId xmlns:a16="http://schemas.microsoft.com/office/drawing/2014/main" id="{976327F5-BC8D-4ABD-8E73-3B1BCD3BEA52}"/>
              </a:ext>
            </a:extLst>
          </p:cNvPr>
          <p:cNvSpPr>
            <a:spLocks xmlns:a="http://schemas.openxmlformats.org/drawingml/2006/main" noGrp="1"/>
          </p:cNvSpPr>
          <p:nvPr/>
        </p:nvSpPr>
        <p:spPr>
          <a:xfrm xmlns:a="http://schemas.openxmlformats.org/drawingml/2006/main">
            <a:off x="3657600" y="214884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7534E"/>
                </a:solidFill>
                <a:latin typeface="Calibri"/>
                <a:ea typeface="Calibri"/>
                <a:cs typeface="Calibri"/>
              </a:rPr>
              <a:t>Profit margin</a:t>
            </a:r>
            <a:endParaRPr sz="1000"/>
          </a:p>
        </p:txBody>
      </p:sp>
      <p:sp>
        <p:nvSpPr>
          <p:cNvPr id="12" name="Text 9">
            <a:extLst xmlns:a="http://schemas.openxmlformats.org/drawingml/2006/main">
              <a:ext uri="{FF2B5EF4-FFF2-40B4-BE49-F238E27FC236}">
                <a16:creationId xmlns:a16="http://schemas.microsoft.com/office/drawing/2014/main" id="{A12E254E-F9DF-4189-9426-137877B32FE3}"/>
              </a:ext>
            </a:extLst>
          </p:cNvPr>
          <p:cNvSpPr>
            <a:spLocks xmlns:a="http://schemas.openxmlformats.org/drawingml/2006/main" noGrp="1"/>
          </p:cNvSpPr>
          <p:nvPr/>
        </p:nvSpPr>
        <p:spPr>
          <a:xfrm xmlns:a="http://schemas.openxmlformats.org/drawingml/2006/main">
            <a:off x="5212080" y="169164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$5,062</a:t>
            </a:r>
            <a:endParaRPr sz="2400"/>
          </a:p>
        </p:txBody>
      </p:sp>
      <p:sp>
        <p:nvSpPr>
          <p:cNvPr id="13" name="Text 10">
            <a:extLst xmlns:a="http://schemas.openxmlformats.org/drawingml/2006/main">
              <a:ext uri="{FF2B5EF4-FFF2-40B4-BE49-F238E27FC236}">
                <a16:creationId xmlns:a16="http://schemas.microsoft.com/office/drawing/2014/main" id="{F72D377B-32F9-4015-9453-ABC0773A9EB8}"/>
              </a:ext>
            </a:extLst>
          </p:cNvPr>
          <p:cNvSpPr>
            <a:spLocks xmlns:a="http://schemas.openxmlformats.org/drawingml/2006/main" noGrp="1"/>
          </p:cNvSpPr>
          <p:nvPr/>
        </p:nvSpPr>
        <p:spPr>
          <a:xfrm xmlns:a="http://schemas.openxmlformats.org/drawingml/2006/main">
            <a:off x="5212080" y="214884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7534E"/>
                </a:solidFill>
                <a:latin typeface="Calibri"/>
                <a:ea typeface="Calibri"/>
                <a:cs typeface="Calibri"/>
              </a:rPr>
              <a:t>Average CLV</a:t>
            </a:r>
            <a:endParaRPr sz="1000"/>
          </a:p>
        </p:txBody>
      </p:sp>
      <p:sp>
        <p:nvSpPr>
          <p:cNvPr id="14" name="Text 11">
            <a:extLst xmlns:a="http://schemas.openxmlformats.org/drawingml/2006/main">
              <a:ext uri="{FF2B5EF4-FFF2-40B4-BE49-F238E27FC236}">
                <a16:creationId xmlns:a16="http://schemas.microsoft.com/office/drawing/2014/main" id="{8DEA4558-62A8-4B1E-B08F-3BB6DF9B1149}"/>
              </a:ext>
            </a:extLst>
          </p:cNvPr>
          <p:cNvSpPr>
            <a:spLocks xmlns:a="http://schemas.openxmlformats.org/drawingml/2006/main" noGrp="1"/>
          </p:cNvSpPr>
          <p:nvPr/>
        </p:nvSpPr>
        <p:spPr>
          <a:xfrm xmlns:a="http://schemas.openxmlformats.org/drawingml/2006/main">
            <a:off x="6766560" y="169164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B91C1C"/>
                </a:solidFill>
                <a:latin typeface="Calibri"/>
                <a:ea typeface="Calibri"/>
                <a:cs typeface="Calibri"/>
              </a:rPr>
              <a:t>−7.6%</a:t>
            </a:r>
            <a:endParaRPr sz="2400"/>
          </a:p>
        </p:txBody>
      </p:sp>
      <p:sp>
        <p:nvSpPr>
          <p:cNvPr id="15" name="Text 12">
            <a:extLst xmlns:a="http://schemas.openxmlformats.org/drawingml/2006/main">
              <a:ext uri="{FF2B5EF4-FFF2-40B4-BE49-F238E27FC236}">
                <a16:creationId xmlns:a16="http://schemas.microsoft.com/office/drawing/2014/main" id="{89AFE005-468D-4054-9CD2-98071F61B684}"/>
              </a:ext>
            </a:extLst>
          </p:cNvPr>
          <p:cNvSpPr>
            <a:spLocks xmlns:a="http://schemas.openxmlformats.org/drawingml/2006/main" noGrp="1"/>
          </p:cNvSpPr>
          <p:nvPr/>
        </p:nvSpPr>
        <p:spPr>
          <a:xfrm xmlns:a="http://schemas.openxmlformats.org/drawingml/2006/main">
            <a:off x="6766560" y="214884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7534E"/>
                </a:solidFill>
                <a:latin typeface="Calibri"/>
                <a:ea typeface="Calibri"/>
                <a:cs typeface="Calibri"/>
              </a:rPr>
              <a:t>Modeled promotion ROI</a:t>
            </a:r>
            <a:endParaRPr sz="1000"/>
          </a:p>
        </p:txBody>
      </p:sp>
      <p:sp>
        <p:nvSpPr>
          <p:cNvPr id="16" name="Shape 13">
            <a:extLst xmlns:a="http://schemas.openxmlformats.org/drawingml/2006/main">
              <a:ext uri="{FF2B5EF4-FFF2-40B4-BE49-F238E27FC236}">
                <a16:creationId xmlns:a16="http://schemas.microsoft.com/office/drawing/2014/main" id="{EC660E7A-7406-4EE3-A7EB-408EE120003F}"/>
              </a:ext>
            </a:extLst>
          </p:cNvPr>
          <p:cNvSpPr>
            <a:spLocks xmlns:a="http://schemas.openxmlformats.org/drawingml/2006/main" noGrp="1"/>
          </p:cNvSpPr>
          <p:nvPr/>
        </p:nvSpPr>
        <p:spPr>
          <a:xfrm xmlns:a="http://schemas.openxmlformats.org/drawingml/2006/main">
            <a:off x="548640" y="2606040"/>
            <a:ext cx="7772400"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C282F115-CABE-47FB-9A08-F736B45EE64B}"/>
              </a:ext>
            </a:extLst>
          </p:cNvPr>
          <p:cNvSpPr>
            <a:spLocks xmlns:a="http://schemas.openxmlformats.org/drawingml/2006/main" noGrp="1"/>
          </p:cNvSpPr>
          <p:nvPr/>
        </p:nvSpPr>
        <p:spPr>
          <a:xfrm xmlns:a="http://schemas.openxmlformats.org/drawingml/2006/main">
            <a:off x="548640" y="2743200"/>
            <a:ext cx="3771900" cy="1691640"/>
          </a:xfrm>
          <a:prstGeom xmlns:a="http://schemas.openxmlformats.org/drawingml/2006/main" prst="rect">
            <a:avLst/>
          </a:prstGeom>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C3C37EC6-03AE-4EF0-AC2E-78FAEB20FF1D}"/>
              </a:ext>
            </a:extLst>
          </p:cNvPr>
          <p:cNvSpPr>
            <a:spLocks xmlns:a="http://schemas.openxmlformats.org/drawingml/2006/main" noGrp="1"/>
          </p:cNvSpPr>
          <p:nvPr/>
        </p:nvSpPr>
        <p:spPr>
          <a:xfrm xmlns:a="http://schemas.openxmlformats.org/drawingml/2006/main">
            <a:off x="658368" y="2807208"/>
            <a:ext cx="355244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92524"/>
                </a:solidFill>
                <a:latin typeface="Calibri"/>
                <a:ea typeface="Calibri"/>
                <a:cs typeface="Calibri"/>
              </a:rPr>
              <a:t>Profit by category ($M)</a:t>
            </a:r>
            <a:endParaRPr sz="1050"/>
          </a:p>
        </p:txBody>
      </p:sp>
      <p:sp>
        <p:nvSpPr>
          <p:cNvPr id="20" name="Shape 16">
            <a:extLst xmlns:a="http://schemas.openxmlformats.org/drawingml/2006/main">
              <a:ext uri="{FF2B5EF4-FFF2-40B4-BE49-F238E27FC236}">
                <a16:creationId xmlns:a16="http://schemas.microsoft.com/office/drawing/2014/main" id="{A1686945-6E49-493E-899A-45991492CA7F}"/>
              </a:ext>
            </a:extLst>
          </p:cNvPr>
          <p:cNvSpPr>
            <a:spLocks xmlns:a="http://schemas.openxmlformats.org/drawingml/2006/main" noGrp="1"/>
          </p:cNvSpPr>
          <p:nvPr/>
        </p:nvSpPr>
        <p:spPr>
          <a:xfrm xmlns:a="http://schemas.openxmlformats.org/drawingml/2006/main">
            <a:off x="4549140" y="2743200"/>
            <a:ext cx="3771900" cy="1691640"/>
          </a:xfrm>
          <a:prstGeom xmlns:a="http://schemas.openxmlformats.org/drawingml/2006/main" prst="rect">
            <a:avLst/>
          </a:prstGeom>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DD814A59-6127-4965-B046-B097C36E891F}"/>
              </a:ext>
            </a:extLst>
          </p:cNvPr>
          <p:cNvSpPr>
            <a:spLocks xmlns:a="http://schemas.openxmlformats.org/drawingml/2006/main" noGrp="1"/>
          </p:cNvSpPr>
          <p:nvPr/>
        </p:nvSpPr>
        <p:spPr>
          <a:xfrm xmlns:a="http://schemas.openxmlformats.org/drawingml/2006/main">
            <a:off x="4658868" y="2807208"/>
            <a:ext cx="355244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92524"/>
                </a:solidFill>
                <a:latin typeface="Calibri"/>
                <a:ea typeface="Calibri"/>
                <a:cs typeface="Calibri"/>
              </a:rPr>
              <a:t>Churn rate by loyalty tier</a:t>
            </a:r>
            <a:endParaRPr sz="1050"/>
          </a:p>
        </p:txBody>
      </p:sp>
      <p:sp>
        <p:nvSpPr>
          <p:cNvPr id="23" name="Shape 18">
            <a:extLst xmlns:a="http://schemas.openxmlformats.org/drawingml/2006/main">
              <a:ext uri="{FF2B5EF4-FFF2-40B4-BE49-F238E27FC236}">
                <a16:creationId xmlns:a16="http://schemas.microsoft.com/office/drawing/2014/main" id="{16CC5AD0-CBB7-4D64-8C8F-1F6C740B957B}"/>
              </a:ext>
            </a:extLst>
          </p:cNvPr>
          <p:cNvSpPr>
            <a:spLocks xmlns:a="http://schemas.openxmlformats.org/drawingml/2006/main" noGrp="1"/>
          </p:cNvSpPr>
          <p:nvPr/>
        </p:nvSpPr>
        <p:spPr>
          <a:xfrm xmlns:a="http://schemas.openxmlformats.org/drawingml/2006/main">
            <a:off x="548640" y="4572000"/>
            <a:ext cx="3771900" cy="1691640"/>
          </a:xfrm>
          <a:prstGeom xmlns:a="http://schemas.openxmlformats.org/drawingml/2006/main" prst="rect">
            <a:avLst/>
          </a:prstGeom>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19">
            <a:extLst xmlns:a="http://schemas.openxmlformats.org/drawingml/2006/main">
              <a:ext uri="{FF2B5EF4-FFF2-40B4-BE49-F238E27FC236}">
                <a16:creationId xmlns:a16="http://schemas.microsoft.com/office/drawing/2014/main" id="{E7F9676C-9F2A-4F7A-8688-FC447BDB50D0}"/>
              </a:ext>
            </a:extLst>
          </p:cNvPr>
          <p:cNvSpPr>
            <a:spLocks xmlns:a="http://schemas.openxmlformats.org/drawingml/2006/main" noGrp="1"/>
          </p:cNvSpPr>
          <p:nvPr/>
        </p:nvSpPr>
        <p:spPr>
          <a:xfrm xmlns:a="http://schemas.openxmlformats.org/drawingml/2006/main">
            <a:off x="658368" y="4636008"/>
            <a:ext cx="355244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92524"/>
                </a:solidFill>
                <a:latin typeface="Calibri"/>
                <a:ea typeface="Calibri"/>
                <a:cs typeface="Calibri"/>
              </a:rPr>
              <a:t>Supply chain risk by lead time (days)</a:t>
            </a:r>
            <a:endParaRPr sz="1050"/>
          </a:p>
        </p:txBody>
      </p:sp>
      <p:sp>
        <p:nvSpPr>
          <p:cNvPr id="26" name="Shape 20">
            <a:extLst xmlns:a="http://schemas.openxmlformats.org/drawingml/2006/main">
              <a:ext uri="{FF2B5EF4-FFF2-40B4-BE49-F238E27FC236}">
                <a16:creationId xmlns:a16="http://schemas.microsoft.com/office/drawing/2014/main" id="{8FBA3056-F33E-4453-B185-7762E4B697CE}"/>
              </a:ext>
            </a:extLst>
          </p:cNvPr>
          <p:cNvSpPr>
            <a:spLocks xmlns:a="http://schemas.openxmlformats.org/drawingml/2006/main" noGrp="1"/>
          </p:cNvSpPr>
          <p:nvPr/>
        </p:nvSpPr>
        <p:spPr>
          <a:xfrm xmlns:a="http://schemas.openxmlformats.org/drawingml/2006/main">
            <a:off x="4549140" y="4572000"/>
            <a:ext cx="3771900" cy="1691640"/>
          </a:xfrm>
          <a:prstGeom xmlns:a="http://schemas.openxmlformats.org/drawingml/2006/main" prst="rect">
            <a:avLst/>
          </a:prstGeom>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1">
            <a:extLst xmlns:a="http://schemas.openxmlformats.org/drawingml/2006/main">
              <a:ext uri="{FF2B5EF4-FFF2-40B4-BE49-F238E27FC236}">
                <a16:creationId xmlns:a16="http://schemas.microsoft.com/office/drawing/2014/main" id="{64C5DD95-BE50-481A-B1D8-9F90F14C443C}"/>
              </a:ext>
            </a:extLst>
          </p:cNvPr>
          <p:cNvSpPr>
            <a:spLocks xmlns:a="http://schemas.openxmlformats.org/drawingml/2006/main" noGrp="1"/>
          </p:cNvSpPr>
          <p:nvPr/>
        </p:nvSpPr>
        <p:spPr>
          <a:xfrm xmlns:a="http://schemas.openxmlformats.org/drawingml/2006/main">
            <a:off x="4658868" y="4636008"/>
            <a:ext cx="355244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92524"/>
                </a:solidFill>
                <a:latin typeface="Calibri"/>
                <a:ea typeface="Calibri"/>
                <a:cs typeface="Calibri"/>
              </a:rPr>
              <a:t>Margin by promotion type</a:t>
            </a:r>
            <a:endParaRPr sz="1050"/>
          </a:p>
        </p:txBody>
      </p:sp>
      <p:sp>
        <p:nvSpPr>
          <p:cNvPr id="29" name="Text 22">
            <a:extLst xmlns:a="http://schemas.openxmlformats.org/drawingml/2006/main">
              <a:ext uri="{FF2B5EF4-FFF2-40B4-BE49-F238E27FC236}">
                <a16:creationId xmlns:a16="http://schemas.microsoft.com/office/drawing/2014/main" id="{DF2F1BA2-D2EF-440A-A2F9-8393E2C0B9FA}"/>
              </a:ext>
            </a:extLst>
          </p:cNvPr>
          <p:cNvSpPr>
            <a:spLocks xmlns:a="http://schemas.openxmlformats.org/drawingml/2006/main" noGrp="1"/>
          </p:cNvSpPr>
          <p:nvPr/>
        </p:nvSpPr>
        <p:spPr>
          <a:xfrm xmlns:a="http://schemas.openxmlformats.org/drawingml/2006/main">
            <a:off x="8595360" y="1691640"/>
            <a:ext cx="30449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C2410C"/>
                </a:solidFill>
                <a:latin typeface="Calibri"/>
                <a:ea typeface="Calibri"/>
                <a:cs typeface="Calibri"/>
              </a:rPr>
              <a:t>Four board decisions</a:t>
            </a:r>
            <a:endParaRPr sz="1300"/>
          </a:p>
        </p:txBody>
      </p:sp>
      <p:graphicFrame>
        <p:nvGraphicFramePr>
          <p:cNvPr id="64" name="Table 0"/>
          <p:cNvGraphicFramePr/>
          <p:nvPr/>
        </p:nvGraphicFramePr>
        <p:xfrm>
          <a:off xmlns:a="http://schemas.openxmlformats.org/drawingml/2006/main" x="8595360" y="2011680"/>
          <a:ext xmlns:a="http://schemas.openxmlformats.org/drawingml/2006/main" cx="3044952" cy="2011680"/>
        </p:xfrm>
        <a:graphic xmlns:a="http://schemas.openxmlformats.org/drawingml/2006/main">
          <a:graphicData uri="http://schemas.openxmlformats.org/drawingml/2006/table">
            <a:tbl>
              <a:tblPr/>
              <a:tblGrid>
                <a:gridCol w="274320"/>
                <a:gridCol w="1417320"/>
                <a:gridCol w="658368"/>
                <a:gridCol w="694944"/>
              </a:tblGrid>
              <a:tr h="310896">
                <a:tc>
                  <a:txBody>
                    <a:bodyPr/>
                    <a:lstStyle/>
                    <a:p>
                      <a:pPr marL="0" indent="0">
                        <a:buNone/>
                      </a:pPr>
                      <a:r>
                        <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Initiative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Value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Gate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566928">
                <a:tc>
                  <a:txBody>
                    <a:bodyPr/>
                    <a:lstStyle/>
                    <a:p>
                      <a:pPr marL="0" indent="0">
                        <a:buNone/>
                      </a:pPr>
                      <a:r>
                        <a:rPr sz="1150" b="1">
                          <a:solidFill>
                            <a:srgbClr val="EA580C"/>
                          </a:solidFill>
                          <a:latin typeface="Calibri"/>
                          <a:ea typeface="Calibri"/>
                          <a:cs typeface="Calibri"/>
                        </a:rPr>
                        <a:t>1</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050">
                          <a:solidFill>
                            <a:srgbClr val="292524"/>
                          </a:solidFill>
                          <a:latin typeface="Calibri"/>
                          <a:ea typeface="Calibri"/>
                          <a:cs typeface="Calibri"/>
                        </a:rPr>
                        <a:t>Promotion guardrails</a:t>
                      </a:r>
                      <a:endParaRPr sz="10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+$4.2M</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≥50% ROI</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566928">
                <a:tc>
                  <a:txBody>
                    <a:bodyPr/>
                    <a:lstStyle/>
                    <a:p>
                      <a:pPr marL="0" indent="0">
                        <a:buNone/>
                      </a:pPr>
                      <a:r>
                        <a:rPr sz="1150" b="1">
                          <a:solidFill>
                            <a:srgbClr val="EA580C"/>
                          </a:solidFill>
                          <a:latin typeface="Calibri"/>
                          <a:ea typeface="Calibri"/>
                          <a:cs typeface="Calibri"/>
                        </a:rPr>
                        <a:t>2</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292524"/>
                          </a:solidFill>
                          <a:latin typeface="Calibri"/>
                          <a:ea typeface="Calibri"/>
                          <a:cs typeface="Calibri"/>
                        </a:rPr>
                        <a:t>Close loss pockets</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+$3.8M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20 by Day 120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566928">
                <a:tc>
                  <a:txBody>
                    <a:bodyPr/>
                    <a:lstStyle/>
                    <a:p>
                      <a:pPr marL="0" indent="0">
                        <a:buNone/>
                      </a:pPr>
                      <a:r>
                        <a:rPr sz="1150" b="1">
                          <a:solidFill>
                            <a:srgbClr val="EA580C"/>
                          </a:solidFill>
                          <a:latin typeface="Calibri"/>
                          <a:ea typeface="Calibri"/>
                          <a:cs typeface="Calibri"/>
                        </a:rPr>
                        <a:t>3</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292524"/>
                          </a:solidFill>
                          <a:latin typeface="Calibri"/>
                          <a:ea typeface="Calibri"/>
                          <a:cs typeface="Calibri"/>
                        </a:rPr>
                        <a:t>Value × Risk retention</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+$2.5M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15% holdout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31" name="Text 23">
            <a:extLst xmlns:a="http://schemas.openxmlformats.org/drawingml/2006/main">
              <a:ext uri="{FF2B5EF4-FFF2-40B4-BE49-F238E27FC236}">
                <a16:creationId xmlns:a16="http://schemas.microsoft.com/office/drawing/2014/main" id="{87A8E1B1-9ED1-4D0A-9E95-8A2C4B6FD381}"/>
              </a:ext>
            </a:extLst>
          </p:cNvPr>
          <p:cNvSpPr>
            <a:spLocks xmlns:a="http://schemas.openxmlformats.org/drawingml/2006/main" noGrp="1"/>
          </p:cNvSpPr>
          <p:nvPr/>
        </p:nvSpPr>
        <p:spPr>
          <a:xfrm xmlns:a="http://schemas.openxmlformats.org/drawingml/2006/main">
            <a:off x="8595360" y="4251960"/>
            <a:ext cx="3044952"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900"/>
              </a:spcAft>
              <a:buNone/>
            </a:pPr>
            <a:r>
              <a:rPr sz="1200">
                <a:solidFill>
                  <a:srgbClr val="292524"/>
                </a:solidFill>
                <a:latin typeface="Calibri"/>
                <a:ea typeface="Calibri"/>
                <a:cs typeface="Calibri"/>
              </a:rPr>
              <a:t>1. Choose a problem.</a:t>
            </a:r>
            <a:endParaRPr sz="1200"/>
          </a:p>
          <a:p xmlns:a="http://schemas.openxmlformats.org/drawingml/2006/main">
            <a:pPr marL="0" indent="0">
              <a:buNone/>
            </a:pPr>
            <a:r>
              <a:rPr sz="1200" b="1">
                <a:solidFill>
                  <a:srgbClr val="C2410C"/>
                </a:solidFill>
                <a:latin typeface="Calibri"/>
                <a:ea typeface="Calibri"/>
                <a:cs typeface="Calibri"/>
              </a:rPr>
              <a:t>2. Change the region.</a:t>
            </a:r>
            <a:endParaRPr sz="1200"/>
          </a:p>
          <a:p xmlns:a="http://schemas.openxmlformats.org/drawingml/2006/main">
            <a:pPr marL="0" indent="0">
              <a:buNone/>
            </a:pPr>
            <a:r>
              <a:rPr sz="1200" b="1">
                <a:solidFill>
                  <a:srgbClr val="C2410C"/>
                </a:solidFill>
                <a:latin typeface="Calibri"/>
                <a:ea typeface="Calibri"/>
                <a:cs typeface="Calibri"/>
              </a:rPr>
              <a:t>3. Test the offer or customer segment.</a:t>
            </a:r>
            <a:endParaRPr sz="1200"/>
          </a:p>
          <a:p xmlns:a="http://schemas.openxmlformats.org/drawingml/2006/main">
            <a:pPr marL="0" indent="0">
              <a:buNone/>
            </a:pPr>
            <a:r>
              <a:rPr sz="1200" b="1">
                <a:solidFill>
                  <a:srgbClr val="C2410C"/>
                </a:solidFill>
                <a:latin typeface="Calibri"/>
                <a:ea typeface="Calibri"/>
                <a:cs typeface="Calibri"/>
              </a:rPr>
              <a:t>4. End with an owner and next action.</a:t>
            </a:r>
            <a:endParaRPr sz="1200"/>
          </a:p>
        </p:txBody>
      </p:sp>
      <p:sp>
        <p:nvSpPr>
          <p:cNvPr id="30" name="Slide Number Placeholder 0">
            <a:extLst xmlns:a="http://schemas.openxmlformats.org/drawingml/2006/main">
              <a:ext uri="{FF2B5EF4-FFF2-40B4-BE49-F238E27FC236}">
                <a16:creationId xmlns:a16="http://schemas.microsoft.com/office/drawing/2014/main" id="{C032FAC0-803A-4004-BDD4-0C32FE72D0D4}"/>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12</a:t>
            </a:fld>
            <a:endParaRPr/>
          </a:p>
        </p:txBody>
      </p:sp>
      <p:graphicFrame>
        <p:nvGraphicFramePr>
          <p:cNvPr id="67" name="Rebuilt editable chart: ch/k3ydojyx"/>
          <p:cNvGraphicFramePr/>
          <p:nvPr/>
        </p:nvGraphicFramePr>
        <p:xfrm>
          <a:off xmlns:a="http://schemas.openxmlformats.org/drawingml/2006/main" x="548640" y="3035808"/>
          <a:ext xmlns:a="http://schemas.openxmlformats.org/drawingml/2006/main" cx="3771900" cy="1371600"/>
        </p:xfrm>
        <a:graphic xmlns:a="http://schemas.openxmlformats.org/drawingml/2006/main">
          <a:graphicData uri="http://schemas.openxmlformats.org/drawingml/2006/chart">
            <c:chart xmlns:r="http://schemas.openxmlformats.org/officeDocument/2006/relationships" xmlns:c="http://schemas.openxmlformats.org/drawingml/2006/chart" r:id="R4000d45a51a44ad6"/>
          </a:graphicData>
        </a:graphic>
      </p:graphicFrame>
      <p:graphicFrame>
        <p:nvGraphicFramePr>
          <p:cNvPr id="68" name="Rebuilt editable chart: ch/l47uhozi"/>
          <p:cNvGraphicFramePr/>
          <p:nvPr/>
        </p:nvGraphicFramePr>
        <p:xfrm>
          <a:off xmlns:a="http://schemas.openxmlformats.org/drawingml/2006/main" x="4549140" y="3035808"/>
          <a:ext xmlns:a="http://schemas.openxmlformats.org/drawingml/2006/main" cx="3771900" cy="1371600"/>
        </p:xfrm>
        <a:graphic xmlns:a="http://schemas.openxmlformats.org/drawingml/2006/main">
          <a:graphicData uri="http://schemas.openxmlformats.org/drawingml/2006/chart">
            <c:chart xmlns:r="http://schemas.openxmlformats.org/officeDocument/2006/relationships" xmlns:c="http://schemas.openxmlformats.org/drawingml/2006/chart" r:id="Ra13d1c52615f4c5e"/>
          </a:graphicData>
        </a:graphic>
      </p:graphicFrame>
      <p:graphicFrame>
        <p:nvGraphicFramePr>
          <p:cNvPr id="69" name="Rebuilt editable chart: ch/axwvi9gv"/>
          <p:cNvGraphicFramePr/>
          <p:nvPr/>
        </p:nvGraphicFramePr>
        <p:xfrm>
          <a:off xmlns:a="http://schemas.openxmlformats.org/drawingml/2006/main" x="548640" y="4864608"/>
          <a:ext xmlns:a="http://schemas.openxmlformats.org/drawingml/2006/main" cx="3771900" cy="1371600"/>
        </p:xfrm>
        <a:graphic xmlns:a="http://schemas.openxmlformats.org/drawingml/2006/main">
          <a:graphicData uri="http://schemas.openxmlformats.org/drawingml/2006/chart">
            <c:chart xmlns:r="http://schemas.openxmlformats.org/officeDocument/2006/relationships" xmlns:c="http://schemas.openxmlformats.org/drawingml/2006/chart" r:id="R594b70c0e562421c"/>
          </a:graphicData>
        </a:graphic>
      </p:graphicFrame>
      <p:graphicFrame>
        <p:nvGraphicFramePr>
          <p:cNvPr id="70" name="Rebuilt editable chart: ch/by5cbehg"/>
          <p:cNvGraphicFramePr/>
          <p:nvPr/>
        </p:nvGraphicFramePr>
        <p:xfrm>
          <a:off xmlns:a="http://schemas.openxmlformats.org/drawingml/2006/main" x="4549140" y="4864608"/>
          <a:ext xmlns:a="http://schemas.openxmlformats.org/drawingml/2006/main" cx="3771900" cy="1371600"/>
        </p:xfrm>
        <a:graphic xmlns:a="http://schemas.openxmlformats.org/drawingml/2006/main">
          <a:graphicData uri="http://schemas.openxmlformats.org/drawingml/2006/chart">
            <c:chart xmlns:r="http://schemas.openxmlformats.org/officeDocument/2006/relationships" xmlns:c="http://schemas.openxmlformats.org/drawingml/2006/chart" r:id="Rb54d896acf37490a"/>
          </a:graphicData>
        </a:graphic>
      </p:graphicFrame>
    </p:spTree>
    <p:extLst>
      <p:ext uri="{BB962C8B-B14F-4D97-AF65-F5344CB8AC3E}">
        <p14:creationId xmlns:p14="http://schemas.microsoft.com/office/powerpoint/2010/main" val="17477351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BB5FF0-57F0-47DA-A78B-AB400F10BD95}"/>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Priority choice</a:t>
            </a:r>
            <a:endParaRPr sz="1100"/>
          </a:p>
        </p:txBody>
      </p:sp>
      <p:sp>
        <p:nvSpPr>
          <p:cNvPr id="3" name="Text 1">
            <a:extLst xmlns:a="http://schemas.openxmlformats.org/drawingml/2006/main">
              <a:ext uri="{FF2B5EF4-FFF2-40B4-BE49-F238E27FC236}">
                <a16:creationId xmlns:a16="http://schemas.microsoft.com/office/drawing/2014/main" id="{1560F39E-8065-45C5-81C8-FB72C0D9E4BF}"/>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Q1 and Q2 focus on four measurable problems</a:t>
            </a:r>
            <a:endParaRPr sz="2500"/>
          </a:p>
        </p:txBody>
      </p:sp>
      <p:sp>
        <p:nvSpPr>
          <p:cNvPr id="4" name="Text 2">
            <a:extLst xmlns:a="http://schemas.openxmlformats.org/drawingml/2006/main">
              <a:ext uri="{FF2B5EF4-FFF2-40B4-BE49-F238E27FC236}">
                <a16:creationId xmlns:a16="http://schemas.microsoft.com/office/drawing/2014/main" id="{D39F64B2-603A-4B1F-8B20-DD5481AE52EF}"/>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Two Two Consulting dashboard and implementation plan. Values are illustrative annual run-rate scenarios to be verified through controlled pilots and the Finance value ledger.</a:t>
            </a:r>
            <a:endParaRPr sz="900"/>
          </a:p>
        </p:txBody>
      </p:sp>
      <p:graphicFrame>
        <p:nvGraphicFramePr>
          <p:cNvPr id="30" name="Table 0"/>
          <p:cNvGraphicFramePr/>
          <p:nvPr/>
        </p:nvGraphicFramePr>
        <p:xfrm>
          <a:off xmlns:a="http://schemas.openxmlformats.org/drawingml/2006/main" x="548640" y="1691640"/>
          <a:ext xmlns:a="http://schemas.openxmlformats.org/drawingml/2006/main" cx="11094415" cy="4023360"/>
        </p:xfrm>
        <a:graphic xmlns:a="http://schemas.openxmlformats.org/drawingml/2006/main">
          <a:graphicData uri="http://schemas.openxmlformats.org/drawingml/2006/table">
            <a:tbl>
              <a:tblPr/>
              <a:tblGrid>
                <a:gridCol w="457200"/>
                <a:gridCol w="1600200"/>
                <a:gridCol w="4480560"/>
                <a:gridCol w="2834640"/>
                <a:gridCol w="731520"/>
                <a:gridCol w="990295"/>
              </a:tblGrid>
              <a:tr h="329184">
                <a:tc>
                  <a:txBody>
                    <a:bodyPr/>
                    <a:lstStyle/>
                    <a:p>
                      <a:pPr marL="0" indent="0" algn="ctr">
                        <a:buNone/>
                      </a:pPr>
                      <a:r>
                        <a:rPr sz="1100" b="1">
                          <a:solidFill>
                            <a:srgbClr val="1C1917"/>
                          </a:solidFill>
                          <a:latin typeface="Calibri"/>
                          <a:ea typeface="Calibri"/>
                          <a:cs typeface="Calibri"/>
                        </a:rPr>
                        <a:t>#</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Area</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What we recommend</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Why</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Effort</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Value / yr</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566928">
                <a:tc>
                  <a:txBody>
                    <a:bodyPr/>
                    <a:lstStyle/>
                    <a:p>
                      <a:pPr marL="0" indent="0" algn="ctr">
                        <a:buNone/>
                      </a:pPr>
                      <a:r>
                        <a:rPr sz="1400" b="1">
                          <a:solidFill>
                            <a:srgbClr val="EA580C"/>
                          </a:solidFill>
                          <a:latin typeface="Calibri"/>
                          <a:ea typeface="Calibri"/>
                          <a:cs typeface="Calibri"/>
                        </a:rPr>
                        <a:t>1</a:t>
                      </a:r>
                      <a:endParaRPr sz="14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Promotion leakage</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Q1: freeze unapproved BOGO and Clearance; require 5% margin, 50% ROI, and traffic loss below 3%.</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BOGO −16.4%; Clearance −35.6%</a:t>
                      </a:r>
                      <a:endParaRPr sz="10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Low</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+$4.2M</a:t>
                      </a:r>
                      <a:endParaRPr sz="12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548640">
                <a:tc>
                  <a:txBody>
                    <a:bodyPr/>
                    <a:lstStyle/>
                    <a:p>
                      <a:pPr marL="0" indent="0" algn="ctr">
                        <a:buNone/>
                      </a:pPr>
                      <a:r>
                        <a:rPr sz="1400" b="1">
                          <a:solidFill>
                            <a:srgbClr val="EA580C"/>
                          </a:solidFill>
                          <a:latin typeface="Calibri"/>
                          <a:ea typeface="Calibri"/>
                          <a:cs typeface="Calibri"/>
                        </a:rPr>
                        <a:t>2</a:t>
                      </a:r>
                      <a:endParaRPr sz="14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Loss-making sales</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Q1: publish the top 50 loss pockets; assign the top 20 to owners with one recovery lever.</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54.5% of observations lose money</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Low</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+$5.3M</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548640">
                <a:tc>
                  <a:txBody>
                    <a:bodyPr/>
                    <a:lstStyle/>
                    <a:p>
                      <a:pPr marL="0" indent="0" algn="ctr">
                        <a:buNone/>
                      </a:pPr>
                      <a:r>
                        <a:rPr sz="1400" b="1">
                          <a:solidFill>
                            <a:srgbClr val="EA580C"/>
                          </a:solidFill>
                          <a:latin typeface="Calibri"/>
                          <a:ea typeface="Calibri"/>
                          <a:cs typeface="Calibri"/>
                        </a:rPr>
                        <a:t>3</a:t>
                      </a:r>
                      <a:endParaRPr sz="14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Customer churn</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Q2: test 10% off with 600 Protect-now customers and keep 15% untreated.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1,408 customers need priority</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Medium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+$2.5M</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548640">
                <a:tc>
                  <a:txBody>
                    <a:bodyPr/>
                    <a:lstStyle/>
                    <a:p>
                      <a:pPr marL="0" indent="0" algn="ctr">
                        <a:buNone/>
                      </a:pPr>
                      <a:r>
                        <a:rPr sz="1400" b="1">
                          <a:solidFill>
                            <a:srgbClr val="EA580C"/>
                          </a:solidFill>
                          <a:latin typeface="Calibri"/>
                          <a:ea typeface="Calibri"/>
                          <a:cs typeface="Calibri"/>
                        </a:rPr>
                        <a:t>4</a:t>
                      </a:r>
                      <a:endParaRPr sz="14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Weak loyalty targeting</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Q2: use Value × Risk rather than loyalty tier alone; measure retained CLV against holdout.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Average CLV varies little by tier</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Low</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Foundation</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566928">
                <a:tc>
                  <a:txBody>
                    <a:bodyPr/>
                    <a:lstStyle/>
                    <a:p>
                      <a:pPr marL="0" indent="0" algn="ctr">
                        <a:buNone/>
                      </a:pPr>
                      <a:r>
                        <a:rPr sz="1400" b="1">
                          <a:solidFill>
                            <a:srgbClr val="EA580C"/>
                          </a:solidFill>
                          <a:latin typeface="Calibri"/>
                          <a:ea typeface="Calibri"/>
                          <a:cs typeface="Calibri"/>
                        </a:rPr>
                        <a:t>5</a:t>
                      </a: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Inventory inefficiency</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Q3: set turnover targets, review slow stock, and reconcile holding-cost baselines.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$81.5M holding cost sits in slow-turn records</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Medium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Q3 case</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lgn="ctr" defTabSz="914400">
                        <a:buNone/>
                      </a:pPr>
                      <a:r>
                        <a:rPr sz="1400" b="1">
                          <a:solidFill>
                            <a:srgbClr val="EA580C"/>
                          </a:solidFill>
                          <a:latin typeface="Calibri"/>
                          <a:ea typeface="Calibri"/>
                          <a:cs typeface="Calibri"/>
                        </a:rPr>
                        <a:t>6</a:t>
                      </a: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Supply chain + logistics</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Q3: reduce long lead times, stockouts, backorders, and high-cost transport lanes.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Cost base needs Finance reconciliation first</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High</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57534E"/>
                          </a:solidFill>
                          <a:latin typeface="Calibri"/>
                          <a:ea typeface="Calibri"/>
                          <a:cs typeface="Calibri"/>
                        </a:rPr>
                        <a:t>Q3 case</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lgn="ctr" defTabSz="914400">
                        <a:buNone/>
                      </a:pPr>
                      <a:r>
                        <a:rPr sz="1400" b="1">
                          <a:solidFill>
                            <a:srgbClr val="EA580C"/>
                          </a:solidFill>
                          <a:latin typeface="Calibri"/>
                          <a:ea typeface="Calibri"/>
                          <a:cs typeface="Calibri"/>
                        </a:rPr>
                        <a:t>7</a:t>
                      </a: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b="1">
                          <a:solidFill>
                            <a:srgbClr val="292524"/>
                          </a:solidFill>
                          <a:latin typeface="Calibri"/>
                          <a:ea typeface="Calibri"/>
                          <a:cs typeface="Calibri"/>
                        </a:rPr>
                        <a:t>Fragmented reporting</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Q1–Q2: run one dashboard, metric dictionary, evidence gates, and monthly value ledger.</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050">
                          <a:solidFill>
                            <a:srgbClr val="57534E"/>
                          </a:solidFill>
                          <a:latin typeface="Calibri"/>
                          <a:ea typeface="Calibri"/>
                          <a:cs typeface="Calibri"/>
                        </a:rPr>
                        <a:t>No shared record key</a:t>
                      </a:r>
                      <a:endParaRPr sz="10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Medium</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57534E"/>
                          </a:solidFill>
                          <a:latin typeface="Calibri"/>
                          <a:ea typeface="Calibri"/>
                          <a:cs typeface="Calibri"/>
                        </a:rPr>
                        <a:t>Enables</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1E802130-2451-47BF-BBC4-D9CD7D419D53}"/>
              </a:ext>
            </a:extLst>
          </p:cNvPr>
          <p:cNvSpPr>
            <a:spLocks xmlns:a="http://schemas.openxmlformats.org/drawingml/2006/main" noGrp="1"/>
          </p:cNvSpPr>
          <p:nvPr/>
        </p:nvSpPr>
        <p:spPr>
          <a:xfrm xmlns:a="http://schemas.openxmlformats.org/drawingml/2006/main">
            <a:off x="548640" y="5989320"/>
            <a:ext cx="1109441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57534E"/>
                </a:solidFill>
                <a:latin typeface="Calibri"/>
                <a:ea typeface="Calibri"/>
                <a:cs typeface="Calibri"/>
              </a:rPr>
              <a:t>The pitch follows promotion margin, loss-making sales, churn risk, and customer value. Inventory, supply chain, and logistics return in Q3 after Finance reconciles the operating cost baseline.</a:t>
            </a:r>
            <a:endParaRPr sz="1100"/>
          </a:p>
        </p:txBody>
      </p:sp>
      <p:sp>
        <p:nvSpPr>
          <p:cNvPr id="25" name="Slide Number Placeholder 0">
            <a:extLst xmlns:a="http://schemas.openxmlformats.org/drawingml/2006/main">
              <a:ext uri="{FF2B5EF4-FFF2-40B4-BE49-F238E27FC236}">
                <a16:creationId xmlns:a16="http://schemas.microsoft.com/office/drawing/2014/main" id="{DA0B622A-8CBE-47EC-A0BA-3B3137D80658}"/>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13</a:t>
            </a:fld>
            <a:endParaRPr/>
          </a:p>
        </p:txBody>
      </p:sp>
    </p:spTree>
    <p:extLst>
      <p:ext uri="{BB962C8B-B14F-4D97-AF65-F5344CB8AC3E}">
        <p14:creationId xmlns:p14="http://schemas.microsoft.com/office/powerpoint/2010/main" val="16595902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8448BB-D254-4178-8015-76266219345D}"/>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Why now</a:t>
            </a:r>
            <a:endParaRPr sz="1100"/>
          </a:p>
        </p:txBody>
      </p:sp>
      <p:sp>
        <p:nvSpPr>
          <p:cNvPr id="3" name="Text 1">
            <a:extLst xmlns:a="http://schemas.openxmlformats.org/drawingml/2006/main">
              <a:ext uri="{FF2B5EF4-FFF2-40B4-BE49-F238E27FC236}">
                <a16:creationId xmlns:a16="http://schemas.microsoft.com/office/drawing/2014/main" id="{71A5B288-DE8A-45E4-8E9B-DAF6EE58DD8A}"/>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Revenue growth reached 12.7% while profit growth fell to −4.8%</a:t>
            </a:r>
            <a:endParaRPr sz="2500"/>
          </a:p>
        </p:txBody>
      </p:sp>
      <p:sp>
        <p:nvSpPr>
          <p:cNvPr id="4" name="Text 2">
            <a:extLst xmlns:a="http://schemas.openxmlformats.org/drawingml/2006/main">
              <a:ext uri="{FF2B5EF4-FFF2-40B4-BE49-F238E27FC236}">
                <a16:creationId xmlns:a16="http://schemas.microsoft.com/office/drawing/2014/main" id="{82CE97EF-741D-4637-B79B-33C1D24F95B1}"/>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consulting packet (growth table and Theories 1-6); Two Two Consulting analysis of the three HRG datasets.</a:t>
            </a:r>
            <a:endParaRPr sz="900"/>
          </a:p>
        </p:txBody>
      </p:sp>
      <p:sp>
        <p:nvSpPr>
          <p:cNvPr id="6" name="Text 3">
            <a:extLst xmlns:a="http://schemas.openxmlformats.org/drawingml/2006/main">
              <a:ext uri="{FF2B5EF4-FFF2-40B4-BE49-F238E27FC236}">
                <a16:creationId xmlns:a16="http://schemas.microsoft.com/office/drawing/2014/main" id="{D00EF13A-40F8-4524-9811-3C74856CB64A}"/>
              </a:ext>
            </a:extLst>
          </p:cNvPr>
          <p:cNvSpPr>
            <a:spLocks xmlns:a="http://schemas.openxmlformats.org/drawingml/2006/main" noGrp="1"/>
          </p:cNvSpPr>
          <p:nvPr/>
        </p:nvSpPr>
        <p:spPr>
          <a:xfrm xmlns:a="http://schemas.openxmlformats.org/drawingml/2006/main">
            <a:off x="548640" y="1691640"/>
            <a:ext cx="5669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Year-over-year growth</a:t>
            </a:r>
            <a:endParaRPr sz="1300"/>
          </a:p>
        </p:txBody>
      </p:sp>
      <p:sp>
        <p:nvSpPr>
          <p:cNvPr id="7" name="Text 4">
            <a:extLst xmlns:a="http://schemas.openxmlformats.org/drawingml/2006/main">
              <a:ext uri="{FF2B5EF4-FFF2-40B4-BE49-F238E27FC236}">
                <a16:creationId xmlns:a16="http://schemas.microsoft.com/office/drawing/2014/main" id="{4502786D-A0AB-4899-938C-ED708A5F8BDF}"/>
              </a:ext>
            </a:extLst>
          </p:cNvPr>
          <p:cNvSpPr>
            <a:spLocks xmlns:a="http://schemas.openxmlformats.org/drawingml/2006/main" noGrp="1"/>
          </p:cNvSpPr>
          <p:nvPr/>
        </p:nvSpPr>
        <p:spPr>
          <a:xfrm xmlns:a="http://schemas.openxmlformats.org/drawingml/2006/main">
            <a:off x="548640" y="1929384"/>
            <a:ext cx="5669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Percent change from the prior year</a:t>
            </a:r>
            <a:endParaRPr sz="1050"/>
          </a:p>
        </p:txBody>
      </p:sp>
      <p:sp>
        <p:nvSpPr>
          <p:cNvPr id="9" name="Text 5">
            <a:extLst xmlns:a="http://schemas.openxmlformats.org/drawingml/2006/main">
              <a:ext uri="{FF2B5EF4-FFF2-40B4-BE49-F238E27FC236}">
                <a16:creationId xmlns:a16="http://schemas.microsoft.com/office/drawing/2014/main" id="{976EB9BC-0A0A-4D0B-AC08-16420723C242}"/>
              </a:ext>
            </a:extLst>
          </p:cNvPr>
          <p:cNvSpPr>
            <a:spLocks xmlns:a="http://schemas.openxmlformats.org/drawingml/2006/main" noGrp="1"/>
          </p:cNvSpPr>
          <p:nvPr/>
        </p:nvSpPr>
        <p:spPr>
          <a:xfrm xmlns:a="http://schemas.openxmlformats.org/drawingml/2006/main">
            <a:off x="6675120" y="1691640"/>
            <a:ext cx="4965192"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92524"/>
                </a:solidFill>
                <a:latin typeface="Calibri"/>
                <a:ea typeface="Calibri"/>
                <a:cs typeface="Calibri"/>
              </a:rPr>
              <a:t>Leadership puts the lost profit at </a:t>
            </a:r>
            <a:r>
              <a:rPr sz="1250" b="1">
                <a:solidFill>
                  <a:srgbClr val="C2410C"/>
                </a:solidFill>
                <a:latin typeface="Calibri"/>
                <a:ea typeface="Calibri"/>
                <a:cs typeface="Calibri"/>
              </a:rPr>
              <a:t>$18-25M a year</a:t>
            </a:r>
            <a:r>
              <a:rPr sz="1250">
                <a:solidFill>
                  <a:srgbClr val="292524"/>
                </a:solidFill>
                <a:latin typeface="Calibri"/>
                <a:ea typeface="Calibri"/>
                <a:cs typeface="Calibri"/>
              </a:rPr>
              <a:t>, and profitability is the first of HRG's five strategic priorities. At the 2025 growth rates, profit per revenue dollar is about a third lower than in 2021.</a:t>
            </a:r>
            <a:endParaRPr sz="1250"/>
          </a:p>
        </p:txBody>
      </p:sp>
      <p:sp>
        <p:nvSpPr>
          <p:cNvPr id="10" name="Text 6">
            <a:extLst xmlns:a="http://schemas.openxmlformats.org/drawingml/2006/main">
              <a:ext uri="{FF2B5EF4-FFF2-40B4-BE49-F238E27FC236}">
                <a16:creationId xmlns:a16="http://schemas.microsoft.com/office/drawing/2014/main" id="{557A5FC9-BF1F-4F41-B948-AA87610C6EB9}"/>
              </a:ext>
            </a:extLst>
          </p:cNvPr>
          <p:cNvSpPr>
            <a:spLocks xmlns:a="http://schemas.openxmlformats.org/drawingml/2006/main" noGrp="1"/>
          </p:cNvSpPr>
          <p:nvPr/>
        </p:nvSpPr>
        <p:spPr>
          <a:xfrm xmlns:a="http://schemas.openxmlformats.org/drawingml/2006/main">
            <a:off x="6675120" y="2926080"/>
            <a:ext cx="49651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We tested six concerns raised by leadership</a:t>
            </a:r>
            <a:endParaRPr sz="1200"/>
          </a:p>
        </p:txBody>
      </p:sp>
      <p:graphicFrame>
        <p:nvGraphicFramePr>
          <p:cNvPr id="36" name="Table 0"/>
          <p:cNvGraphicFramePr/>
          <p:nvPr/>
        </p:nvGraphicFramePr>
        <p:xfrm>
          <a:off xmlns:a="http://schemas.openxmlformats.org/drawingml/2006/main" x="6675120" y="3200400"/>
          <a:ext xmlns:a="http://schemas.openxmlformats.org/drawingml/2006/main" cx="4965192" cy="2743200"/>
        </p:xfrm>
        <a:graphic xmlns:a="http://schemas.openxmlformats.org/drawingml/2006/main">
          <a:graphicData uri="http://schemas.openxmlformats.org/drawingml/2006/table">
            <a:tbl>
              <a:tblPr/>
              <a:tblGrid>
                <a:gridCol w="3749040"/>
                <a:gridCol w="1216152"/>
              </a:tblGrid>
              <a:tr h="457200">
                <a:tc>
                  <a:txBody>
                    <a:bodyPr/>
                    <a:lstStyle/>
                    <a:p>
                      <a:pPr marL="0" indent="0">
                        <a:buNone/>
                      </a:pPr>
                      <a:r>
                        <a:rPr sz="1200">
                          <a:solidFill>
                            <a:srgbClr val="292524"/>
                          </a:solidFill>
                          <a:latin typeface="Calibri"/>
                          <a:ea typeface="Calibri"/>
                          <a:cs typeface="Calibri"/>
                        </a:rPr>
                        <a:t>Promotions raise revenue but cut profit</a:t>
                      </a:r>
                      <a:endParaRPr sz="120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Confirmed</a:t>
                      </a:r>
                      <a:endParaRPr sz="120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r>
              <a:tr h="457200">
                <a:tc>
                  <a:txBody>
                    <a:bodyPr/>
                    <a:lstStyle/>
                    <a:p>
                      <a:pPr marL="0" indent="0">
                        <a:buNone/>
                      </a:pPr>
                      <a:r>
                        <a:rPr sz="1200">
                          <a:solidFill>
                            <a:srgbClr val="292524"/>
                          </a:solidFill>
                          <a:latin typeface="Calibri"/>
                          <a:ea typeface="Calibri"/>
                          <a:cs typeface="Calibri"/>
                        </a:rPr>
                        <a:t>Loyalty spend is not aimed at valuable customers</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Confirmed</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buNone/>
                      </a:pPr>
                      <a:r>
                        <a:rPr sz="1200">
                          <a:solidFill>
                            <a:srgbClr val="292524"/>
                          </a:solidFill>
                          <a:latin typeface="Calibri"/>
                          <a:ea typeface="Calibri"/>
                          <a:cs typeface="Calibri"/>
                        </a:rPr>
                        <a:t>Supply chain costs keep rising</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57534E"/>
                          </a:solidFill>
                          <a:latin typeface="Calibri"/>
                          <a:ea typeface="Calibri"/>
                          <a:cs typeface="Calibri"/>
                        </a:rPr>
                        <a:t>Partly</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buNone/>
                      </a:pPr>
                      <a:r>
                        <a:rPr sz="1200">
                          <a:solidFill>
                            <a:srgbClr val="292524"/>
                          </a:solidFill>
                          <a:latin typeface="Calibri"/>
                          <a:ea typeface="Calibri"/>
                          <a:cs typeface="Calibri"/>
                        </a:rPr>
                        <a:t>Regional gaps are hidden by company-wide reports</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57534E"/>
                          </a:solidFill>
                          <a:latin typeface="Calibri"/>
                          <a:ea typeface="Calibri"/>
                          <a:cs typeface="Calibri"/>
                        </a:rPr>
                        <a:t>Partly</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buNone/>
                      </a:pPr>
                      <a:r>
                        <a:rPr sz="1200">
                          <a:solidFill>
                            <a:srgbClr val="292524"/>
                          </a:solidFill>
                          <a:latin typeface="Calibri"/>
                          <a:ea typeface="Calibri"/>
                          <a:cs typeface="Calibri"/>
                        </a:rPr>
                        <a:t>Customer behavior has changed</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57534E"/>
                          </a:solidFill>
                          <a:latin typeface="Calibri"/>
                          <a:ea typeface="Calibri"/>
                          <a:cs typeface="Calibri"/>
                        </a:rPr>
                        <a:t>Can't test</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57200">
                <a:tc>
                  <a:txBody>
                    <a:bodyPr/>
                    <a:lstStyle/>
                    <a:p>
                      <a:pPr marL="0" indent="0">
                        <a:buNone/>
                      </a:pPr>
                      <a:r>
                        <a:rPr sz="1200">
                          <a:solidFill>
                            <a:srgbClr val="292524"/>
                          </a:solidFill>
                          <a:latin typeface="Calibri"/>
                          <a:ea typeface="Calibri"/>
                          <a:cs typeface="Calibri"/>
                        </a:rPr>
                        <a:t>No integrated view across systems</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200" b="1">
                          <a:solidFill>
                            <a:srgbClr val="C2410C"/>
                          </a:solidFill>
                          <a:latin typeface="Calibri"/>
                          <a:ea typeface="Calibri"/>
                          <a:cs typeface="Calibri"/>
                        </a:rPr>
                        <a:t>Confirmed</a:t>
                      </a:r>
                      <a:endParaRPr sz="12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12" name="Text 7">
            <a:extLst xmlns:a="http://schemas.openxmlformats.org/drawingml/2006/main">
              <a:ext uri="{FF2B5EF4-FFF2-40B4-BE49-F238E27FC236}">
                <a16:creationId xmlns:a16="http://schemas.microsoft.com/office/drawing/2014/main" id="{EF6B11A5-CD07-4E12-968A-6B5A75E09B52}"/>
              </a:ext>
            </a:extLst>
          </p:cNvPr>
          <p:cNvSpPr>
            <a:spLocks xmlns:a="http://schemas.openxmlformats.org/drawingml/2006/main" noGrp="1"/>
          </p:cNvSpPr>
          <p:nvPr/>
        </p:nvSpPr>
        <p:spPr>
          <a:xfrm xmlns:a="http://schemas.openxmlformats.org/drawingml/2006/main">
            <a:off x="6675120" y="5989320"/>
            <a:ext cx="49651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57534E"/>
                </a:solidFill>
                <a:latin typeface="Calibri"/>
                <a:ea typeface="Calibri"/>
                <a:cs typeface="Calibri"/>
              </a:rPr>
              <a:t>"Can't test": none of the files has a time field.</a:t>
            </a:r>
            <a:endParaRPr sz="1000"/>
          </a:p>
        </p:txBody>
      </p:sp>
      <p:sp>
        <p:nvSpPr>
          <p:cNvPr id="25" name="Slide Number Placeholder 0">
            <a:extLst xmlns:a="http://schemas.openxmlformats.org/drawingml/2006/main">
              <a:ext uri="{FF2B5EF4-FFF2-40B4-BE49-F238E27FC236}">
                <a16:creationId xmlns:a16="http://schemas.microsoft.com/office/drawing/2014/main" id="{9293DAE6-1591-4F89-9F4C-457C21B7204D}"/>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4</a:t>
            </a:fld>
            <a:endParaRPr/>
          </a:p>
        </p:txBody>
      </p:sp>
      <p:graphicFrame>
        <p:nvGraphicFramePr>
          <p:cNvPr id="39" name="Rebuilt editable chart: ch/zep4ba50"/>
          <p:cNvGraphicFramePr/>
          <p:nvPr/>
        </p:nvGraphicFramePr>
        <p:xfrm>
          <a:off xmlns:a="http://schemas.openxmlformats.org/drawingml/2006/main" x="548640" y="2240280"/>
          <a:ext xmlns:a="http://schemas.openxmlformats.org/drawingml/2006/main" cx="5669280" cy="4023360"/>
        </p:xfrm>
        <a:graphic xmlns:a="http://schemas.openxmlformats.org/drawingml/2006/main">
          <a:graphicData uri="http://schemas.openxmlformats.org/drawingml/2006/chart">
            <c:chart xmlns:r="http://schemas.openxmlformats.org/officeDocument/2006/relationships" xmlns:c="http://schemas.openxmlformats.org/drawingml/2006/chart" r:id="R49809fd759ea41fb"/>
          </a:graphicData>
        </a:graphic>
      </p:graphicFrame>
    </p:spTree>
    <p:extLst>
      <p:ext uri="{BB962C8B-B14F-4D97-AF65-F5344CB8AC3E}">
        <p14:creationId xmlns:p14="http://schemas.microsoft.com/office/powerpoint/2010/main" val="2943517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BDBF351-CDF9-442C-BB81-24B617771042}"/>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Problem 01 · Promotion margin</a:t>
            </a:r>
            <a:endParaRPr sz="1100"/>
          </a:p>
        </p:txBody>
      </p:sp>
      <p:sp>
        <p:nvSpPr>
          <p:cNvPr id="3" name="Text 1">
            <a:extLst xmlns:a="http://schemas.openxmlformats.org/drawingml/2006/main">
              <a:ext uri="{FF2B5EF4-FFF2-40B4-BE49-F238E27FC236}">
                <a16:creationId xmlns:a16="http://schemas.microsoft.com/office/drawing/2014/main" id="{F1D6C577-3320-4A0F-A632-F440C41655CF}"/>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BOGO and Clearance lose money without a measurable unit lift</a:t>
            </a:r>
            <a:endParaRPr sz="2500"/>
          </a:p>
        </p:txBody>
      </p:sp>
      <p:sp>
        <p:nvSpPr>
          <p:cNvPr id="4" name="Text 2">
            <a:extLst xmlns:a="http://schemas.openxmlformats.org/drawingml/2006/main">
              <a:ext uri="{FF2B5EF4-FFF2-40B4-BE49-F238E27FC236}">
                <a16:creationId xmlns:a16="http://schemas.microsoft.com/office/drawing/2014/main" id="{AF967CB3-2CAC-45FF-8182-48B0D02426F0}"/>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Retail Profitability Dataset (15,000 records). Promotion type recovered from discount rate for 300 blank labels. "None" = no promotion.</a:t>
            </a:r>
            <a:endParaRPr sz="900"/>
          </a:p>
        </p:txBody>
      </p:sp>
      <p:sp>
        <p:nvSpPr>
          <p:cNvPr id="6" name="Text 3">
            <a:extLst xmlns:a="http://schemas.openxmlformats.org/drawingml/2006/main">
              <a:ext uri="{FF2B5EF4-FFF2-40B4-BE49-F238E27FC236}">
                <a16:creationId xmlns:a16="http://schemas.microsoft.com/office/drawing/2014/main" id="{08814213-840F-41C7-976D-D9C13A048DD6}"/>
              </a:ext>
            </a:extLst>
          </p:cNvPr>
          <p:cNvSpPr>
            <a:spLocks xmlns:a="http://schemas.openxmlformats.org/drawingml/2006/main" noGrp="1"/>
          </p:cNvSpPr>
          <p:nvPr/>
        </p:nvSpPr>
        <p:spPr>
          <a:xfrm xmlns:a="http://schemas.openxmlformats.org/drawingml/2006/main">
            <a:off x="548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Profit margin by promotion type</a:t>
            </a:r>
            <a:endParaRPr sz="1300"/>
          </a:p>
        </p:txBody>
      </p:sp>
      <p:sp>
        <p:nvSpPr>
          <p:cNvPr id="7" name="Text 4">
            <a:extLst xmlns:a="http://schemas.openxmlformats.org/drawingml/2006/main">
              <a:ext uri="{FF2B5EF4-FFF2-40B4-BE49-F238E27FC236}">
                <a16:creationId xmlns:a16="http://schemas.microsoft.com/office/drawing/2014/main" id="{E78AB356-198C-48C4-9FDF-8D4C93CBD46B}"/>
              </a:ext>
            </a:extLst>
          </p:cNvPr>
          <p:cNvSpPr>
            <a:spLocks xmlns:a="http://schemas.openxmlformats.org/drawingml/2006/main" noGrp="1"/>
          </p:cNvSpPr>
          <p:nvPr/>
        </p:nvSpPr>
        <p:spPr>
          <a:xfrm xmlns:a="http://schemas.openxmlformats.org/drawingml/2006/main">
            <a:off x="548640" y="1929384"/>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Profit as a share of revenue</a:t>
            </a:r>
            <a:endParaRPr sz="1050"/>
          </a:p>
        </p:txBody>
      </p:sp>
      <p:sp>
        <p:nvSpPr>
          <p:cNvPr id="9" name="Text 5">
            <a:extLst xmlns:a="http://schemas.openxmlformats.org/drawingml/2006/main">
              <a:ext uri="{FF2B5EF4-FFF2-40B4-BE49-F238E27FC236}">
                <a16:creationId xmlns:a16="http://schemas.microsoft.com/office/drawing/2014/main" id="{B89BBE8F-A5FC-4F05-A6BC-B84C3A1F8035}"/>
              </a:ext>
            </a:extLst>
          </p:cNvPr>
          <p:cNvSpPr>
            <a:spLocks xmlns:a="http://schemas.openxmlformats.org/drawingml/2006/main" noGrp="1"/>
          </p:cNvSpPr>
          <p:nvPr/>
        </p:nvSpPr>
        <p:spPr>
          <a:xfrm xmlns:a="http://schemas.openxmlformats.org/drawingml/2006/main">
            <a:off x="6263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Average units sold per record</a:t>
            </a:r>
            <a:endParaRPr sz="1300"/>
          </a:p>
        </p:txBody>
      </p:sp>
      <p:sp>
        <p:nvSpPr>
          <p:cNvPr id="10" name="Text 6">
            <a:extLst xmlns:a="http://schemas.openxmlformats.org/drawingml/2006/main">
              <a:ext uri="{FF2B5EF4-FFF2-40B4-BE49-F238E27FC236}">
                <a16:creationId xmlns:a16="http://schemas.microsoft.com/office/drawing/2014/main" id="{D5D26962-4D17-4705-96E4-E02916B2ABC2}"/>
              </a:ext>
            </a:extLst>
          </p:cNvPr>
          <p:cNvSpPr>
            <a:spLocks xmlns:a="http://schemas.openxmlformats.org/drawingml/2006/main" noGrp="1"/>
          </p:cNvSpPr>
          <p:nvPr/>
        </p:nvSpPr>
        <p:spPr>
          <a:xfrm xmlns:a="http://schemas.openxmlformats.org/drawingml/2006/main">
            <a:off x="6263640" y="1929384"/>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No significant difference from "No promotion" (p &gt; 0.2)</a:t>
            </a:r>
            <a:endParaRPr sz="1050"/>
          </a:p>
        </p:txBody>
      </p:sp>
      <p:sp>
        <p:nvSpPr>
          <p:cNvPr id="12" name="Shape 7">
            <a:extLst xmlns:a="http://schemas.openxmlformats.org/drawingml/2006/main">
              <a:ext uri="{FF2B5EF4-FFF2-40B4-BE49-F238E27FC236}">
                <a16:creationId xmlns:a16="http://schemas.microsoft.com/office/drawing/2014/main" id="{F2B713A8-1BE5-4629-B76F-CBFEA972E6BD}"/>
              </a:ext>
            </a:extLst>
          </p:cNvPr>
          <p:cNvSpPr>
            <a:spLocks xmlns:a="http://schemas.openxmlformats.org/drawingml/2006/main" noGrp="1"/>
          </p:cNvSpPr>
          <p:nvPr/>
        </p:nvSpPr>
        <p:spPr>
          <a:xfrm xmlns:a="http://schemas.openxmlformats.org/drawingml/2006/main">
            <a:off x="548640" y="5230368"/>
            <a:ext cx="11094415"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8">
            <a:extLst xmlns:a="http://schemas.openxmlformats.org/drawingml/2006/main">
              <a:ext uri="{FF2B5EF4-FFF2-40B4-BE49-F238E27FC236}">
                <a16:creationId xmlns:a16="http://schemas.microsoft.com/office/drawing/2014/main" id="{08CBBB23-3C01-431C-8169-BDE3A2469F3E}"/>
              </a:ext>
            </a:extLst>
          </p:cNvPr>
          <p:cNvSpPr>
            <a:spLocks xmlns:a="http://schemas.openxmlformats.org/drawingml/2006/main" noGrp="1"/>
          </p:cNvSpPr>
          <p:nvPr/>
        </p:nvSpPr>
        <p:spPr>
          <a:xfrm xmlns:a="http://schemas.openxmlformats.org/drawingml/2006/main">
            <a:off x="548640" y="5349240"/>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292524"/>
                </a:solidFill>
                <a:latin typeface="Calibri"/>
                <a:ea typeface="Calibri"/>
                <a:cs typeface="Calibri"/>
              </a:rPr>
              <a:t>BOGO and Clearance lost $18.5M in aggregate and represent 30% of observations. HRG should require a 5% margin floor, 50% campaign ROI, a holdout group, and a stop rule before scaling a deep offer.</a:t>
            </a:r>
            <a:endParaRPr sz="1300"/>
          </a:p>
        </p:txBody>
      </p:sp>
      <p:sp>
        <p:nvSpPr>
          <p:cNvPr id="25" name="Slide Number Placeholder 0">
            <a:extLst xmlns:a="http://schemas.openxmlformats.org/drawingml/2006/main">
              <a:ext uri="{FF2B5EF4-FFF2-40B4-BE49-F238E27FC236}">
                <a16:creationId xmlns:a16="http://schemas.microsoft.com/office/drawing/2014/main" id="{BBD50CDB-7ADA-420D-B471-E8CC0EE66B1E}"/>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6</a:t>
            </a:fld>
            <a:endParaRPr/>
          </a:p>
        </p:txBody>
      </p:sp>
      <p:graphicFrame>
        <p:nvGraphicFramePr>
          <p:cNvPr id="40" name="Rebuilt editable chart: ch/e103ylgn"/>
          <p:cNvGraphicFramePr/>
          <p:nvPr/>
        </p:nvGraphicFramePr>
        <p:xfrm>
          <a:off xmlns:a="http://schemas.openxmlformats.org/drawingml/2006/main" x="548640" y="2194560"/>
          <a:ext xmlns:a="http://schemas.openxmlformats.org/drawingml/2006/main" cx="5394960" cy="2834640"/>
        </p:xfrm>
        <a:graphic xmlns:a="http://schemas.openxmlformats.org/drawingml/2006/main">
          <a:graphicData uri="http://schemas.openxmlformats.org/drawingml/2006/chart">
            <c:chart xmlns:r="http://schemas.openxmlformats.org/officeDocument/2006/relationships" xmlns:c="http://schemas.openxmlformats.org/drawingml/2006/chart" r:id="Rf7db95c76d494cfa"/>
          </a:graphicData>
        </a:graphic>
      </p:graphicFrame>
      <p:graphicFrame>
        <p:nvGraphicFramePr>
          <p:cNvPr id="41" name="Rebuilt editable chart: ch/f2947qh8"/>
          <p:cNvGraphicFramePr/>
          <p:nvPr/>
        </p:nvGraphicFramePr>
        <p:xfrm>
          <a:off xmlns:a="http://schemas.openxmlformats.org/drawingml/2006/main" x="6263640" y="2194560"/>
          <a:ext xmlns:a="http://schemas.openxmlformats.org/drawingml/2006/main" cx="5376672" cy="2834640"/>
        </p:xfrm>
        <a:graphic xmlns:a="http://schemas.openxmlformats.org/drawingml/2006/main">
          <a:graphicData uri="http://schemas.openxmlformats.org/drawingml/2006/chart">
            <c:chart xmlns:r="http://schemas.openxmlformats.org/officeDocument/2006/relationships" xmlns:c="http://schemas.openxmlformats.org/drawingml/2006/chart" r:id="R8583b0f7149e4c58"/>
          </a:graphicData>
        </a:graphic>
      </p:graphicFrame>
    </p:spTree>
    <p:extLst>
      <p:ext uri="{BB962C8B-B14F-4D97-AF65-F5344CB8AC3E}">
        <p14:creationId xmlns:p14="http://schemas.microsoft.com/office/powerpoint/2010/main" val="1398953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88094C-481A-43B0-A49F-F55D1F223745}"/>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Problem 02 · Loss-making sales</a:t>
            </a:r>
            <a:endParaRPr sz="1100"/>
          </a:p>
        </p:txBody>
      </p:sp>
      <p:sp>
        <p:nvSpPr>
          <p:cNvPr id="3" name="Text 1">
            <a:extLst xmlns:a="http://schemas.openxmlformats.org/drawingml/2006/main">
              <a:ext uri="{FF2B5EF4-FFF2-40B4-BE49-F238E27FC236}">
                <a16:creationId xmlns:a16="http://schemas.microsoft.com/office/drawing/2014/main" id="{7B98CEFC-CB61-45DD-9AAD-716D21D0899B}"/>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The weekly loss-pocket file should drive corrective action</a:t>
            </a:r>
            <a:endParaRPr sz="2500"/>
          </a:p>
        </p:txBody>
      </p:sp>
      <p:sp>
        <p:nvSpPr>
          <p:cNvPr id="4" name="Text 2">
            <a:extLst xmlns:a="http://schemas.openxmlformats.org/drawingml/2006/main">
              <a:ext uri="{FF2B5EF4-FFF2-40B4-BE49-F238E27FC236}">
                <a16:creationId xmlns:a16="http://schemas.microsoft.com/office/drawing/2014/main" id="{0940F3A1-369E-4217-BF42-3CE237AABABA}"/>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Retail Profitability Dataset. Records split into five equal groups by revenue. Store results combine all region labels.</a:t>
            </a:r>
            <a:endParaRPr sz="900"/>
          </a:p>
        </p:txBody>
      </p:sp>
      <p:sp>
        <p:nvSpPr>
          <p:cNvPr id="6" name="Text 3">
            <a:extLst xmlns:a="http://schemas.openxmlformats.org/drawingml/2006/main">
              <a:ext uri="{FF2B5EF4-FFF2-40B4-BE49-F238E27FC236}">
                <a16:creationId xmlns:a16="http://schemas.microsoft.com/office/drawing/2014/main" id="{E7225B2B-9733-4CFD-A903-4AD8270E64B8}"/>
              </a:ext>
            </a:extLst>
          </p:cNvPr>
          <p:cNvSpPr>
            <a:spLocks xmlns:a="http://schemas.openxmlformats.org/drawingml/2006/main" noGrp="1"/>
          </p:cNvSpPr>
          <p:nvPr/>
        </p:nvSpPr>
        <p:spPr>
          <a:xfrm xmlns:a="http://schemas.openxmlformats.org/drawingml/2006/main">
            <a:off x="548640" y="1691640"/>
            <a:ext cx="5669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Profit by sales-size group</a:t>
            </a:r>
            <a:endParaRPr sz="1300"/>
          </a:p>
        </p:txBody>
      </p:sp>
      <p:sp>
        <p:nvSpPr>
          <p:cNvPr id="7" name="Text 4">
            <a:extLst xmlns:a="http://schemas.openxmlformats.org/drawingml/2006/main">
              <a:ext uri="{FF2B5EF4-FFF2-40B4-BE49-F238E27FC236}">
                <a16:creationId xmlns:a16="http://schemas.microsoft.com/office/drawing/2014/main" id="{7D9CD065-B826-41EA-8CE7-3CD0A6EAA32A}"/>
              </a:ext>
            </a:extLst>
          </p:cNvPr>
          <p:cNvSpPr>
            <a:spLocks xmlns:a="http://schemas.openxmlformats.org/drawingml/2006/main" noGrp="1"/>
          </p:cNvSpPr>
          <p:nvPr/>
        </p:nvSpPr>
        <p:spPr>
          <a:xfrm xmlns:a="http://schemas.openxmlformats.org/drawingml/2006/main">
            <a:off x="548640" y="1929384"/>
            <a:ext cx="5669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$M; records ranked by revenue and split into five equal groups</a:t>
            </a:r>
            <a:endParaRPr sz="1050"/>
          </a:p>
        </p:txBody>
      </p:sp>
      <p:sp>
        <p:nvSpPr>
          <p:cNvPr id="9" name="Text 5">
            <a:extLst xmlns:a="http://schemas.openxmlformats.org/drawingml/2006/main">
              <a:ext uri="{FF2B5EF4-FFF2-40B4-BE49-F238E27FC236}">
                <a16:creationId xmlns:a16="http://schemas.microsoft.com/office/drawing/2014/main" id="{FFEBD9C2-E9A8-482D-AD5B-9D115247A8BC}"/>
              </a:ext>
            </a:extLst>
          </p:cNvPr>
          <p:cNvSpPr>
            <a:spLocks xmlns:a="http://schemas.openxmlformats.org/drawingml/2006/main" noGrp="1"/>
          </p:cNvSpPr>
          <p:nvPr/>
        </p:nvSpPr>
        <p:spPr>
          <a:xfrm xmlns:a="http://schemas.openxmlformats.org/drawingml/2006/main">
            <a:off x="548640" y="5349240"/>
            <a:ext cx="56692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92524"/>
                </a:solidFill>
                <a:latin typeface="Calibri"/>
                <a:ea typeface="Calibri"/>
                <a:cs typeface="Calibri"/>
              </a:rPr>
              <a:t>Labor stays near $23M in every sales-size group while revenue ranges from $8.8M to $196.9M. Rank the top 50 recurring loss pockets and give each one an owner.</a:t>
            </a:r>
            <a:endParaRPr sz="1250"/>
          </a:p>
        </p:txBody>
      </p:sp>
      <p:sp>
        <p:nvSpPr>
          <p:cNvPr id="10" name="Shape 6">
            <a:extLst xmlns:a="http://schemas.openxmlformats.org/drawingml/2006/main">
              <a:ext uri="{FF2B5EF4-FFF2-40B4-BE49-F238E27FC236}">
                <a16:creationId xmlns:a16="http://schemas.microsoft.com/office/drawing/2014/main" id="{A858C022-419B-470F-AD30-C4826D1716E8}"/>
              </a:ext>
            </a:extLst>
          </p:cNvPr>
          <p:cNvSpPr>
            <a:spLocks xmlns:a="http://schemas.openxmlformats.org/drawingml/2006/main" noGrp="1"/>
          </p:cNvSpPr>
          <p:nvPr/>
        </p:nvSpPr>
        <p:spPr>
          <a:xfrm xmlns:a="http://schemas.openxmlformats.org/drawingml/2006/main">
            <a:off x="6492240" y="1737360"/>
            <a:ext cx="0" cy="448056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7">
            <a:extLst xmlns:a="http://schemas.openxmlformats.org/drawingml/2006/main">
              <a:ext uri="{FF2B5EF4-FFF2-40B4-BE49-F238E27FC236}">
                <a16:creationId xmlns:a16="http://schemas.microsoft.com/office/drawing/2014/main" id="{C6E7F5A7-A92E-4E2B-942F-8E31728B7C23}"/>
              </a:ext>
            </a:extLst>
          </p:cNvPr>
          <p:cNvSpPr>
            <a:spLocks xmlns:a="http://schemas.openxmlformats.org/drawingml/2006/main" noGrp="1"/>
          </p:cNvSpPr>
          <p:nvPr/>
        </p:nvSpPr>
        <p:spPr>
          <a:xfrm xmlns:a="http://schemas.openxmlformats.org/drawingml/2006/main">
            <a:off x="6766560" y="1737360"/>
            <a:ext cx="1600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83%</a:t>
            </a:r>
            <a:endParaRPr sz="2400"/>
          </a:p>
        </p:txBody>
      </p:sp>
      <p:sp>
        <p:nvSpPr>
          <p:cNvPr id="12" name="Text 8">
            <a:extLst xmlns:a="http://schemas.openxmlformats.org/drawingml/2006/main">
              <a:ext uri="{FF2B5EF4-FFF2-40B4-BE49-F238E27FC236}">
                <a16:creationId xmlns:a16="http://schemas.microsoft.com/office/drawing/2014/main" id="{612C729E-13DE-4EC1-AA56-46E9966A590D}"/>
              </a:ext>
            </a:extLst>
          </p:cNvPr>
          <p:cNvSpPr>
            <a:spLocks xmlns:a="http://schemas.openxmlformats.org/drawingml/2006/main" noGrp="1"/>
          </p:cNvSpPr>
          <p:nvPr/>
        </p:nvSpPr>
        <p:spPr>
          <a:xfrm xmlns:a="http://schemas.openxmlformats.org/drawingml/2006/main">
            <a:off x="8458200" y="1737360"/>
            <a:ext cx="31821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92524"/>
                </a:solidFill>
                <a:latin typeface="Calibri"/>
                <a:ea typeface="Calibri"/>
                <a:cs typeface="Calibri"/>
              </a:rPr>
              <a:t>of loss-making records still make a gross profit. Labor, not price, causes the loss.</a:t>
            </a:r>
            <a:endParaRPr sz="1150"/>
          </a:p>
        </p:txBody>
      </p:sp>
      <p:sp>
        <p:nvSpPr>
          <p:cNvPr id="13" name="Shape 9">
            <a:extLst xmlns:a="http://schemas.openxmlformats.org/drawingml/2006/main">
              <a:ext uri="{FF2B5EF4-FFF2-40B4-BE49-F238E27FC236}">
                <a16:creationId xmlns:a16="http://schemas.microsoft.com/office/drawing/2014/main" id="{AC1956EC-0EB7-43EA-95FB-91BC47F80F01}"/>
              </a:ext>
            </a:extLst>
          </p:cNvPr>
          <p:cNvSpPr>
            <a:spLocks xmlns:a="http://schemas.openxmlformats.org/drawingml/2006/main" noGrp="1"/>
          </p:cNvSpPr>
          <p:nvPr/>
        </p:nvSpPr>
        <p:spPr>
          <a:xfrm xmlns:a="http://schemas.openxmlformats.org/drawingml/2006/main">
            <a:off x="6766560" y="2578608"/>
            <a:ext cx="487375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0">
            <a:extLst xmlns:a="http://schemas.openxmlformats.org/drawingml/2006/main">
              <a:ext uri="{FF2B5EF4-FFF2-40B4-BE49-F238E27FC236}">
                <a16:creationId xmlns:a16="http://schemas.microsoft.com/office/drawing/2014/main" id="{B48D678A-C5A4-4B52-8DF1-A017F3278203}"/>
              </a:ext>
            </a:extLst>
          </p:cNvPr>
          <p:cNvSpPr>
            <a:spLocks xmlns:a="http://schemas.openxmlformats.org/drawingml/2006/main" noGrp="1"/>
          </p:cNvSpPr>
          <p:nvPr/>
        </p:nvSpPr>
        <p:spPr>
          <a:xfrm xmlns:a="http://schemas.openxmlformats.org/drawingml/2006/main">
            <a:off x="6766560" y="2642616"/>
            <a:ext cx="1600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9.5%</a:t>
            </a:r>
            <a:endParaRPr sz="2400"/>
          </a:p>
        </p:txBody>
      </p:sp>
      <p:sp>
        <p:nvSpPr>
          <p:cNvPr id="15" name="Text 11">
            <a:extLst xmlns:a="http://schemas.openxmlformats.org/drawingml/2006/main">
              <a:ext uri="{FF2B5EF4-FFF2-40B4-BE49-F238E27FC236}">
                <a16:creationId xmlns:a16="http://schemas.microsoft.com/office/drawing/2014/main" id="{BB70FFF4-0E94-4806-B731-6AD02C5D56BB}"/>
              </a:ext>
            </a:extLst>
          </p:cNvPr>
          <p:cNvSpPr>
            <a:spLocks xmlns:a="http://schemas.openxmlformats.org/drawingml/2006/main" noGrp="1"/>
          </p:cNvSpPr>
          <p:nvPr/>
        </p:nvSpPr>
        <p:spPr>
          <a:xfrm xmlns:a="http://schemas.openxmlformats.org/drawingml/2006/main">
            <a:off x="8458200" y="2642616"/>
            <a:ext cx="31821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92524"/>
                </a:solidFill>
                <a:latin typeface="Calibri"/>
                <a:ea typeface="Calibri"/>
                <a:cs typeface="Calibri"/>
              </a:rPr>
              <a:t>of records sell below cost after discount ($14.1M lost).</a:t>
            </a:r>
            <a:endParaRPr sz="1150"/>
          </a:p>
        </p:txBody>
      </p:sp>
      <p:sp>
        <p:nvSpPr>
          <p:cNvPr id="16" name="Shape 12">
            <a:extLst xmlns:a="http://schemas.openxmlformats.org/drawingml/2006/main">
              <a:ext uri="{FF2B5EF4-FFF2-40B4-BE49-F238E27FC236}">
                <a16:creationId xmlns:a16="http://schemas.microsoft.com/office/drawing/2014/main" id="{879592A5-E1C1-4A05-800F-EC8C62587303}"/>
              </a:ext>
            </a:extLst>
          </p:cNvPr>
          <p:cNvSpPr>
            <a:spLocks xmlns:a="http://schemas.openxmlformats.org/drawingml/2006/main" noGrp="1"/>
          </p:cNvSpPr>
          <p:nvPr/>
        </p:nvSpPr>
        <p:spPr>
          <a:xfrm xmlns:a="http://schemas.openxmlformats.org/drawingml/2006/main">
            <a:off x="6766560" y="3483864"/>
            <a:ext cx="487375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C8C15CE9-8191-483B-9901-0B297CB6FB2E}"/>
              </a:ext>
            </a:extLst>
          </p:cNvPr>
          <p:cNvSpPr>
            <a:spLocks xmlns:a="http://schemas.openxmlformats.org/drawingml/2006/main" noGrp="1"/>
          </p:cNvSpPr>
          <p:nvPr/>
        </p:nvSpPr>
        <p:spPr>
          <a:xfrm xmlns:a="http://schemas.openxmlformats.org/drawingml/2006/main">
            <a:off x="6766560" y="3547872"/>
            <a:ext cx="1600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1.8 pts</a:t>
            </a:r>
            <a:endParaRPr sz="2400"/>
          </a:p>
        </p:txBody>
      </p:sp>
      <p:sp>
        <p:nvSpPr>
          <p:cNvPr id="18" name="Text 14">
            <a:extLst xmlns:a="http://schemas.openxmlformats.org/drawingml/2006/main">
              <a:ext uri="{FF2B5EF4-FFF2-40B4-BE49-F238E27FC236}">
                <a16:creationId xmlns:a16="http://schemas.microsoft.com/office/drawing/2014/main" id="{586CFF24-C27C-43D5-9624-319795C5A7AF}"/>
              </a:ext>
            </a:extLst>
          </p:cNvPr>
          <p:cNvSpPr>
            <a:spLocks xmlns:a="http://schemas.openxmlformats.org/drawingml/2006/main" noGrp="1"/>
          </p:cNvSpPr>
          <p:nvPr/>
        </p:nvSpPr>
        <p:spPr>
          <a:xfrm xmlns:a="http://schemas.openxmlformats.org/drawingml/2006/main">
            <a:off x="8458200" y="3547872"/>
            <a:ext cx="31821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92524"/>
                </a:solidFill>
                <a:latin typeface="Calibri"/>
                <a:ea typeface="Calibri"/>
                <a:cs typeface="Calibri"/>
              </a:rPr>
              <a:t>between the best and worst region margins (8.8% to 10.6%). Category margins run 7.4% to 12.1%.</a:t>
            </a:r>
            <a:endParaRPr sz="1150"/>
          </a:p>
        </p:txBody>
      </p:sp>
      <p:sp>
        <p:nvSpPr>
          <p:cNvPr id="19" name="Shape 15">
            <a:extLst xmlns:a="http://schemas.openxmlformats.org/drawingml/2006/main">
              <a:ext uri="{FF2B5EF4-FFF2-40B4-BE49-F238E27FC236}">
                <a16:creationId xmlns:a16="http://schemas.microsoft.com/office/drawing/2014/main" id="{375B0E58-2C53-451C-B862-F7186445D4FE}"/>
              </a:ext>
            </a:extLst>
          </p:cNvPr>
          <p:cNvSpPr>
            <a:spLocks xmlns:a="http://schemas.openxmlformats.org/drawingml/2006/main" noGrp="1"/>
          </p:cNvSpPr>
          <p:nvPr/>
        </p:nvSpPr>
        <p:spPr>
          <a:xfrm xmlns:a="http://schemas.openxmlformats.org/drawingml/2006/main">
            <a:off x="6766560" y="4389120"/>
            <a:ext cx="487375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6">
            <a:extLst xmlns:a="http://schemas.openxmlformats.org/drawingml/2006/main">
              <a:ext uri="{FF2B5EF4-FFF2-40B4-BE49-F238E27FC236}">
                <a16:creationId xmlns:a16="http://schemas.microsoft.com/office/drawing/2014/main" id="{C1AE53E1-EF65-4CB4-809A-BBDE7267F203}"/>
              </a:ext>
            </a:extLst>
          </p:cNvPr>
          <p:cNvSpPr>
            <a:spLocks xmlns:a="http://schemas.openxmlformats.org/drawingml/2006/main" noGrp="1"/>
          </p:cNvSpPr>
          <p:nvPr/>
        </p:nvSpPr>
        <p:spPr>
          <a:xfrm xmlns:a="http://schemas.openxmlformats.org/drawingml/2006/main">
            <a:off x="6766560" y="4453128"/>
            <a:ext cx="1600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A580C"/>
                </a:solidFill>
                <a:latin typeface="Calibri"/>
                <a:ea typeface="Calibri"/>
                <a:cs typeface="Calibri"/>
              </a:rPr>
              <a:t>15.7% vs 2.8%</a:t>
            </a:r>
            <a:endParaRPr sz="1700"/>
          </a:p>
        </p:txBody>
      </p:sp>
      <p:sp>
        <p:nvSpPr>
          <p:cNvPr id="21" name="Text 17">
            <a:extLst xmlns:a="http://schemas.openxmlformats.org/drawingml/2006/main">
              <a:ext uri="{FF2B5EF4-FFF2-40B4-BE49-F238E27FC236}">
                <a16:creationId xmlns:a16="http://schemas.microsoft.com/office/drawing/2014/main" id="{504BE34F-6190-4D80-B1E6-CABF54366B36}"/>
              </a:ext>
            </a:extLst>
          </p:cNvPr>
          <p:cNvSpPr>
            <a:spLocks xmlns:a="http://schemas.openxmlformats.org/drawingml/2006/main" noGrp="1"/>
          </p:cNvSpPr>
          <p:nvPr/>
        </p:nvSpPr>
        <p:spPr>
          <a:xfrm xmlns:a="http://schemas.openxmlformats.org/drawingml/2006/main">
            <a:off x="8458200" y="4453128"/>
            <a:ext cx="31821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92524"/>
                </a:solidFill>
                <a:latin typeface="Calibri"/>
                <a:ea typeface="Calibri"/>
                <a:cs typeface="Calibri"/>
              </a:rPr>
              <a:t>margin of the top vs bottom quarter of stores; 6 of 185 stores lose money.</a:t>
            </a:r>
            <a:endParaRPr sz="1150"/>
          </a:p>
        </p:txBody>
      </p:sp>
      <p:sp>
        <p:nvSpPr>
          <p:cNvPr id="22" name="Shape 18">
            <a:extLst xmlns:a="http://schemas.openxmlformats.org/drawingml/2006/main">
              <a:ext uri="{FF2B5EF4-FFF2-40B4-BE49-F238E27FC236}">
                <a16:creationId xmlns:a16="http://schemas.microsoft.com/office/drawing/2014/main" id="{0EFEB121-A993-464E-9870-102CB409C6C4}"/>
              </a:ext>
            </a:extLst>
          </p:cNvPr>
          <p:cNvSpPr>
            <a:spLocks xmlns:a="http://schemas.openxmlformats.org/drawingml/2006/main" noGrp="1"/>
          </p:cNvSpPr>
          <p:nvPr/>
        </p:nvSpPr>
        <p:spPr>
          <a:xfrm xmlns:a="http://schemas.openxmlformats.org/drawingml/2006/main">
            <a:off x="6766560" y="5294376"/>
            <a:ext cx="487375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0CCD182B-A745-4147-B31C-B6552F30A989}"/>
              </a:ext>
            </a:extLst>
          </p:cNvPr>
          <p:cNvSpPr>
            <a:spLocks xmlns:a="http://schemas.openxmlformats.org/drawingml/2006/main" noGrp="1"/>
          </p:cNvSpPr>
          <p:nvPr/>
        </p:nvSpPr>
        <p:spPr>
          <a:xfrm xmlns:a="http://schemas.openxmlformats.org/drawingml/2006/main">
            <a:off x="6766560" y="5358384"/>
            <a:ext cx="16002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A580C"/>
                </a:solidFill>
                <a:latin typeface="Calibri"/>
                <a:ea typeface="Calibri"/>
                <a:cs typeface="Calibri"/>
              </a:rPr>
              <a:t>38%</a:t>
            </a:r>
            <a:endParaRPr sz="2400"/>
          </a:p>
        </p:txBody>
      </p:sp>
      <p:sp>
        <p:nvSpPr>
          <p:cNvPr id="24" name="Text 20">
            <a:extLst xmlns:a="http://schemas.openxmlformats.org/drawingml/2006/main">
              <a:ext uri="{FF2B5EF4-FFF2-40B4-BE49-F238E27FC236}">
                <a16:creationId xmlns:a16="http://schemas.microsoft.com/office/drawing/2014/main" id="{E3E17D2C-6004-4450-8469-CF8CA35AE280}"/>
              </a:ext>
            </a:extLst>
          </p:cNvPr>
          <p:cNvSpPr>
            <a:spLocks xmlns:a="http://schemas.openxmlformats.org/drawingml/2006/main" noGrp="1"/>
          </p:cNvSpPr>
          <p:nvPr/>
        </p:nvSpPr>
        <p:spPr>
          <a:xfrm xmlns:a="http://schemas.openxmlformats.org/drawingml/2006/main">
            <a:off x="8458200" y="5358384"/>
            <a:ext cx="318211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92524"/>
                </a:solidFill>
                <a:latin typeface="Calibri"/>
                <a:ea typeface="Calibri"/>
                <a:cs typeface="Calibri"/>
              </a:rPr>
              <a:t>of profit comes from the top 20% of stores. Store margin falls as BOGO and Clearance share rises (r = −0.31).</a:t>
            </a:r>
            <a:endParaRPr sz="1150"/>
          </a:p>
        </p:txBody>
      </p:sp>
      <p:sp>
        <p:nvSpPr>
          <p:cNvPr id="25" name="Slide Number Placeholder 0">
            <a:extLst xmlns:a="http://schemas.openxmlformats.org/drawingml/2006/main">
              <a:ext uri="{FF2B5EF4-FFF2-40B4-BE49-F238E27FC236}">
                <a16:creationId xmlns:a16="http://schemas.microsoft.com/office/drawing/2014/main" id="{B05D75BE-B015-4EE5-8F91-42DF26416EE8}"/>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7</a:t>
            </a:fld>
            <a:endParaRPr/>
          </a:p>
        </p:txBody>
      </p:sp>
      <p:graphicFrame>
        <p:nvGraphicFramePr>
          <p:cNvPr id="49" name="Rebuilt editable chart: ch/g36d8zy1"/>
          <p:cNvGraphicFramePr/>
          <p:nvPr/>
        </p:nvGraphicFramePr>
        <p:xfrm>
          <a:off xmlns:a="http://schemas.openxmlformats.org/drawingml/2006/main" x="548640" y="2240280"/>
          <a:ext xmlns:a="http://schemas.openxmlformats.org/drawingml/2006/main" cx="5669280" cy="2926080"/>
        </p:xfrm>
        <a:graphic xmlns:a="http://schemas.openxmlformats.org/drawingml/2006/main">
          <a:graphicData uri="http://schemas.openxmlformats.org/drawingml/2006/chart">
            <c:chart xmlns:r="http://schemas.openxmlformats.org/officeDocument/2006/relationships" xmlns:c="http://schemas.openxmlformats.org/drawingml/2006/chart" r:id="R1a50fb84c38648dc"/>
          </a:graphicData>
        </a:graphic>
      </p:graphicFrame>
    </p:spTree>
    <p:extLst>
      <p:ext uri="{BB962C8B-B14F-4D97-AF65-F5344CB8AC3E}">
        <p14:creationId xmlns:p14="http://schemas.microsoft.com/office/powerpoint/2010/main" val="16906429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F32DC6-B532-4B00-AA40-756DA46B985C}"/>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Problems 03 and 04 · Customer value and churn</a:t>
            </a:r>
            <a:endParaRPr sz="1100"/>
          </a:p>
        </p:txBody>
      </p:sp>
      <p:sp>
        <p:nvSpPr>
          <p:cNvPr id="3" name="Text 1">
            <a:extLst xmlns:a="http://schemas.openxmlformats.org/drawingml/2006/main">
              <a:ext uri="{FF2B5EF4-FFF2-40B4-BE49-F238E27FC236}">
                <a16:creationId xmlns:a16="http://schemas.microsoft.com/office/drawing/2014/main" id="{BB1867CF-29EF-4AE9-82A3-910EEB8B9C6F}"/>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The top customer quartile holds 55% of CLV, but loyalty tier does not identify who to protect</a:t>
            </a:r>
            <a:endParaRPr sz="2500"/>
          </a:p>
        </p:txBody>
      </p:sp>
      <p:sp>
        <p:nvSpPr>
          <p:cNvPr id="4" name="Text 2">
            <a:extLst xmlns:a="http://schemas.openxmlformats.org/drawingml/2006/main">
              <a:ext uri="{FF2B5EF4-FFF2-40B4-BE49-F238E27FC236}">
                <a16:creationId xmlns:a16="http://schemas.microsoft.com/office/drawing/2014/main" id="{2C847510-2A0B-40C7-8F2F-AA134ED6F204}"/>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Customer Loyalty &amp; Retention Dataset (18,000 customers). The data has no non-member group, so program lift cannot be measured.</a:t>
            </a:r>
            <a:endParaRPr sz="900"/>
          </a:p>
        </p:txBody>
      </p:sp>
      <p:sp>
        <p:nvSpPr>
          <p:cNvPr id="6" name="Text 3">
            <a:extLst xmlns:a="http://schemas.openxmlformats.org/drawingml/2006/main">
              <a:ext uri="{FF2B5EF4-FFF2-40B4-BE49-F238E27FC236}">
                <a16:creationId xmlns:a16="http://schemas.microsoft.com/office/drawing/2014/main" id="{1EC850CF-A2DB-42B8-94E6-E24F749ED809}"/>
              </a:ext>
            </a:extLst>
          </p:cNvPr>
          <p:cNvSpPr>
            <a:spLocks xmlns:a="http://schemas.openxmlformats.org/drawingml/2006/main" noGrp="1"/>
          </p:cNvSpPr>
          <p:nvPr/>
        </p:nvSpPr>
        <p:spPr>
          <a:xfrm xmlns:a="http://schemas.openxmlformats.org/drawingml/2006/main">
            <a:off x="548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Share of total customer lifetime value</a:t>
            </a:r>
            <a:endParaRPr sz="1300"/>
          </a:p>
        </p:txBody>
      </p:sp>
      <p:sp>
        <p:nvSpPr>
          <p:cNvPr id="7" name="Text 4">
            <a:extLst xmlns:a="http://schemas.openxmlformats.org/drawingml/2006/main">
              <a:ext uri="{FF2B5EF4-FFF2-40B4-BE49-F238E27FC236}">
                <a16:creationId xmlns:a16="http://schemas.microsoft.com/office/drawing/2014/main" id="{B368E980-C8FF-4DE1-9666-4000E4B6A825}"/>
              </a:ext>
            </a:extLst>
          </p:cNvPr>
          <p:cNvSpPr>
            <a:spLocks xmlns:a="http://schemas.openxmlformats.org/drawingml/2006/main" noGrp="1"/>
          </p:cNvSpPr>
          <p:nvPr/>
        </p:nvSpPr>
        <p:spPr>
          <a:xfrm xmlns:a="http://schemas.openxmlformats.org/drawingml/2006/main">
            <a:off x="548640" y="1929384"/>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Customers ranked by lifetime value (CLV), four equal groups</a:t>
            </a:r>
            <a:endParaRPr sz="1050"/>
          </a:p>
        </p:txBody>
      </p:sp>
      <p:sp>
        <p:nvSpPr>
          <p:cNvPr id="9" name="Text 5">
            <a:extLst xmlns:a="http://schemas.openxmlformats.org/drawingml/2006/main">
              <a:ext uri="{FF2B5EF4-FFF2-40B4-BE49-F238E27FC236}">
                <a16:creationId xmlns:a16="http://schemas.microsoft.com/office/drawing/2014/main" id="{D9E2518B-E9E2-4620-B62B-5C2B6B46D32D}"/>
              </a:ext>
            </a:extLst>
          </p:cNvPr>
          <p:cNvSpPr>
            <a:spLocks xmlns:a="http://schemas.openxmlformats.org/drawingml/2006/main" noGrp="1"/>
          </p:cNvSpPr>
          <p:nvPr/>
        </p:nvSpPr>
        <p:spPr>
          <a:xfrm xmlns:a="http://schemas.openxmlformats.org/drawingml/2006/main">
            <a:off x="6263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Churn rate by loyalty tier</a:t>
            </a:r>
            <a:endParaRPr sz="1300"/>
          </a:p>
        </p:txBody>
      </p:sp>
      <p:sp>
        <p:nvSpPr>
          <p:cNvPr id="10" name="Text 6">
            <a:extLst xmlns:a="http://schemas.openxmlformats.org/drawingml/2006/main">
              <a:ext uri="{FF2B5EF4-FFF2-40B4-BE49-F238E27FC236}">
                <a16:creationId xmlns:a16="http://schemas.microsoft.com/office/drawing/2014/main" id="{E8FCB602-189B-48CD-94A7-126C5EE7537B}"/>
              </a:ext>
            </a:extLst>
          </p:cNvPr>
          <p:cNvSpPr>
            <a:spLocks xmlns:a="http://schemas.openxmlformats.org/drawingml/2006/main" noGrp="1"/>
          </p:cNvSpPr>
          <p:nvPr/>
        </p:nvSpPr>
        <p:spPr>
          <a:xfrm xmlns:a="http://schemas.openxmlformats.org/drawingml/2006/main">
            <a:off x="6263640" y="1929384"/>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Average CLV is $5,037 to $5,203 in every tier</a:t>
            </a:r>
            <a:endParaRPr sz="1050"/>
          </a:p>
        </p:txBody>
      </p:sp>
      <p:sp>
        <p:nvSpPr>
          <p:cNvPr id="12" name="Shape 7">
            <a:extLst xmlns:a="http://schemas.openxmlformats.org/drawingml/2006/main">
              <a:ext uri="{FF2B5EF4-FFF2-40B4-BE49-F238E27FC236}">
                <a16:creationId xmlns:a16="http://schemas.microsoft.com/office/drawing/2014/main" id="{3A5AC001-8B83-40A1-980A-33CFF48ED15F}"/>
              </a:ext>
            </a:extLst>
          </p:cNvPr>
          <p:cNvSpPr>
            <a:spLocks xmlns:a="http://schemas.openxmlformats.org/drawingml/2006/main" noGrp="1"/>
          </p:cNvSpPr>
          <p:nvPr/>
        </p:nvSpPr>
        <p:spPr>
          <a:xfrm xmlns:a="http://schemas.openxmlformats.org/drawingml/2006/main">
            <a:off x="548640" y="5349240"/>
            <a:ext cx="11094415"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8">
            <a:extLst xmlns:a="http://schemas.openxmlformats.org/drawingml/2006/main">
              <a:ext uri="{FF2B5EF4-FFF2-40B4-BE49-F238E27FC236}">
                <a16:creationId xmlns:a16="http://schemas.microsoft.com/office/drawing/2014/main" id="{7FF80284-2C24-4DED-9A8B-66BA5914F9CE}"/>
              </a:ext>
            </a:extLst>
          </p:cNvPr>
          <p:cNvSpPr>
            <a:spLocks xmlns:a="http://schemas.openxmlformats.org/drawingml/2006/main" noGrp="1"/>
          </p:cNvSpPr>
          <p:nvPr/>
        </p:nvSpPr>
        <p:spPr>
          <a:xfrm xmlns:a="http://schemas.openxmlformats.org/drawingml/2006/main">
            <a:off x="548640" y="5440680"/>
            <a:ext cx="110944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92524"/>
                </a:solidFill>
                <a:latin typeface="Calibri"/>
                <a:ea typeface="Calibri"/>
                <a:cs typeface="Calibri"/>
              </a:rPr>
              <a:t>A customer in the top quarter is worth about </a:t>
            </a:r>
            <a:r>
              <a:rPr sz="1200" b="1">
                <a:solidFill>
                  <a:srgbClr val="C2410C"/>
                </a:solidFill>
                <a:latin typeface="Calibri"/>
                <a:ea typeface="Calibri"/>
                <a:cs typeface="Calibri"/>
              </a:rPr>
              <a:t>$11,154</a:t>
            </a:r>
            <a:r>
              <a:rPr sz="1200">
                <a:solidFill>
                  <a:srgbClr val="292524"/>
                </a:solidFill>
                <a:latin typeface="Calibri"/>
                <a:ea typeface="Calibri"/>
                <a:cs typeface="Calibri"/>
              </a:rPr>
              <a:t> on average, against </a:t>
            </a:r>
            <a:r>
              <a:rPr sz="1200" b="1">
                <a:solidFill>
                  <a:srgbClr val="C2410C"/>
                </a:solidFill>
                <a:latin typeface="Calibri"/>
                <a:ea typeface="Calibri"/>
                <a:cs typeface="Calibri"/>
              </a:rPr>
              <a:t>$1,414</a:t>
            </a:r>
            <a:r>
              <a:rPr sz="1200">
                <a:solidFill>
                  <a:srgbClr val="292524"/>
                </a:solidFill>
                <a:latin typeface="Calibri"/>
                <a:ea typeface="Calibri"/>
                <a:cs typeface="Calibri"/>
              </a:rPr>
              <a:t> in the bottom quarter. Bronze customers are 40% of the base and churn at 6.1% against 3.0% for Silver. Churn is also higher where email engagement is low (6.2% vs 2.9% in the highest band), while visits, basket size, and coupon use make little difference.</a:t>
            </a:r>
            <a:endParaRPr sz="1200"/>
          </a:p>
        </p:txBody>
      </p:sp>
      <p:sp>
        <p:nvSpPr>
          <p:cNvPr id="25" name="Slide Number Placeholder 0">
            <a:extLst xmlns:a="http://schemas.openxmlformats.org/drawingml/2006/main">
              <a:ext uri="{FF2B5EF4-FFF2-40B4-BE49-F238E27FC236}">
                <a16:creationId xmlns:a16="http://schemas.microsoft.com/office/drawing/2014/main" id="{510775FA-0838-41AE-8F09-269DBC16AF2C}"/>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8</a:t>
            </a:fld>
            <a:endParaRPr/>
          </a:p>
        </p:txBody>
      </p:sp>
      <p:graphicFrame>
        <p:nvGraphicFramePr>
          <p:cNvPr id="40" name="Rebuilt editable chart: ch/jqpozadg"/>
          <p:cNvGraphicFramePr/>
          <p:nvPr/>
        </p:nvGraphicFramePr>
        <p:xfrm>
          <a:off xmlns:a="http://schemas.openxmlformats.org/drawingml/2006/main" x="548640" y="2240280"/>
          <a:ext xmlns:a="http://schemas.openxmlformats.org/drawingml/2006/main" cx="5394960" cy="2926080"/>
        </p:xfrm>
        <a:graphic xmlns:a="http://schemas.openxmlformats.org/drawingml/2006/main">
          <a:graphicData uri="http://schemas.openxmlformats.org/drawingml/2006/chart">
            <c:chart xmlns:r="http://schemas.openxmlformats.org/officeDocument/2006/relationships" xmlns:c="http://schemas.openxmlformats.org/drawingml/2006/chart" r:id="R8e6247fdbbb14bea"/>
          </a:graphicData>
        </a:graphic>
      </p:graphicFrame>
      <p:graphicFrame>
        <p:nvGraphicFramePr>
          <p:cNvPr id="41" name="Rebuilt editable chart: ch/ipg7q5wv"/>
          <p:cNvGraphicFramePr/>
          <p:nvPr/>
        </p:nvGraphicFramePr>
        <p:xfrm>
          <a:off xmlns:a="http://schemas.openxmlformats.org/drawingml/2006/main" x="6263640" y="2240280"/>
          <a:ext xmlns:a="http://schemas.openxmlformats.org/drawingml/2006/main" cx="5376672" cy="2926080"/>
        </p:xfrm>
        <a:graphic xmlns:a="http://schemas.openxmlformats.org/drawingml/2006/main">
          <a:graphicData uri="http://schemas.openxmlformats.org/drawingml/2006/chart">
            <c:chart xmlns:r="http://schemas.openxmlformats.org/officeDocument/2006/relationships" xmlns:c="http://schemas.openxmlformats.org/drawingml/2006/chart" r:id="Re7f477334b5949cc"/>
          </a:graphicData>
        </a:graphic>
      </p:graphicFrame>
    </p:spTree>
    <p:extLst>
      <p:ext uri="{BB962C8B-B14F-4D97-AF65-F5344CB8AC3E}">
        <p14:creationId xmlns:p14="http://schemas.microsoft.com/office/powerpoint/2010/main" val="15427257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F9E509-FBB4-4E3D-80BC-D9B60A48141A}"/>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Solution · Value × Risk</a:t>
            </a:r>
            <a:endParaRPr sz="1100"/>
          </a:p>
        </p:txBody>
      </p:sp>
      <p:sp>
        <p:nvSpPr>
          <p:cNvPr id="3" name="Text 1">
            <a:extLst xmlns:a="http://schemas.openxmlformats.org/drawingml/2006/main">
              <a:ext uri="{FF2B5EF4-FFF2-40B4-BE49-F238E27FC236}">
                <a16:creationId xmlns:a16="http://schemas.microsoft.com/office/drawing/2014/main" id="{6CEAB9D5-BF4F-4C77-9443-3853C33DBD54}"/>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The first retention test starts with 1,408 high-value customers at the greatest modeled risk</a:t>
            </a:r>
            <a:endParaRPr sz="2500"/>
          </a:p>
        </p:txBody>
      </p:sp>
      <p:sp>
        <p:nvSpPr>
          <p:cNvPr id="4" name="Text 2">
            <a:extLst xmlns:a="http://schemas.openxmlformats.org/drawingml/2006/main">
              <a:ext uri="{FF2B5EF4-FFF2-40B4-BE49-F238E27FC236}">
                <a16:creationId xmlns:a16="http://schemas.microsoft.com/office/drawing/2014/main" id="{07DD1C7F-F1E3-4A3D-8B81-890E11A1B439}"/>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Customer Dataset and the explainable churn model. High/low value uses median CLV; high risk uses the top quartile of predicted risk. Use the model to rank outreach, then verify lift with a randomized holdout.</a:t>
            </a:r>
            <a:endParaRPr sz="900"/>
          </a:p>
        </p:txBody>
      </p:sp>
      <p:sp>
        <p:nvSpPr>
          <p:cNvPr id="6" name="Text 3">
            <a:extLst xmlns:a="http://schemas.openxmlformats.org/drawingml/2006/main">
              <a:ext uri="{FF2B5EF4-FFF2-40B4-BE49-F238E27FC236}">
                <a16:creationId xmlns:a16="http://schemas.microsoft.com/office/drawing/2014/main" id="{24BFB649-B7D3-46C7-9BDB-F87533AFCF53}"/>
              </a:ext>
            </a:extLst>
          </p:cNvPr>
          <p:cNvSpPr>
            <a:spLocks xmlns:a="http://schemas.openxmlformats.org/drawingml/2006/main" noGrp="1"/>
          </p:cNvSpPr>
          <p:nvPr/>
        </p:nvSpPr>
        <p:spPr>
          <a:xfrm xmlns:a="http://schemas.openxmlformats.org/drawingml/2006/main">
            <a:off x="1645920" y="1691640"/>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7534E"/>
                </a:solidFill>
                <a:latin typeface="Calibri"/>
                <a:ea typeface="Calibri"/>
                <a:cs typeface="Calibri"/>
              </a:rPr>
              <a:t>Lower churn risk</a:t>
            </a:r>
            <a:endParaRPr sz="1100"/>
          </a:p>
        </p:txBody>
      </p:sp>
      <p:sp>
        <p:nvSpPr>
          <p:cNvPr id="7" name="Text 4">
            <a:extLst xmlns:a="http://schemas.openxmlformats.org/drawingml/2006/main">
              <a:ext uri="{FF2B5EF4-FFF2-40B4-BE49-F238E27FC236}">
                <a16:creationId xmlns:a16="http://schemas.microsoft.com/office/drawing/2014/main" id="{1317307B-6942-41D4-8D65-EEA82DD4FDBA}"/>
              </a:ext>
            </a:extLst>
          </p:cNvPr>
          <p:cNvSpPr>
            <a:spLocks xmlns:a="http://schemas.openxmlformats.org/drawingml/2006/main" noGrp="1"/>
          </p:cNvSpPr>
          <p:nvPr/>
        </p:nvSpPr>
        <p:spPr>
          <a:xfrm xmlns:a="http://schemas.openxmlformats.org/drawingml/2006/main">
            <a:off x="4754880" y="1691640"/>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7534E"/>
                </a:solidFill>
                <a:latin typeface="Calibri"/>
                <a:ea typeface="Calibri"/>
                <a:cs typeface="Calibri"/>
              </a:rPr>
              <a:t>Higher churn risk</a:t>
            </a:r>
            <a:endParaRPr sz="1100"/>
          </a:p>
        </p:txBody>
      </p:sp>
      <p:sp>
        <p:nvSpPr>
          <p:cNvPr id="8" name="Text 5">
            <a:extLst xmlns:a="http://schemas.openxmlformats.org/drawingml/2006/main">
              <a:ext uri="{FF2B5EF4-FFF2-40B4-BE49-F238E27FC236}">
                <a16:creationId xmlns:a16="http://schemas.microsoft.com/office/drawing/2014/main" id="{0DEEDC65-B5BC-41AE-9E04-C367151C0BD1}"/>
              </a:ext>
            </a:extLst>
          </p:cNvPr>
          <p:cNvSpPr>
            <a:spLocks xmlns:a="http://schemas.openxmlformats.org/drawingml/2006/main" noGrp="1"/>
          </p:cNvSpPr>
          <p:nvPr/>
        </p:nvSpPr>
        <p:spPr>
          <a:xfrm xmlns:a="http://schemas.openxmlformats.org/drawingml/2006/main">
            <a:off x="548640" y="2011680"/>
            <a:ext cx="10058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7534E"/>
                </a:solidFill>
                <a:latin typeface="Calibri"/>
                <a:ea typeface="Calibri"/>
                <a:cs typeface="Calibri"/>
              </a:rPr>
              <a:t>Higher value</a:t>
            </a:r>
            <a:endParaRPr sz="1100"/>
          </a:p>
        </p:txBody>
      </p:sp>
      <p:sp>
        <p:nvSpPr>
          <p:cNvPr id="9" name="Text 6">
            <a:extLst xmlns:a="http://schemas.openxmlformats.org/drawingml/2006/main">
              <a:ext uri="{FF2B5EF4-FFF2-40B4-BE49-F238E27FC236}">
                <a16:creationId xmlns:a16="http://schemas.microsoft.com/office/drawing/2014/main" id="{37D77455-25C8-440F-9866-94E294D58EE6}"/>
              </a:ext>
            </a:extLst>
          </p:cNvPr>
          <p:cNvSpPr>
            <a:spLocks xmlns:a="http://schemas.openxmlformats.org/drawingml/2006/main" noGrp="1"/>
          </p:cNvSpPr>
          <p:nvPr/>
        </p:nvSpPr>
        <p:spPr>
          <a:xfrm xmlns:a="http://schemas.openxmlformats.org/drawingml/2006/main">
            <a:off x="548640" y="4206240"/>
            <a:ext cx="10058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7534E"/>
                </a:solidFill>
                <a:latin typeface="Calibri"/>
                <a:ea typeface="Calibri"/>
                <a:cs typeface="Calibri"/>
              </a:rPr>
              <a:t>Lower value</a:t>
            </a:r>
            <a:endParaRPr sz="1100"/>
          </a:p>
        </p:txBody>
      </p:sp>
      <p:sp>
        <p:nvSpPr>
          <p:cNvPr id="10" name="Shape 7">
            <a:extLst xmlns:a="http://schemas.openxmlformats.org/drawingml/2006/main">
              <a:ext uri="{FF2B5EF4-FFF2-40B4-BE49-F238E27FC236}">
                <a16:creationId xmlns:a16="http://schemas.microsoft.com/office/drawing/2014/main" id="{41E74400-0B99-4201-9209-602D422AFE38}"/>
              </a:ext>
            </a:extLst>
          </p:cNvPr>
          <p:cNvSpPr>
            <a:spLocks xmlns:a="http://schemas.openxmlformats.org/drawingml/2006/main" noGrp="1"/>
          </p:cNvSpPr>
          <p:nvPr/>
        </p:nvSpPr>
        <p:spPr>
          <a:xfrm xmlns:a="http://schemas.openxmlformats.org/drawingml/2006/main">
            <a:off x="1645920" y="2011680"/>
            <a:ext cx="3017520" cy="2103120"/>
          </a:xfrm>
          <a:prstGeom xmlns:a="http://schemas.openxmlformats.org/drawingml/2006/main" prst="rect">
            <a:avLst/>
          </a:prstGeom>
          <a:solidFill xmlns:a="http://schemas.openxmlformats.org/drawingml/2006/main">
            <a:srgbClr val="FFFFFF"/>
          </a:solidFill>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1A529A5-505D-4AC1-9972-D44672FCC228}"/>
              </a:ext>
            </a:extLst>
          </p:cNvPr>
          <p:cNvSpPr>
            <a:spLocks xmlns:a="http://schemas.openxmlformats.org/drawingml/2006/main" noGrp="1"/>
          </p:cNvSpPr>
          <p:nvPr/>
        </p:nvSpPr>
        <p:spPr>
          <a:xfrm xmlns:a="http://schemas.openxmlformats.org/drawingml/2006/main">
            <a:off x="1828800" y="214884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C1917"/>
                </a:solidFill>
                <a:latin typeface="Calibri"/>
                <a:ea typeface="Calibri"/>
                <a:cs typeface="Calibri"/>
              </a:rPr>
              <a:t>Grow &amp; retain</a:t>
            </a:r>
            <a:endParaRPr sz="1400"/>
          </a:p>
        </p:txBody>
      </p:sp>
      <p:sp>
        <p:nvSpPr>
          <p:cNvPr id="12" name="Text 9">
            <a:extLst xmlns:a="http://schemas.openxmlformats.org/drawingml/2006/main">
              <a:ext uri="{FF2B5EF4-FFF2-40B4-BE49-F238E27FC236}">
                <a16:creationId xmlns:a16="http://schemas.microsoft.com/office/drawing/2014/main" id="{092B1E08-0171-4139-B5D8-9B4790E8597E}"/>
              </a:ext>
            </a:extLst>
          </p:cNvPr>
          <p:cNvSpPr>
            <a:spLocks xmlns:a="http://schemas.openxmlformats.org/drawingml/2006/main" noGrp="1"/>
          </p:cNvSpPr>
          <p:nvPr/>
        </p:nvSpPr>
        <p:spPr>
          <a:xfrm xmlns:a="http://schemas.openxmlformats.org/drawingml/2006/main">
            <a:off x="1828800" y="246888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92524"/>
                </a:solidFill>
                <a:latin typeface="Calibri"/>
                <a:ea typeface="Calibri"/>
                <a:cs typeface="Calibri"/>
              </a:rPr>
              <a:t>7,592</a:t>
            </a:r>
            <a:endParaRPr sz="3000"/>
          </a:p>
        </p:txBody>
      </p:sp>
      <p:sp>
        <p:nvSpPr>
          <p:cNvPr id="13" name="Text 10">
            <a:extLst xmlns:a="http://schemas.openxmlformats.org/drawingml/2006/main">
              <a:ext uri="{FF2B5EF4-FFF2-40B4-BE49-F238E27FC236}">
                <a16:creationId xmlns:a16="http://schemas.microsoft.com/office/drawing/2014/main" id="{241CF9AF-BC3D-47EE-A1B3-A95575D6A1D2}"/>
              </a:ext>
            </a:extLst>
          </p:cNvPr>
          <p:cNvSpPr>
            <a:spLocks xmlns:a="http://schemas.openxmlformats.org/drawingml/2006/main" noGrp="1"/>
          </p:cNvSpPr>
          <p:nvPr/>
        </p:nvSpPr>
        <p:spPr>
          <a:xfrm xmlns:a="http://schemas.openxmlformats.org/drawingml/2006/main">
            <a:off x="1828800" y="301752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customers (42.2%)</a:t>
            </a:r>
            <a:endParaRPr sz="1100"/>
          </a:p>
        </p:txBody>
      </p:sp>
      <p:sp>
        <p:nvSpPr>
          <p:cNvPr id="14" name="Text 11">
            <a:extLst xmlns:a="http://schemas.openxmlformats.org/drawingml/2006/main">
              <a:ext uri="{FF2B5EF4-FFF2-40B4-BE49-F238E27FC236}">
                <a16:creationId xmlns:a16="http://schemas.microsoft.com/office/drawing/2014/main" id="{16D035A8-E746-4401-89B1-4496606F33D2}"/>
              </a:ext>
            </a:extLst>
          </p:cNvPr>
          <p:cNvSpPr>
            <a:spLocks xmlns:a="http://schemas.openxmlformats.org/drawingml/2006/main" noGrp="1"/>
          </p:cNvSpPr>
          <p:nvPr/>
        </p:nvSpPr>
        <p:spPr>
          <a:xfrm xmlns:a="http://schemas.openxmlformats.org/drawingml/2006/main">
            <a:off x="1828800" y="338328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CLV $8,421</a:t>
            </a:r>
            <a:endParaRPr sz="1150"/>
          </a:p>
        </p:txBody>
      </p:sp>
      <p:sp>
        <p:nvSpPr>
          <p:cNvPr id="15" name="Text 12">
            <a:extLst xmlns:a="http://schemas.openxmlformats.org/drawingml/2006/main">
              <a:ext uri="{FF2B5EF4-FFF2-40B4-BE49-F238E27FC236}">
                <a16:creationId xmlns:a16="http://schemas.microsoft.com/office/drawing/2014/main" id="{0DFC2C67-F8C8-44C5-99F1-7EBB5A490194}"/>
              </a:ext>
            </a:extLst>
          </p:cNvPr>
          <p:cNvSpPr>
            <a:spLocks xmlns:a="http://schemas.openxmlformats.org/drawingml/2006/main" noGrp="1"/>
          </p:cNvSpPr>
          <p:nvPr/>
        </p:nvSpPr>
        <p:spPr>
          <a:xfrm xmlns:a="http://schemas.openxmlformats.org/drawingml/2006/main">
            <a:off x="1828800" y="3639312"/>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modeled risk 39.4%</a:t>
            </a:r>
            <a:endParaRPr sz="1150"/>
          </a:p>
        </p:txBody>
      </p:sp>
      <p:sp>
        <p:nvSpPr>
          <p:cNvPr id="16" name="Shape 13">
            <a:extLst xmlns:a="http://schemas.openxmlformats.org/drawingml/2006/main">
              <a:ext uri="{FF2B5EF4-FFF2-40B4-BE49-F238E27FC236}">
                <a16:creationId xmlns:a16="http://schemas.microsoft.com/office/drawing/2014/main" id="{0D6AE8C7-B3BE-4622-9C23-8586D5F28FE3}"/>
              </a:ext>
            </a:extLst>
          </p:cNvPr>
          <p:cNvSpPr>
            <a:spLocks xmlns:a="http://schemas.openxmlformats.org/drawingml/2006/main" noGrp="1"/>
          </p:cNvSpPr>
          <p:nvPr/>
        </p:nvSpPr>
        <p:spPr>
          <a:xfrm xmlns:a="http://schemas.openxmlformats.org/drawingml/2006/main">
            <a:off x="4754880" y="2011680"/>
            <a:ext cx="3017520" cy="2103120"/>
          </a:xfrm>
          <a:prstGeom xmlns:a="http://schemas.openxmlformats.org/drawingml/2006/main" prst="rect">
            <a:avLst/>
          </a:prstGeom>
          <a:solidFill xmlns:a="http://schemas.openxmlformats.org/drawingml/2006/main">
            <a:srgbClr val="FFEDD5"/>
          </a:solidFill>
          <a:ln xmlns:a="http://schemas.openxmlformats.org/drawingml/2006/main" w="22225">
            <a:solidFill>
              <a:srgbClr val="EA580C"/>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FD5343A9-A957-411F-B5D0-B723F591739F}"/>
              </a:ext>
            </a:extLst>
          </p:cNvPr>
          <p:cNvSpPr>
            <a:spLocks xmlns:a="http://schemas.openxmlformats.org/drawingml/2006/main" noGrp="1"/>
          </p:cNvSpPr>
          <p:nvPr/>
        </p:nvSpPr>
        <p:spPr>
          <a:xfrm xmlns:a="http://schemas.openxmlformats.org/drawingml/2006/main">
            <a:off x="4937760" y="214884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C2410C"/>
                </a:solidFill>
                <a:latin typeface="Calibri"/>
                <a:ea typeface="Calibri"/>
                <a:cs typeface="Calibri"/>
              </a:rPr>
              <a:t>Protect now</a:t>
            </a:r>
            <a:endParaRPr sz="1400"/>
          </a:p>
        </p:txBody>
      </p:sp>
      <p:sp>
        <p:nvSpPr>
          <p:cNvPr id="18" name="Text 15">
            <a:extLst xmlns:a="http://schemas.openxmlformats.org/drawingml/2006/main">
              <a:ext uri="{FF2B5EF4-FFF2-40B4-BE49-F238E27FC236}">
                <a16:creationId xmlns:a16="http://schemas.microsoft.com/office/drawing/2014/main" id="{ED8BCF39-97AF-44E9-90B1-28C5F4A1ADEA}"/>
              </a:ext>
            </a:extLst>
          </p:cNvPr>
          <p:cNvSpPr>
            <a:spLocks xmlns:a="http://schemas.openxmlformats.org/drawingml/2006/main" noGrp="1"/>
          </p:cNvSpPr>
          <p:nvPr/>
        </p:nvSpPr>
        <p:spPr>
          <a:xfrm xmlns:a="http://schemas.openxmlformats.org/drawingml/2006/main">
            <a:off x="4937760" y="246888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EA580C"/>
                </a:solidFill>
                <a:latin typeface="Calibri"/>
                <a:ea typeface="Calibri"/>
                <a:cs typeface="Calibri"/>
              </a:rPr>
              <a:t>1,408</a:t>
            </a:r>
            <a:endParaRPr sz="3000"/>
          </a:p>
        </p:txBody>
      </p:sp>
      <p:sp>
        <p:nvSpPr>
          <p:cNvPr id="19" name="Text 16">
            <a:extLst xmlns:a="http://schemas.openxmlformats.org/drawingml/2006/main">
              <a:ext uri="{FF2B5EF4-FFF2-40B4-BE49-F238E27FC236}">
                <a16:creationId xmlns:a16="http://schemas.microsoft.com/office/drawing/2014/main" id="{8C339B4F-5907-47CE-95F3-51782CEC6803}"/>
              </a:ext>
            </a:extLst>
          </p:cNvPr>
          <p:cNvSpPr>
            <a:spLocks xmlns:a="http://schemas.openxmlformats.org/drawingml/2006/main" noGrp="1"/>
          </p:cNvSpPr>
          <p:nvPr/>
        </p:nvSpPr>
        <p:spPr>
          <a:xfrm xmlns:a="http://schemas.openxmlformats.org/drawingml/2006/main">
            <a:off x="4937760" y="301752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customers (7.8%)</a:t>
            </a:r>
            <a:endParaRPr sz="1100"/>
          </a:p>
        </p:txBody>
      </p:sp>
      <p:sp>
        <p:nvSpPr>
          <p:cNvPr id="20" name="Text 17">
            <a:extLst xmlns:a="http://schemas.openxmlformats.org/drawingml/2006/main">
              <a:ext uri="{FF2B5EF4-FFF2-40B4-BE49-F238E27FC236}">
                <a16:creationId xmlns:a16="http://schemas.microsoft.com/office/drawing/2014/main" id="{7054C323-EBC4-4401-B6A0-FEFF24478FEF}"/>
              </a:ext>
            </a:extLst>
          </p:cNvPr>
          <p:cNvSpPr>
            <a:spLocks xmlns:a="http://schemas.openxmlformats.org/drawingml/2006/main" noGrp="1"/>
          </p:cNvSpPr>
          <p:nvPr/>
        </p:nvSpPr>
        <p:spPr>
          <a:xfrm xmlns:a="http://schemas.openxmlformats.org/drawingml/2006/main">
            <a:off x="4937760" y="338328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CLV $5,616</a:t>
            </a:r>
            <a:endParaRPr sz="1150"/>
          </a:p>
        </p:txBody>
      </p:sp>
      <p:sp>
        <p:nvSpPr>
          <p:cNvPr id="21" name="Text 18">
            <a:extLst xmlns:a="http://schemas.openxmlformats.org/drawingml/2006/main">
              <a:ext uri="{FF2B5EF4-FFF2-40B4-BE49-F238E27FC236}">
                <a16:creationId xmlns:a16="http://schemas.microsoft.com/office/drawing/2014/main" id="{DC530B36-6A24-47BC-A1AE-DEE0CE55E2AA}"/>
              </a:ext>
            </a:extLst>
          </p:cNvPr>
          <p:cNvSpPr>
            <a:spLocks xmlns:a="http://schemas.openxmlformats.org/drawingml/2006/main" noGrp="1"/>
          </p:cNvSpPr>
          <p:nvPr/>
        </p:nvSpPr>
        <p:spPr>
          <a:xfrm xmlns:a="http://schemas.openxmlformats.org/drawingml/2006/main">
            <a:off x="4937760" y="3639312"/>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modeled risk 61.7%</a:t>
            </a:r>
            <a:endParaRPr sz="1150"/>
          </a:p>
        </p:txBody>
      </p:sp>
      <p:sp>
        <p:nvSpPr>
          <p:cNvPr id="22" name="Shape 19">
            <a:extLst xmlns:a="http://schemas.openxmlformats.org/drawingml/2006/main">
              <a:ext uri="{FF2B5EF4-FFF2-40B4-BE49-F238E27FC236}">
                <a16:creationId xmlns:a16="http://schemas.microsoft.com/office/drawing/2014/main" id="{62705F72-9493-403E-A3EF-C21453078916}"/>
              </a:ext>
            </a:extLst>
          </p:cNvPr>
          <p:cNvSpPr>
            <a:spLocks xmlns:a="http://schemas.openxmlformats.org/drawingml/2006/main" noGrp="1"/>
          </p:cNvSpPr>
          <p:nvPr/>
        </p:nvSpPr>
        <p:spPr>
          <a:xfrm xmlns:a="http://schemas.openxmlformats.org/drawingml/2006/main">
            <a:off x="1645920" y="4206240"/>
            <a:ext cx="3017520" cy="2103120"/>
          </a:xfrm>
          <a:prstGeom xmlns:a="http://schemas.openxmlformats.org/drawingml/2006/main" prst="rect">
            <a:avLst/>
          </a:prstGeom>
          <a:solidFill xmlns:a="http://schemas.openxmlformats.org/drawingml/2006/main">
            <a:srgbClr val="FFFFFF"/>
          </a:solidFill>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E947A529-773B-4F1E-9E5F-48912A70B4DE}"/>
              </a:ext>
            </a:extLst>
          </p:cNvPr>
          <p:cNvSpPr>
            <a:spLocks xmlns:a="http://schemas.openxmlformats.org/drawingml/2006/main" noGrp="1"/>
          </p:cNvSpPr>
          <p:nvPr/>
        </p:nvSpPr>
        <p:spPr>
          <a:xfrm xmlns:a="http://schemas.openxmlformats.org/drawingml/2006/main">
            <a:off x="1828800" y="434340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C1917"/>
                </a:solidFill>
                <a:latin typeface="Calibri"/>
                <a:ea typeface="Calibri"/>
                <a:cs typeface="Calibri"/>
              </a:rPr>
              <a:t>Nurture</a:t>
            </a:r>
            <a:endParaRPr sz="1400"/>
          </a:p>
        </p:txBody>
      </p:sp>
      <p:sp>
        <p:nvSpPr>
          <p:cNvPr id="24" name="Text 21">
            <a:extLst xmlns:a="http://schemas.openxmlformats.org/drawingml/2006/main">
              <a:ext uri="{FF2B5EF4-FFF2-40B4-BE49-F238E27FC236}">
                <a16:creationId xmlns:a16="http://schemas.microsoft.com/office/drawing/2014/main" id="{FDA2E2CA-1E7F-4DFA-9E89-5185E7FEAED8}"/>
              </a:ext>
            </a:extLst>
          </p:cNvPr>
          <p:cNvSpPr>
            <a:spLocks xmlns:a="http://schemas.openxmlformats.org/drawingml/2006/main" noGrp="1"/>
          </p:cNvSpPr>
          <p:nvPr/>
        </p:nvSpPr>
        <p:spPr>
          <a:xfrm xmlns:a="http://schemas.openxmlformats.org/drawingml/2006/main">
            <a:off x="1828800" y="466344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92524"/>
                </a:solidFill>
                <a:latin typeface="Calibri"/>
                <a:ea typeface="Calibri"/>
                <a:cs typeface="Calibri"/>
              </a:rPr>
              <a:t>5,908</a:t>
            </a:r>
            <a:endParaRPr sz="3000"/>
          </a:p>
        </p:txBody>
      </p:sp>
      <p:sp>
        <p:nvSpPr>
          <p:cNvPr id="25" name="Text 22">
            <a:extLst xmlns:a="http://schemas.openxmlformats.org/drawingml/2006/main">
              <a:ext uri="{FF2B5EF4-FFF2-40B4-BE49-F238E27FC236}">
                <a16:creationId xmlns:a16="http://schemas.microsoft.com/office/drawing/2014/main" id="{59BD0678-04D9-41B4-B9BF-2D7272AC0839}"/>
              </a:ext>
            </a:extLst>
          </p:cNvPr>
          <p:cNvSpPr>
            <a:spLocks xmlns:a="http://schemas.openxmlformats.org/drawingml/2006/main" noGrp="1"/>
          </p:cNvSpPr>
          <p:nvPr/>
        </p:nvSpPr>
        <p:spPr>
          <a:xfrm xmlns:a="http://schemas.openxmlformats.org/drawingml/2006/main">
            <a:off x="1828800" y="521208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customers (32.8%)</a:t>
            </a:r>
            <a:endParaRPr sz="1100"/>
          </a:p>
        </p:txBody>
      </p:sp>
      <p:sp>
        <p:nvSpPr>
          <p:cNvPr id="26" name="Text 23">
            <a:extLst xmlns:a="http://schemas.openxmlformats.org/drawingml/2006/main">
              <a:ext uri="{FF2B5EF4-FFF2-40B4-BE49-F238E27FC236}">
                <a16:creationId xmlns:a16="http://schemas.microsoft.com/office/drawing/2014/main" id="{7CB77311-5FD1-46AC-822D-32D692F6AD72}"/>
              </a:ext>
            </a:extLst>
          </p:cNvPr>
          <p:cNvSpPr>
            <a:spLocks xmlns:a="http://schemas.openxmlformats.org/drawingml/2006/main" noGrp="1"/>
          </p:cNvSpPr>
          <p:nvPr/>
        </p:nvSpPr>
        <p:spPr>
          <a:xfrm xmlns:a="http://schemas.openxmlformats.org/drawingml/2006/main">
            <a:off x="1828800" y="557784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CLV $2,203</a:t>
            </a:r>
            <a:endParaRPr sz="1150"/>
          </a:p>
        </p:txBody>
      </p:sp>
      <p:sp>
        <p:nvSpPr>
          <p:cNvPr id="27" name="Text 24">
            <a:extLst xmlns:a="http://schemas.openxmlformats.org/drawingml/2006/main">
              <a:ext uri="{FF2B5EF4-FFF2-40B4-BE49-F238E27FC236}">
                <a16:creationId xmlns:a16="http://schemas.microsoft.com/office/drawing/2014/main" id="{6956594A-A886-4BC5-A00C-E6D51DEBFF84}"/>
              </a:ext>
            </a:extLst>
          </p:cNvPr>
          <p:cNvSpPr>
            <a:spLocks xmlns:a="http://schemas.openxmlformats.org/drawingml/2006/main" noGrp="1"/>
          </p:cNvSpPr>
          <p:nvPr/>
        </p:nvSpPr>
        <p:spPr>
          <a:xfrm xmlns:a="http://schemas.openxmlformats.org/drawingml/2006/main">
            <a:off x="1828800" y="5833872"/>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modeled risk 45.4%</a:t>
            </a:r>
            <a:endParaRPr sz="1150"/>
          </a:p>
        </p:txBody>
      </p:sp>
      <p:sp>
        <p:nvSpPr>
          <p:cNvPr id="28" name="Shape 25">
            <a:extLst xmlns:a="http://schemas.openxmlformats.org/drawingml/2006/main">
              <a:ext uri="{FF2B5EF4-FFF2-40B4-BE49-F238E27FC236}">
                <a16:creationId xmlns:a16="http://schemas.microsoft.com/office/drawing/2014/main" id="{1A794808-2455-4EE0-92CF-AE4CD799A287}"/>
              </a:ext>
            </a:extLst>
          </p:cNvPr>
          <p:cNvSpPr>
            <a:spLocks xmlns:a="http://schemas.openxmlformats.org/drawingml/2006/main" noGrp="1"/>
          </p:cNvSpPr>
          <p:nvPr/>
        </p:nvSpPr>
        <p:spPr>
          <a:xfrm xmlns:a="http://schemas.openxmlformats.org/drawingml/2006/main">
            <a:off x="4754880" y="4206240"/>
            <a:ext cx="3017520" cy="2103120"/>
          </a:xfrm>
          <a:prstGeom xmlns:a="http://schemas.openxmlformats.org/drawingml/2006/main" prst="rect">
            <a:avLst/>
          </a:prstGeom>
          <a:solidFill xmlns:a="http://schemas.openxmlformats.org/drawingml/2006/main">
            <a:srgbClr val="FFFFFF"/>
          </a:solidFill>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6">
            <a:extLst xmlns:a="http://schemas.openxmlformats.org/drawingml/2006/main">
              <a:ext uri="{FF2B5EF4-FFF2-40B4-BE49-F238E27FC236}">
                <a16:creationId xmlns:a16="http://schemas.microsoft.com/office/drawing/2014/main" id="{86DCDB99-81F3-4C06-BAB5-BA14C3866271}"/>
              </a:ext>
            </a:extLst>
          </p:cNvPr>
          <p:cNvSpPr>
            <a:spLocks xmlns:a="http://schemas.openxmlformats.org/drawingml/2006/main" noGrp="1"/>
          </p:cNvSpPr>
          <p:nvPr/>
        </p:nvSpPr>
        <p:spPr>
          <a:xfrm xmlns:a="http://schemas.openxmlformats.org/drawingml/2006/main">
            <a:off x="4937760" y="434340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C1917"/>
                </a:solidFill>
                <a:latin typeface="Calibri"/>
                <a:ea typeface="Calibri"/>
                <a:cs typeface="Calibri"/>
              </a:rPr>
              <a:t>Low-cost save</a:t>
            </a:r>
            <a:endParaRPr sz="1400"/>
          </a:p>
        </p:txBody>
      </p:sp>
      <p:sp>
        <p:nvSpPr>
          <p:cNvPr id="30" name="Text 27">
            <a:extLst xmlns:a="http://schemas.openxmlformats.org/drawingml/2006/main">
              <a:ext uri="{FF2B5EF4-FFF2-40B4-BE49-F238E27FC236}">
                <a16:creationId xmlns:a16="http://schemas.microsoft.com/office/drawing/2014/main" id="{42223DCC-92D9-4370-A1DD-7A487D5FEBF8}"/>
              </a:ext>
            </a:extLst>
          </p:cNvPr>
          <p:cNvSpPr>
            <a:spLocks xmlns:a="http://schemas.openxmlformats.org/drawingml/2006/main" noGrp="1"/>
          </p:cNvSpPr>
          <p:nvPr/>
        </p:nvSpPr>
        <p:spPr>
          <a:xfrm xmlns:a="http://schemas.openxmlformats.org/drawingml/2006/main">
            <a:off x="4937760" y="466344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92524"/>
                </a:solidFill>
                <a:latin typeface="Calibri"/>
                <a:ea typeface="Calibri"/>
                <a:cs typeface="Calibri"/>
              </a:rPr>
              <a:t>3,092</a:t>
            </a:r>
            <a:endParaRPr sz="3000"/>
          </a:p>
        </p:txBody>
      </p:sp>
      <p:sp>
        <p:nvSpPr>
          <p:cNvPr id="31" name="Text 28">
            <a:extLst xmlns:a="http://schemas.openxmlformats.org/drawingml/2006/main">
              <a:ext uri="{FF2B5EF4-FFF2-40B4-BE49-F238E27FC236}">
                <a16:creationId xmlns:a16="http://schemas.microsoft.com/office/drawing/2014/main" id="{8562834E-E647-4CD9-96C2-78B335E9686A}"/>
              </a:ext>
            </a:extLst>
          </p:cNvPr>
          <p:cNvSpPr>
            <a:spLocks xmlns:a="http://schemas.openxmlformats.org/drawingml/2006/main" noGrp="1"/>
          </p:cNvSpPr>
          <p:nvPr/>
        </p:nvSpPr>
        <p:spPr>
          <a:xfrm xmlns:a="http://schemas.openxmlformats.org/drawingml/2006/main">
            <a:off x="4937760" y="521208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customers (17.2%)</a:t>
            </a:r>
            <a:endParaRPr sz="1100"/>
          </a:p>
        </p:txBody>
      </p:sp>
      <p:sp>
        <p:nvSpPr>
          <p:cNvPr id="32" name="Text 29">
            <a:extLst xmlns:a="http://schemas.openxmlformats.org/drawingml/2006/main">
              <a:ext uri="{FF2B5EF4-FFF2-40B4-BE49-F238E27FC236}">
                <a16:creationId xmlns:a16="http://schemas.microsoft.com/office/drawing/2014/main" id="{C2795A8D-E1E4-4984-ACDD-10917F499AA8}"/>
              </a:ext>
            </a:extLst>
          </p:cNvPr>
          <p:cNvSpPr>
            <a:spLocks xmlns:a="http://schemas.openxmlformats.org/drawingml/2006/main" noGrp="1"/>
          </p:cNvSpPr>
          <p:nvPr/>
        </p:nvSpPr>
        <p:spPr>
          <a:xfrm xmlns:a="http://schemas.openxmlformats.org/drawingml/2006/main">
            <a:off x="4937760" y="5577840"/>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CLV $2,023</a:t>
            </a:r>
            <a:endParaRPr sz="1150"/>
          </a:p>
        </p:txBody>
      </p:sp>
      <p:sp>
        <p:nvSpPr>
          <p:cNvPr id="33" name="Text 30">
            <a:extLst xmlns:a="http://schemas.openxmlformats.org/drawingml/2006/main">
              <a:ext uri="{FF2B5EF4-FFF2-40B4-BE49-F238E27FC236}">
                <a16:creationId xmlns:a16="http://schemas.microsoft.com/office/drawing/2014/main" id="{0D797F4E-4AF0-4FFD-84F1-24A84C2619B8}"/>
              </a:ext>
            </a:extLst>
          </p:cNvPr>
          <p:cNvSpPr>
            <a:spLocks xmlns:a="http://schemas.openxmlformats.org/drawingml/2006/main" noGrp="1"/>
          </p:cNvSpPr>
          <p:nvPr/>
        </p:nvSpPr>
        <p:spPr>
          <a:xfrm xmlns:a="http://schemas.openxmlformats.org/drawingml/2006/main">
            <a:off x="4937760" y="5833872"/>
            <a:ext cx="265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a:solidFill>
                  <a:srgbClr val="292524"/>
                </a:solidFill>
                <a:latin typeface="Calibri"/>
                <a:ea typeface="Calibri"/>
                <a:cs typeface="Calibri"/>
              </a:rPr>
              <a:t>Average modeled risk 63.4%</a:t>
            </a:r>
            <a:endParaRPr sz="1150"/>
          </a:p>
        </p:txBody>
      </p:sp>
      <p:sp>
        <p:nvSpPr>
          <p:cNvPr id="34" name="Text 31">
            <a:extLst xmlns:a="http://schemas.openxmlformats.org/drawingml/2006/main">
              <a:ext uri="{FF2B5EF4-FFF2-40B4-BE49-F238E27FC236}">
                <a16:creationId xmlns:a16="http://schemas.microsoft.com/office/drawing/2014/main" id="{12EBD8B6-2D78-4AA0-B3A3-AA18B527C8FB}"/>
              </a:ext>
            </a:extLst>
          </p:cNvPr>
          <p:cNvSpPr>
            <a:spLocks xmlns:a="http://schemas.openxmlformats.org/drawingml/2006/main" noGrp="1"/>
          </p:cNvSpPr>
          <p:nvPr/>
        </p:nvSpPr>
        <p:spPr>
          <a:xfrm xmlns:a="http://schemas.openxmlformats.org/drawingml/2006/main">
            <a:off x="8138160" y="1691640"/>
            <a:ext cx="35021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What we would do</a:t>
            </a:r>
            <a:endParaRPr sz="1200"/>
          </a:p>
        </p:txBody>
      </p:sp>
      <p:sp>
        <p:nvSpPr>
          <p:cNvPr id="35" name="Text 32">
            <a:extLst xmlns:a="http://schemas.openxmlformats.org/drawingml/2006/main">
              <a:ext uri="{FF2B5EF4-FFF2-40B4-BE49-F238E27FC236}">
                <a16:creationId xmlns:a16="http://schemas.microsoft.com/office/drawing/2014/main" id="{2F389182-8785-46E2-A3CD-CCA5C9ABD464}"/>
              </a:ext>
            </a:extLst>
          </p:cNvPr>
          <p:cNvSpPr>
            <a:spLocks xmlns:a="http://schemas.openxmlformats.org/drawingml/2006/main" noGrp="1"/>
          </p:cNvSpPr>
          <p:nvPr/>
        </p:nvSpPr>
        <p:spPr>
          <a:xfrm xmlns:a="http://schemas.openxmlformats.org/drawingml/2006/main">
            <a:off x="8138160" y="2011680"/>
            <a:ext cx="3502152"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C2410C"/>
                </a:solidFill>
                <a:latin typeface="Calibri"/>
                <a:ea typeface="Calibri"/>
                <a:cs typeface="Calibri"/>
              </a:rPr>
              <a:t>Protect now. Test a targeted 10% offer with a 15% untreated holdout.</a:t>
            </a:r>
            <a:endParaRPr sz="1300"/>
          </a:p>
          <a:p xmlns:a="http://schemas.openxmlformats.org/drawingml/2006/main">
            <a:pPr marL="0" indent="0">
              <a:buNone/>
            </a:pPr>
            <a:r>
              <a:rPr sz="1300" b="1">
                <a:solidFill>
                  <a:srgbClr val="C2410C"/>
                </a:solidFill>
                <a:latin typeface="Calibri"/>
                <a:ea typeface="Calibri"/>
                <a:cs typeface="Calibri"/>
              </a:rPr>
              <a:t>Grow &amp; retain. Use service and relevant engagement before discounts.</a:t>
            </a:r>
            <a:endParaRPr sz="1300"/>
          </a:p>
          <a:p xmlns:a="http://schemas.openxmlformats.org/drawingml/2006/main">
            <a:pPr marL="0" indent="0">
              <a:buNone/>
            </a:pPr>
            <a:r>
              <a:rPr sz="1300" b="1">
                <a:solidFill>
                  <a:srgbClr val="C2410C"/>
                </a:solidFill>
                <a:latin typeface="Calibri"/>
                <a:ea typeface="Calibri"/>
                <a:cs typeface="Calibri"/>
              </a:rPr>
              <a:t>Low-cost save. Use efficient channels and strict incentive caps.</a:t>
            </a:r>
            <a:endParaRPr sz="1300"/>
          </a:p>
          <a:p xmlns:a="http://schemas.openxmlformats.org/drawingml/2006/main">
            <a:pPr marL="0" indent="0">
              <a:buNone/>
            </a:pPr>
            <a:r>
              <a:rPr sz="1300" b="1">
                <a:solidFill>
                  <a:srgbClr val="C2410C"/>
                </a:solidFill>
                <a:latin typeface="Calibri"/>
                <a:ea typeface="Calibri"/>
                <a:cs typeface="Calibri"/>
              </a:rPr>
              <a:t>Nurture. Maintain low-cost contact and monitor movement into higher risk.</a:t>
            </a:r>
            <a:endParaRPr sz="1300"/>
          </a:p>
        </p:txBody>
      </p:sp>
      <p:sp>
        <p:nvSpPr>
          <p:cNvPr id="5" name="Slide Number Placeholder 0">
            <a:extLst xmlns:a="http://schemas.openxmlformats.org/drawingml/2006/main">
              <a:ext uri="{FF2B5EF4-FFF2-40B4-BE49-F238E27FC236}">
                <a16:creationId xmlns:a16="http://schemas.microsoft.com/office/drawing/2014/main" id="{B8C4725B-45A5-4E9C-99BF-D5CA42DA9704}"/>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17509992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EE54F2-C08D-4FF3-9291-CEACA52B8FF0}"/>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Solution controls</a:t>
            </a:r>
            <a:endParaRPr sz="1100"/>
          </a:p>
        </p:txBody>
      </p:sp>
      <p:sp>
        <p:nvSpPr>
          <p:cNvPr id="3" name="Text 1">
            <a:extLst xmlns:a="http://schemas.openxmlformats.org/drawingml/2006/main">
              <a:ext uri="{FF2B5EF4-FFF2-40B4-BE49-F238E27FC236}">
                <a16:creationId xmlns:a16="http://schemas.microsoft.com/office/drawing/2014/main" id="{12C2FF35-7093-4233-8494-AAE6A47DA19B}"/>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Models rank the test while holdouts prove value</a:t>
            </a:r>
            <a:endParaRPr sz="2500"/>
          </a:p>
        </p:txBody>
      </p:sp>
      <p:sp>
        <p:nvSpPr>
          <p:cNvPr id="4" name="Text 2">
            <a:extLst xmlns:a="http://schemas.openxmlformats.org/drawingml/2006/main">
              <a:ext uri="{FF2B5EF4-FFF2-40B4-BE49-F238E27FC236}">
                <a16:creationId xmlns:a16="http://schemas.microsoft.com/office/drawing/2014/main" id="{69251A91-1E33-4F7D-8B87-AB6DF4D1D5A6}"/>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datasets. Churn: 5-fold cross-validation, CLV excluded. Profit: 75/25 split; revenue, COGS, profit excluded. "Right call" = loss or profit called correctly.</a:t>
            </a:r>
            <a:endParaRPr sz="900"/>
          </a:p>
        </p:txBody>
      </p:sp>
      <p:sp>
        <p:nvSpPr>
          <p:cNvPr id="6" name="Text 3">
            <a:extLst xmlns:a="http://schemas.openxmlformats.org/drawingml/2006/main">
              <a:ext uri="{FF2B5EF4-FFF2-40B4-BE49-F238E27FC236}">
                <a16:creationId xmlns:a16="http://schemas.microsoft.com/office/drawing/2014/main" id="{0FA85971-7394-42BC-B0C3-AF3CF14F3000}"/>
              </a:ext>
            </a:extLst>
          </p:cNvPr>
          <p:cNvSpPr>
            <a:spLocks xmlns:a="http://schemas.openxmlformats.org/drawingml/2006/main" noGrp="1"/>
          </p:cNvSpPr>
          <p:nvPr/>
        </p:nvSpPr>
        <p:spPr>
          <a:xfrm xmlns:a="http://schemas.openxmlformats.org/drawingml/2006/main">
            <a:off x="548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C2410C"/>
                </a:solidFill>
                <a:latin typeface="Calibri"/>
                <a:ea typeface="Calibri"/>
                <a:cs typeface="Calibri"/>
              </a:rPr>
              <a:t>Churn risk (18,000 customers)</a:t>
            </a:r>
            <a:endParaRPr sz="1250"/>
          </a:p>
        </p:txBody>
      </p:sp>
      <p:graphicFrame>
        <p:nvGraphicFramePr>
          <p:cNvPr id="36" name="Table 0"/>
          <p:cNvGraphicFramePr/>
          <p:nvPr/>
        </p:nvGraphicFramePr>
        <p:xfrm>
          <a:off xmlns:a="http://schemas.openxmlformats.org/drawingml/2006/main" x="548640" y="2011680"/>
          <a:ext xmlns:a="http://schemas.openxmlformats.org/drawingml/2006/main" cx="5394960" cy="1554480"/>
        </p:xfrm>
        <a:graphic xmlns:a="http://schemas.openxmlformats.org/drawingml/2006/main">
          <a:graphicData uri="http://schemas.openxmlformats.org/drawingml/2006/table">
            <a:tbl>
              <a:tblPr/>
              <a:tblGrid>
                <a:gridCol w="1645920"/>
                <a:gridCol w="1554480"/>
                <a:gridCol w="731520"/>
                <a:gridCol w="1463040"/>
              </a:tblGrid>
              <a:tr h="310896">
                <a:tc>
                  <a:txBody>
                    <a:bodyPr/>
                    <a:lstStyle/>
                    <a:p>
                      <a:pPr marL="0" indent="0">
                        <a:buNone/>
                      </a:pPr>
                      <a:r>
                        <a:rPr sz="1100" b="1">
                          <a:solidFill>
                            <a:srgbClr val="1C1917"/>
                          </a:solidFill>
                          <a:latin typeface="Calibri"/>
                          <a:ea typeface="Calibri"/>
                          <a:cs typeface="Calibri"/>
                        </a:rPr>
                        <a:t>Model</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Role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AUC</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Top-10% capture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310896">
                <a:tc>
                  <a:txBody>
                    <a:bodyPr/>
                    <a:lstStyle/>
                    <a:p>
                      <a:pPr marL="0" indent="0">
                        <a:buNone/>
                      </a:pPr>
                      <a:r>
                        <a:rPr sz="1100" b="1">
                          <a:solidFill>
                            <a:srgbClr val="292524"/>
                          </a:solidFill>
                          <a:latin typeface="Calibri"/>
                          <a:ea typeface="Calibri"/>
                          <a:cs typeface="Calibri"/>
                        </a:rPr>
                        <a:t>Logistic Regression</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b="1">
                          <a:solidFill>
                            <a:srgbClr val="292524"/>
                          </a:solidFill>
                          <a:latin typeface="Calibri"/>
                          <a:ea typeface="Calibri"/>
                          <a:cs typeface="Calibri"/>
                        </a:rPr>
                        <a:t>Baseline (selected)</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0.640</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18.7%</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310896">
                <a:tc>
                  <a:txBody>
                    <a:bodyPr/>
                    <a:lstStyle/>
                    <a:p>
                      <a:pPr marL="0" indent="0">
                        <a:buNone/>
                      </a:pPr>
                      <a:r>
                        <a:rPr sz="1100">
                          <a:solidFill>
                            <a:srgbClr val="292524"/>
                          </a:solidFill>
                          <a:latin typeface="Calibri"/>
                          <a:ea typeface="Calibri"/>
                          <a:cs typeface="Calibri"/>
                        </a:rPr>
                        <a:t>Decision Tree</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Baseline</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0.584</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15.5%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10896">
                <a:tc>
                  <a:txBody>
                    <a:bodyPr/>
                    <a:lstStyle/>
                    <a:p>
                      <a:pPr marL="0" indent="0">
                        <a:buNone/>
                      </a:pPr>
                      <a:r>
                        <a:rPr sz="1100">
                          <a:solidFill>
                            <a:srgbClr val="292524"/>
                          </a:solidFill>
                          <a:latin typeface="Calibri"/>
                          <a:ea typeface="Calibri"/>
                          <a:cs typeface="Calibri"/>
                        </a:rPr>
                        <a:t>Gradient Boosting</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Advanced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0.600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15.6%</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10896">
                <a:tc>
                  <a:txBody>
                    <a:bodyPr/>
                    <a:lstStyle/>
                    <a:p>
                      <a:pPr marL="0" indent="0">
                        <a:buNone/>
                      </a:pPr>
                      <a:r>
                        <a:rPr sz="1100">
                          <a:solidFill>
                            <a:srgbClr val="292524"/>
                          </a:solidFill>
                          <a:latin typeface="Calibri"/>
                          <a:ea typeface="Calibri"/>
                          <a:cs typeface="Calibri"/>
                        </a:rPr>
                        <a:t>Random Forest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Advanced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0.595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16.1%</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8" name="Text 4">
            <a:extLst xmlns:a="http://schemas.openxmlformats.org/drawingml/2006/main">
              <a:ext uri="{FF2B5EF4-FFF2-40B4-BE49-F238E27FC236}">
                <a16:creationId xmlns:a16="http://schemas.microsoft.com/office/drawing/2014/main" id="{9B8747A6-4A82-4DB9-8401-1DC8325CEF79}"/>
              </a:ext>
            </a:extLst>
          </p:cNvPr>
          <p:cNvSpPr>
            <a:spLocks xmlns:a="http://schemas.openxmlformats.org/drawingml/2006/main" noGrp="1"/>
          </p:cNvSpPr>
          <p:nvPr/>
        </p:nvSpPr>
        <p:spPr>
          <a:xfrm xmlns:a="http://schemas.openxmlformats.org/drawingml/2006/main">
            <a:off x="548640" y="3794760"/>
            <a:ext cx="5394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92524"/>
                </a:solidFill>
                <a:latin typeface="Calibri"/>
                <a:ea typeface="Calibri"/>
                <a:cs typeface="Calibri"/>
              </a:rPr>
              <a:t>Actual churn rate by predicted risk decile (D10 is the riskiest 10%)</a:t>
            </a:r>
            <a:endParaRPr sz="1100"/>
          </a:p>
        </p:txBody>
      </p:sp>
      <p:sp>
        <p:nvSpPr>
          <p:cNvPr id="10" name="Text 5">
            <a:extLst xmlns:a="http://schemas.openxmlformats.org/drawingml/2006/main">
              <a:ext uri="{FF2B5EF4-FFF2-40B4-BE49-F238E27FC236}">
                <a16:creationId xmlns:a16="http://schemas.microsoft.com/office/drawing/2014/main" id="{28372F8F-A018-4AD8-85BF-04601A3F4850}"/>
              </a:ext>
            </a:extLst>
          </p:cNvPr>
          <p:cNvSpPr>
            <a:spLocks xmlns:a="http://schemas.openxmlformats.org/drawingml/2006/main" noGrp="1"/>
          </p:cNvSpPr>
          <p:nvPr/>
        </p:nvSpPr>
        <p:spPr>
          <a:xfrm xmlns:a="http://schemas.openxmlformats.org/drawingml/2006/main">
            <a:off x="6263640" y="1691640"/>
            <a:ext cx="5394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C2410C"/>
                </a:solidFill>
                <a:latin typeface="Calibri"/>
                <a:ea typeface="Calibri"/>
                <a:cs typeface="Calibri"/>
              </a:rPr>
              <a:t>Profit per sales record (15,000 records)</a:t>
            </a:r>
            <a:endParaRPr sz="1250"/>
          </a:p>
        </p:txBody>
      </p:sp>
      <p:graphicFrame>
        <p:nvGraphicFramePr>
          <p:cNvPr id="39" name="Table 1"/>
          <p:cNvGraphicFramePr/>
          <p:nvPr/>
        </p:nvGraphicFramePr>
        <p:xfrm>
          <a:off xmlns:a="http://schemas.openxmlformats.org/drawingml/2006/main" x="6263640" y="2011680"/>
          <a:ext xmlns:a="http://schemas.openxmlformats.org/drawingml/2006/main" cx="5376672" cy="1554480"/>
        </p:xfrm>
        <a:graphic xmlns:a="http://schemas.openxmlformats.org/drawingml/2006/main">
          <a:graphicData uri="http://schemas.openxmlformats.org/drawingml/2006/table">
            <a:tbl>
              <a:tblPr/>
              <a:tblGrid>
                <a:gridCol w="1463040"/>
                <a:gridCol w="1508760"/>
                <a:gridCol w="548640"/>
                <a:gridCol w="896112"/>
                <a:gridCol w="960120"/>
              </a:tblGrid>
              <a:tr h="310896">
                <a:tc>
                  <a:txBody>
                    <a:bodyPr/>
                    <a:lstStyle/>
                    <a:p>
                      <a:pPr marL="0" indent="0">
                        <a:buNone/>
                      </a:pPr>
                      <a:r>
                        <a:rPr sz="1100" b="1">
                          <a:solidFill>
                            <a:srgbClr val="1C1917"/>
                          </a:solidFill>
                          <a:latin typeface="Calibri"/>
                          <a:ea typeface="Calibri"/>
                          <a:cs typeface="Calibri"/>
                        </a:rPr>
                        <a:t>Model</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Role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R²</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Avg error</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lgn="r">
                        <a:buNone/>
                      </a:pPr>
                      <a:r>
                        <a:rPr sz="1100" b="1">
                          <a:solidFill>
                            <a:srgbClr val="1C1917"/>
                          </a:solidFill>
                          <a:latin typeface="Calibri"/>
                          <a:ea typeface="Calibri"/>
                          <a:cs typeface="Calibri"/>
                        </a:rPr>
                        <a:t>Right call</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310896">
                <a:tc>
                  <a:txBody>
                    <a:bodyPr/>
                    <a:lstStyle/>
                    <a:p>
                      <a:pPr marL="0" indent="0">
                        <a:buNone/>
                      </a:pPr>
                      <a:r>
                        <a:rPr sz="1100">
                          <a:solidFill>
                            <a:srgbClr val="292524"/>
                          </a:solidFill>
                          <a:latin typeface="Calibri"/>
                          <a:ea typeface="Calibri"/>
                          <a:cs typeface="Calibri"/>
                        </a:rPr>
                        <a:t>Linear Regression</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Baseline</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0.786</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$4,715</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87%</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310896">
                <a:tc>
                  <a:txBody>
                    <a:bodyPr/>
                    <a:lstStyle/>
                    <a:p>
                      <a:pPr marL="0" indent="0">
                        <a:buNone/>
                      </a:pPr>
                      <a:r>
                        <a:rPr sz="1100">
                          <a:solidFill>
                            <a:srgbClr val="292524"/>
                          </a:solidFill>
                          <a:latin typeface="Calibri"/>
                          <a:ea typeface="Calibri"/>
                          <a:cs typeface="Calibri"/>
                        </a:rPr>
                        <a:t>Decision Tree</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Baseline</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0.843</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$4,210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84%</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10896">
                <a:tc>
                  <a:txBody>
                    <a:bodyPr/>
                    <a:lstStyle/>
                    <a:p>
                      <a:pPr marL="0" indent="0">
                        <a:buNone/>
                      </a:pPr>
                      <a:r>
                        <a:rPr sz="1100">
                          <a:solidFill>
                            <a:srgbClr val="292524"/>
                          </a:solidFill>
                          <a:latin typeface="Calibri"/>
                          <a:ea typeface="Calibri"/>
                          <a:cs typeface="Calibri"/>
                        </a:rPr>
                        <a:t>Random Forest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Advanced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0.976</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$1,554</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a:solidFill>
                            <a:srgbClr val="292524"/>
                          </a:solidFill>
                          <a:latin typeface="Calibri"/>
                          <a:ea typeface="Calibri"/>
                          <a:cs typeface="Calibri"/>
                        </a:rPr>
                        <a:t>95%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10896">
                <a:tc>
                  <a:txBody>
                    <a:bodyPr/>
                    <a:lstStyle/>
                    <a:p>
                      <a:pPr marL="0" indent="0">
                        <a:buNone/>
                      </a:pPr>
                      <a:r>
                        <a:rPr sz="1100" b="1">
                          <a:solidFill>
                            <a:srgbClr val="292524"/>
                          </a:solidFill>
                          <a:latin typeface="Calibri"/>
                          <a:ea typeface="Calibri"/>
                          <a:cs typeface="Calibri"/>
                        </a:rPr>
                        <a:t>Gradient Boosting</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b="1">
                          <a:solidFill>
                            <a:srgbClr val="292524"/>
                          </a:solidFill>
                          <a:latin typeface="Calibri"/>
                          <a:ea typeface="Calibri"/>
                          <a:cs typeface="Calibri"/>
                        </a:rPr>
                        <a:t>Advanced (selected)</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0.995</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$800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00" b="1">
                          <a:solidFill>
                            <a:srgbClr val="292524"/>
                          </a:solidFill>
                          <a:latin typeface="Calibri"/>
                          <a:ea typeface="Calibri"/>
                          <a:cs typeface="Calibri"/>
                        </a:rPr>
                        <a:t>97%</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12" name="Text 6">
            <a:extLst xmlns:a="http://schemas.openxmlformats.org/drawingml/2006/main">
              <a:ext uri="{FF2B5EF4-FFF2-40B4-BE49-F238E27FC236}">
                <a16:creationId xmlns:a16="http://schemas.microsoft.com/office/drawing/2014/main" id="{D935D6BC-EAC7-46E5-AE01-9FBF2E0DC736}"/>
              </a:ext>
            </a:extLst>
          </p:cNvPr>
          <p:cNvSpPr>
            <a:spLocks xmlns:a="http://schemas.openxmlformats.org/drawingml/2006/main" noGrp="1"/>
          </p:cNvSpPr>
          <p:nvPr/>
        </p:nvSpPr>
        <p:spPr>
          <a:xfrm xmlns:a="http://schemas.openxmlformats.org/drawingml/2006/main">
            <a:off x="6263640" y="3794760"/>
            <a:ext cx="5394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92524"/>
                </a:solidFill>
                <a:latin typeface="Calibri"/>
                <a:ea typeface="Calibri"/>
                <a:cs typeface="Calibri"/>
              </a:rPr>
              <a:t>What drives profit (share of influence)</a:t>
            </a:r>
            <a:endParaRPr sz="1100"/>
          </a:p>
        </p:txBody>
      </p:sp>
      <p:sp>
        <p:nvSpPr>
          <p:cNvPr id="14" name="Shape 7">
            <a:extLst xmlns:a="http://schemas.openxmlformats.org/drawingml/2006/main">
              <a:ext uri="{FF2B5EF4-FFF2-40B4-BE49-F238E27FC236}">
                <a16:creationId xmlns:a16="http://schemas.microsoft.com/office/drawing/2014/main" id="{31B9EE61-0603-477C-8100-BBCE5A1C32C8}"/>
              </a:ext>
            </a:extLst>
          </p:cNvPr>
          <p:cNvSpPr>
            <a:spLocks xmlns:a="http://schemas.openxmlformats.org/drawingml/2006/main" noGrp="1"/>
          </p:cNvSpPr>
          <p:nvPr/>
        </p:nvSpPr>
        <p:spPr>
          <a:xfrm xmlns:a="http://schemas.openxmlformats.org/drawingml/2006/main">
            <a:off x="548640" y="5806440"/>
            <a:ext cx="11094415"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8">
            <a:extLst xmlns:a="http://schemas.openxmlformats.org/drawingml/2006/main">
              <a:ext uri="{FF2B5EF4-FFF2-40B4-BE49-F238E27FC236}">
                <a16:creationId xmlns:a16="http://schemas.microsoft.com/office/drawing/2014/main" id="{FA7B4AE9-4310-456B-9C3C-16106CE007E9}"/>
              </a:ext>
            </a:extLst>
          </p:cNvPr>
          <p:cNvSpPr>
            <a:spLocks xmlns:a="http://schemas.openxmlformats.org/drawingml/2006/main" noGrp="1"/>
          </p:cNvSpPr>
          <p:nvPr/>
        </p:nvSpPr>
        <p:spPr>
          <a:xfrm xmlns:a="http://schemas.openxmlformats.org/drawingml/2006/main">
            <a:off x="548640" y="5870448"/>
            <a:ext cx="1109441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100">
                <a:solidFill>
                  <a:srgbClr val="292524"/>
                </a:solidFill>
                <a:latin typeface="Calibri"/>
                <a:ea typeface="Calibri"/>
                <a:cs typeface="Calibri"/>
              </a:rPr>
              <a:t>Use the churn score to rank outreach and the profit model to test promotion rules. The churn model is directional, so every retention intervention needs a holdout. Finance reconciles the realized profit.</a:t>
            </a:r>
            <a:endParaRPr sz="1100"/>
          </a:p>
        </p:txBody>
      </p:sp>
      <p:sp>
        <p:nvSpPr>
          <p:cNvPr id="25" name="Slide Number Placeholder 0">
            <a:extLst xmlns:a="http://schemas.openxmlformats.org/drawingml/2006/main">
              <a:ext uri="{FF2B5EF4-FFF2-40B4-BE49-F238E27FC236}">
                <a16:creationId xmlns:a16="http://schemas.microsoft.com/office/drawing/2014/main" id="{CA590CC0-F8E9-4856-8A0D-DB683ED8ED83}"/>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11</a:t>
            </a:fld>
            <a:endParaRPr/>
          </a:p>
        </p:txBody>
      </p:sp>
      <p:graphicFrame>
        <p:nvGraphicFramePr>
          <p:cNvPr id="44" name="Rebuilt editable chart: ch/mpob2hoj"/>
          <p:cNvGraphicFramePr/>
          <p:nvPr/>
        </p:nvGraphicFramePr>
        <p:xfrm>
          <a:off xmlns:a="http://schemas.openxmlformats.org/drawingml/2006/main" x="548640" y="4023360"/>
          <a:ext xmlns:a="http://schemas.openxmlformats.org/drawingml/2006/main" cx="5394960" cy="1691640"/>
        </p:xfrm>
        <a:graphic xmlns:a="http://schemas.openxmlformats.org/drawingml/2006/main">
          <a:graphicData uri="http://schemas.openxmlformats.org/drawingml/2006/chart">
            <c:chart xmlns:r="http://schemas.openxmlformats.org/officeDocument/2006/relationships" xmlns:c="http://schemas.openxmlformats.org/drawingml/2006/chart" r:id="R1eb41da5b87d4a2a"/>
          </a:graphicData>
        </a:graphic>
      </p:graphicFrame>
      <p:graphicFrame>
        <p:nvGraphicFramePr>
          <p:cNvPr id="45" name="Rebuilt editable chart: ch/snatgb6t"/>
          <p:cNvGraphicFramePr/>
          <p:nvPr/>
        </p:nvGraphicFramePr>
        <p:xfrm>
          <a:off xmlns:a="http://schemas.openxmlformats.org/drawingml/2006/main" x="6263640" y="4023360"/>
          <a:ext xmlns:a="http://schemas.openxmlformats.org/drawingml/2006/main" cx="5376672" cy="1691640"/>
        </p:xfrm>
        <a:graphic xmlns:a="http://schemas.openxmlformats.org/drawingml/2006/main">
          <a:graphicData uri="http://schemas.openxmlformats.org/drawingml/2006/chart">
            <c:chart xmlns:r="http://schemas.openxmlformats.org/officeDocument/2006/relationships" xmlns:c="http://schemas.openxmlformats.org/drawingml/2006/chart" r:id="Re5bf412b9d4e49fa"/>
          </a:graphicData>
        </a:graphic>
      </p:graphicFrame>
    </p:spTree>
    <p:extLst>
      <p:ext uri="{BB962C8B-B14F-4D97-AF65-F5344CB8AC3E}">
        <p14:creationId xmlns:p14="http://schemas.microsoft.com/office/powerpoint/2010/main" val="8020967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F2E48E-6DFB-404B-B4CC-01F141F31F4F}"/>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180-day action plan</a:t>
            </a:r>
            <a:endParaRPr sz="1100"/>
          </a:p>
        </p:txBody>
      </p:sp>
      <p:sp>
        <p:nvSpPr>
          <p:cNvPr id="3" name="Text 1">
            <a:extLst xmlns:a="http://schemas.openxmlformats.org/drawingml/2006/main">
              <a:ext uri="{FF2B5EF4-FFF2-40B4-BE49-F238E27FC236}">
                <a16:creationId xmlns:a16="http://schemas.microsoft.com/office/drawing/2014/main" id="{22B97E8E-2ABC-46BC-BD8F-2C6A140AFADE}"/>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Control leakage, test the rules, prove incremental value, then scale</a:t>
            </a:r>
            <a:endParaRPr sz="2500"/>
          </a:p>
        </p:txBody>
      </p:sp>
      <p:sp>
        <p:nvSpPr>
          <p:cNvPr id="4" name="Text 2">
            <a:extLst xmlns:a="http://schemas.openxmlformats.org/drawingml/2006/main">
              <a:ext uri="{FF2B5EF4-FFF2-40B4-BE49-F238E27FC236}">
                <a16:creationId xmlns:a16="http://schemas.microsoft.com/office/drawing/2014/main" id="{FBDBD7E6-DB6A-49DF-AB93-3322D1CBB506}"/>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Two Two Consulting dashboard, presentation script, and implementation plan. Each phase has a named owner, dated output, measurable threshold, and stop/go evidence gate.</a:t>
            </a:r>
            <a:endParaRPr sz="900"/>
          </a:p>
        </p:txBody>
      </p:sp>
      <p:sp>
        <p:nvSpPr>
          <p:cNvPr id="6" name="Text 3">
            <a:extLst xmlns:a="http://schemas.openxmlformats.org/drawingml/2006/main">
              <a:ext uri="{FF2B5EF4-FFF2-40B4-BE49-F238E27FC236}">
                <a16:creationId xmlns:a16="http://schemas.microsoft.com/office/drawing/2014/main" id="{30672281-C6E8-4075-91F8-D2E0914251D5}"/>
              </a:ext>
            </a:extLst>
          </p:cNvPr>
          <p:cNvSpPr>
            <a:spLocks xmlns:a="http://schemas.openxmlformats.org/drawingml/2006/main" noGrp="1"/>
          </p:cNvSpPr>
          <p:nvPr/>
        </p:nvSpPr>
        <p:spPr>
          <a:xfrm xmlns:a="http://schemas.openxmlformats.org/drawingml/2006/main">
            <a:off x="548640" y="1691640"/>
            <a:ext cx="257175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EA580C"/>
                </a:solidFill>
                <a:latin typeface="Calibri"/>
                <a:ea typeface="Calibri"/>
                <a:cs typeface="Calibri"/>
              </a:rPr>
              <a:t>0–30 DAYS</a:t>
            </a:r>
            <a:endParaRPr sz="1300"/>
          </a:p>
        </p:txBody>
      </p:sp>
      <p:sp>
        <p:nvSpPr>
          <p:cNvPr id="7" name="Text 4">
            <a:extLst xmlns:a="http://schemas.openxmlformats.org/drawingml/2006/main">
              <a:ext uri="{FF2B5EF4-FFF2-40B4-BE49-F238E27FC236}">
                <a16:creationId xmlns:a16="http://schemas.microsoft.com/office/drawing/2014/main" id="{C436A9A7-6533-4F8C-8ED8-C5C8748CEA26}"/>
              </a:ext>
            </a:extLst>
          </p:cNvPr>
          <p:cNvSpPr>
            <a:spLocks xmlns:a="http://schemas.openxmlformats.org/drawingml/2006/main" noGrp="1"/>
          </p:cNvSpPr>
          <p:nvPr/>
        </p:nvSpPr>
        <p:spPr>
          <a:xfrm xmlns:a="http://schemas.openxmlformats.org/drawingml/2006/main">
            <a:off x="548640" y="1965960"/>
            <a:ext cx="257175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292524"/>
                </a:solidFill>
                <a:latin typeface="Calibri"/>
                <a:ea typeface="Calibri"/>
                <a:cs typeface="Calibri"/>
              </a:rPr>
              <a:t>Control</a:t>
            </a:r>
            <a:endParaRPr sz="1350"/>
          </a:p>
        </p:txBody>
      </p:sp>
      <p:sp>
        <p:nvSpPr>
          <p:cNvPr id="8" name="Shape 5">
            <a:extLst xmlns:a="http://schemas.openxmlformats.org/drawingml/2006/main">
              <a:ext uri="{FF2B5EF4-FFF2-40B4-BE49-F238E27FC236}">
                <a16:creationId xmlns:a16="http://schemas.microsoft.com/office/drawing/2014/main" id="{080A30C3-DACD-4B68-A914-26BE0BBB6569}"/>
              </a:ext>
            </a:extLst>
          </p:cNvPr>
          <p:cNvSpPr>
            <a:spLocks xmlns:a="http://schemas.openxmlformats.org/drawingml/2006/main" noGrp="1"/>
          </p:cNvSpPr>
          <p:nvPr/>
        </p:nvSpPr>
        <p:spPr>
          <a:xfrm xmlns:a="http://schemas.openxmlformats.org/drawingml/2006/main">
            <a:off x="548640" y="2331720"/>
            <a:ext cx="2571750" cy="0"/>
          </a:xfrm>
          <a:prstGeom xmlns:a="http://schemas.openxmlformats.org/drawingml/2006/main" prst="line">
            <a:avLst/>
          </a:prstGeom>
          <a:noFill xmlns:a="http://schemas.openxmlformats.org/drawingml/2006/main"/>
          <a:ln xmlns:a="http://schemas.openxmlformats.org/drawingml/2006/main" w="15875">
            <a:solidFill>
              <a:srgbClr val="29252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00AF4AF1-79A4-4042-BF05-B864A55599D2}"/>
              </a:ext>
            </a:extLst>
          </p:cNvPr>
          <p:cNvSpPr>
            <a:spLocks xmlns:a="http://schemas.openxmlformats.org/drawingml/2006/main" noGrp="1"/>
          </p:cNvSpPr>
          <p:nvPr/>
        </p:nvSpPr>
        <p:spPr>
          <a:xfrm xmlns:a="http://schemas.openxmlformats.org/drawingml/2006/main">
            <a:off x="548640" y="2468880"/>
            <a:ext cx="257175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Publish the top-50 loss-pocket file</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Assign the top 20 to named owners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Install promotion P&amp;L approval</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Gate: reconciled baseline; zero unapproved deep promotions</a:t>
            </a:r>
          </a:p>
        </p:txBody>
      </p:sp>
      <p:sp>
        <p:nvSpPr>
          <p:cNvPr id="10" name="Text 7">
            <a:extLst xmlns:a="http://schemas.openxmlformats.org/drawingml/2006/main">
              <a:ext uri="{FF2B5EF4-FFF2-40B4-BE49-F238E27FC236}">
                <a16:creationId xmlns:a16="http://schemas.microsoft.com/office/drawing/2014/main" id="{80C1790F-1578-41BA-A031-3B2C175DC5A1}"/>
              </a:ext>
            </a:extLst>
          </p:cNvPr>
          <p:cNvSpPr>
            <a:spLocks xmlns:a="http://schemas.openxmlformats.org/drawingml/2006/main" noGrp="1"/>
          </p:cNvSpPr>
          <p:nvPr/>
        </p:nvSpPr>
        <p:spPr>
          <a:xfrm xmlns:a="http://schemas.openxmlformats.org/drawingml/2006/main">
            <a:off x="3329940" y="1691640"/>
            <a:ext cx="257175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EA580C"/>
                </a:solidFill>
                <a:latin typeface="Calibri"/>
                <a:ea typeface="Calibri"/>
                <a:cs typeface="Calibri"/>
              </a:rPr>
              <a:t>31–60 DAYS</a:t>
            </a:r>
            <a:endParaRPr sz="1300"/>
          </a:p>
        </p:txBody>
      </p:sp>
      <p:sp>
        <p:nvSpPr>
          <p:cNvPr id="11" name="Text 8">
            <a:extLst xmlns:a="http://schemas.openxmlformats.org/drawingml/2006/main">
              <a:ext uri="{FF2B5EF4-FFF2-40B4-BE49-F238E27FC236}">
                <a16:creationId xmlns:a16="http://schemas.microsoft.com/office/drawing/2014/main" id="{F3693BA3-0225-4450-AC1F-6320FD16D753}"/>
              </a:ext>
            </a:extLst>
          </p:cNvPr>
          <p:cNvSpPr>
            <a:spLocks xmlns:a="http://schemas.openxmlformats.org/drawingml/2006/main" noGrp="1"/>
          </p:cNvSpPr>
          <p:nvPr/>
        </p:nvSpPr>
        <p:spPr>
          <a:xfrm xmlns:a="http://schemas.openxmlformats.org/drawingml/2006/main">
            <a:off x="3329940" y="1965960"/>
            <a:ext cx="257175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292524"/>
                </a:solidFill>
                <a:latin typeface="Calibri"/>
                <a:ea typeface="Calibri"/>
                <a:cs typeface="Calibri"/>
              </a:rPr>
              <a:t>Pilot</a:t>
            </a:r>
            <a:endParaRPr sz="1350"/>
          </a:p>
        </p:txBody>
      </p:sp>
      <p:sp>
        <p:nvSpPr>
          <p:cNvPr id="12" name="Shape 9">
            <a:extLst xmlns:a="http://schemas.openxmlformats.org/drawingml/2006/main">
              <a:ext uri="{FF2B5EF4-FFF2-40B4-BE49-F238E27FC236}">
                <a16:creationId xmlns:a16="http://schemas.microsoft.com/office/drawing/2014/main" id="{49AC8F8D-E14F-4DF7-B011-7C6328B7520C}"/>
              </a:ext>
            </a:extLst>
          </p:cNvPr>
          <p:cNvSpPr>
            <a:spLocks xmlns:a="http://schemas.openxmlformats.org/drawingml/2006/main" noGrp="1"/>
          </p:cNvSpPr>
          <p:nvPr/>
        </p:nvSpPr>
        <p:spPr>
          <a:xfrm xmlns:a="http://schemas.openxmlformats.org/drawingml/2006/main">
            <a:off x="3329940" y="2331720"/>
            <a:ext cx="2571750" cy="0"/>
          </a:xfrm>
          <a:prstGeom xmlns:a="http://schemas.openxmlformats.org/drawingml/2006/main" prst="line">
            <a:avLst/>
          </a:prstGeom>
          <a:noFill xmlns:a="http://schemas.openxmlformats.org/drawingml/2006/main"/>
          <a:ln xmlns:a="http://schemas.openxmlformats.org/drawingml/2006/main" w="15875">
            <a:solidFill>
              <a:srgbClr val="29252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529A0056-EF19-464F-8DC9-2FC1482D804E}"/>
              </a:ext>
            </a:extLst>
          </p:cNvPr>
          <p:cNvSpPr>
            <a:spLocks xmlns:a="http://schemas.openxmlformats.org/drawingml/2006/main" noGrp="1"/>
          </p:cNvSpPr>
          <p:nvPr/>
        </p:nvSpPr>
        <p:spPr>
          <a:xfrm xmlns:a="http://schemas.openxmlformats.org/drawingml/2006/main">
            <a:off x="3329940" y="2468880"/>
            <a:ext cx="257175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Run West Home Goods retention test</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Run Southeast offer-depth test</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Correct five loss pockets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Gate: positive contribution; ≥50% ROI; traffic loss &lt;3%</a:t>
            </a:r>
          </a:p>
        </p:txBody>
      </p:sp>
      <p:sp>
        <p:nvSpPr>
          <p:cNvPr id="14" name="Text 11">
            <a:extLst xmlns:a="http://schemas.openxmlformats.org/drawingml/2006/main">
              <a:ext uri="{FF2B5EF4-FFF2-40B4-BE49-F238E27FC236}">
                <a16:creationId xmlns:a16="http://schemas.microsoft.com/office/drawing/2014/main" id="{425566BB-B69E-4D7A-8B63-1CF3BC00E671}"/>
              </a:ext>
            </a:extLst>
          </p:cNvPr>
          <p:cNvSpPr>
            <a:spLocks xmlns:a="http://schemas.openxmlformats.org/drawingml/2006/main" noGrp="1"/>
          </p:cNvSpPr>
          <p:nvPr/>
        </p:nvSpPr>
        <p:spPr>
          <a:xfrm xmlns:a="http://schemas.openxmlformats.org/drawingml/2006/main">
            <a:off x="6111240" y="1691640"/>
            <a:ext cx="257175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EA580C"/>
                </a:solidFill>
                <a:latin typeface="Calibri"/>
                <a:ea typeface="Calibri"/>
                <a:cs typeface="Calibri"/>
              </a:rPr>
              <a:t>61–120 DAYS</a:t>
            </a:r>
            <a:endParaRPr sz="1300"/>
          </a:p>
        </p:txBody>
      </p:sp>
      <p:sp>
        <p:nvSpPr>
          <p:cNvPr id="15" name="Text 12">
            <a:extLst xmlns:a="http://schemas.openxmlformats.org/drawingml/2006/main">
              <a:ext uri="{FF2B5EF4-FFF2-40B4-BE49-F238E27FC236}">
                <a16:creationId xmlns:a16="http://schemas.microsoft.com/office/drawing/2014/main" id="{B604990F-6913-456C-A720-CBF1DFB9307C}"/>
              </a:ext>
            </a:extLst>
          </p:cNvPr>
          <p:cNvSpPr>
            <a:spLocks xmlns:a="http://schemas.openxmlformats.org/drawingml/2006/main" noGrp="1"/>
          </p:cNvSpPr>
          <p:nvPr/>
        </p:nvSpPr>
        <p:spPr>
          <a:xfrm xmlns:a="http://schemas.openxmlformats.org/drawingml/2006/main">
            <a:off x="6111240" y="1965960"/>
            <a:ext cx="257175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b="1">
                <a:solidFill>
                  <a:srgbClr val="292524"/>
                </a:solidFill>
                <a:latin typeface="Calibri"/>
                <a:ea typeface="Calibri"/>
                <a:cs typeface="Calibri"/>
              </a:rPr>
              <a:t>Prove</a:t>
            </a:r>
            <a:endParaRPr sz="1350"/>
          </a:p>
        </p:txBody>
      </p:sp>
      <p:sp>
        <p:nvSpPr>
          <p:cNvPr id="16" name="Shape 13">
            <a:extLst xmlns:a="http://schemas.openxmlformats.org/drawingml/2006/main">
              <a:ext uri="{FF2B5EF4-FFF2-40B4-BE49-F238E27FC236}">
                <a16:creationId xmlns:a16="http://schemas.microsoft.com/office/drawing/2014/main" id="{0A560CAB-0388-4FF5-99D8-A74F02ACA5C4}"/>
              </a:ext>
            </a:extLst>
          </p:cNvPr>
          <p:cNvSpPr>
            <a:spLocks xmlns:a="http://schemas.openxmlformats.org/drawingml/2006/main" noGrp="1"/>
          </p:cNvSpPr>
          <p:nvPr/>
        </p:nvSpPr>
        <p:spPr>
          <a:xfrm xmlns:a="http://schemas.openxmlformats.org/drawingml/2006/main">
            <a:off x="6111240" y="2331720"/>
            <a:ext cx="2571750" cy="0"/>
          </a:xfrm>
          <a:prstGeom xmlns:a="http://schemas.openxmlformats.org/drawingml/2006/main" prst="line">
            <a:avLst/>
          </a:prstGeom>
          <a:noFill xmlns:a="http://schemas.openxmlformats.org/drawingml/2006/main"/>
          <a:ln xmlns:a="http://schemas.openxmlformats.org/drawingml/2006/main" w="15875">
            <a:solidFill>
              <a:srgbClr val="29252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EFDF37B-C3FD-4D97-A208-F719ECCF0D96}"/>
              </a:ext>
            </a:extLst>
          </p:cNvPr>
          <p:cNvSpPr>
            <a:spLocks xmlns:a="http://schemas.openxmlformats.org/drawingml/2006/main" noGrp="1"/>
          </p:cNvSpPr>
          <p:nvPr/>
        </p:nvSpPr>
        <p:spPr>
          <a:xfrm xmlns:a="http://schemas.openxmlformats.org/drawingml/2006/main">
            <a:off x="6111240" y="2468880"/>
            <a:ext cx="257175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Measure retained CLV at 30, 60, and 90 days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Control 20 loss pockets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Reallocate budget and automate rules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Gate: two positive interventions; &gt;$9M run-rate</a:t>
            </a:r>
          </a:p>
        </p:txBody>
      </p:sp>
      <p:sp>
        <p:nvSpPr>
          <p:cNvPr id="18" name="Shape 15">
            <a:extLst xmlns:a="http://schemas.openxmlformats.org/drawingml/2006/main">
              <a:ext uri="{FF2B5EF4-FFF2-40B4-BE49-F238E27FC236}">
                <a16:creationId xmlns:a16="http://schemas.microsoft.com/office/drawing/2014/main" id="{774AA4E9-E763-4971-ADF2-89C5E5273755}"/>
              </a:ext>
            </a:extLst>
          </p:cNvPr>
          <p:cNvSpPr>
            <a:spLocks xmlns:a="http://schemas.openxmlformats.org/drawingml/2006/main" noGrp="1"/>
          </p:cNvSpPr>
          <p:nvPr/>
        </p:nvSpPr>
        <p:spPr>
          <a:xfrm xmlns:a="http://schemas.openxmlformats.org/drawingml/2006/main">
            <a:off x="548640" y="4343400"/>
            <a:ext cx="11094415"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69BEF486-4E19-446C-8E93-57B175655694}"/>
              </a:ext>
            </a:extLst>
          </p:cNvPr>
          <p:cNvSpPr>
            <a:spLocks xmlns:a="http://schemas.openxmlformats.org/drawingml/2006/main" noGrp="1"/>
          </p:cNvSpPr>
          <p:nvPr/>
        </p:nvSpPr>
        <p:spPr>
          <a:xfrm xmlns:a="http://schemas.openxmlformats.org/drawingml/2006/main">
            <a:off x="548640" y="4480560"/>
            <a:ext cx="35753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C2410C"/>
                </a:solidFill>
                <a:latin typeface="Calibri"/>
                <a:ea typeface="Calibri"/>
                <a:cs typeface="Calibri"/>
              </a:rPr>
              <a:t>Resources and ownership</a:t>
            </a:r>
            <a:endParaRPr sz="1250"/>
          </a:p>
        </p:txBody>
      </p:sp>
      <p:sp>
        <p:nvSpPr>
          <p:cNvPr id="20" name="Text 17">
            <a:extLst xmlns:a="http://schemas.openxmlformats.org/drawingml/2006/main">
              <a:ext uri="{FF2B5EF4-FFF2-40B4-BE49-F238E27FC236}">
                <a16:creationId xmlns:a16="http://schemas.microsoft.com/office/drawing/2014/main" id="{CDA1D6EB-03E3-4A81-B036-158753E026E3}"/>
              </a:ext>
            </a:extLst>
          </p:cNvPr>
          <p:cNvSpPr>
            <a:spLocks xmlns:a="http://schemas.openxmlformats.org/drawingml/2006/main" noGrp="1"/>
          </p:cNvSpPr>
          <p:nvPr/>
        </p:nvSpPr>
        <p:spPr>
          <a:xfrm xmlns:a="http://schemas.openxmlformats.org/drawingml/2006/main">
            <a:off x="548640" y="4773168"/>
            <a:ext cx="357530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$6.0M base-case Q1–Q2 implementation cost</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One executive value owner across pricing, CRM, merchandising, and FP&amp;A</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Q3 supply-chain funding follows Finance baseline reconciliation</a:t>
            </a:r>
          </a:p>
        </p:txBody>
      </p:sp>
      <p:sp>
        <p:nvSpPr>
          <p:cNvPr id="21" name="Text 18">
            <a:extLst xmlns:a="http://schemas.openxmlformats.org/drawingml/2006/main">
              <a:ext uri="{FF2B5EF4-FFF2-40B4-BE49-F238E27FC236}">
                <a16:creationId xmlns:a16="http://schemas.microsoft.com/office/drawing/2014/main" id="{D759609C-B5A8-4DCB-8FB0-ECC1C70E4E4D}"/>
              </a:ext>
            </a:extLst>
          </p:cNvPr>
          <p:cNvSpPr>
            <a:spLocks xmlns:a="http://schemas.openxmlformats.org/drawingml/2006/main" noGrp="1"/>
          </p:cNvSpPr>
          <p:nvPr/>
        </p:nvSpPr>
        <p:spPr>
          <a:xfrm xmlns:a="http://schemas.openxmlformats.org/drawingml/2006/main">
            <a:off x="4315968" y="4480560"/>
            <a:ext cx="35753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C2410C"/>
                </a:solidFill>
                <a:latin typeface="Calibri"/>
                <a:ea typeface="Calibri"/>
                <a:cs typeface="Calibri"/>
              </a:rPr>
              <a:t>Decision rules</a:t>
            </a:r>
            <a:endParaRPr sz="1250"/>
          </a:p>
        </p:txBody>
      </p:sp>
      <p:sp>
        <p:nvSpPr>
          <p:cNvPr id="22" name="Text 19">
            <a:extLst xmlns:a="http://schemas.openxmlformats.org/drawingml/2006/main">
              <a:ext uri="{FF2B5EF4-FFF2-40B4-BE49-F238E27FC236}">
                <a16:creationId xmlns:a16="http://schemas.microsoft.com/office/drawing/2014/main" id="{E3B3B670-2415-4758-9F03-C7295E54CB5F}"/>
              </a:ext>
            </a:extLst>
          </p:cNvPr>
          <p:cNvSpPr>
            <a:spLocks xmlns:a="http://schemas.openxmlformats.org/drawingml/2006/main" noGrp="1"/>
          </p:cNvSpPr>
          <p:nvPr/>
        </p:nvSpPr>
        <p:spPr>
          <a:xfrm xmlns:a="http://schemas.openxmlformats.org/drawingml/2006/main">
            <a:off x="4315968" y="4773168"/>
            <a:ext cx="357530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Minimum 5% margin and 50% campaign ROI</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No more than 3% traffic decline</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Stop negative contribution after two reads; redesign below-threshold tests</a:t>
            </a:r>
          </a:p>
        </p:txBody>
      </p:sp>
      <p:sp>
        <p:nvSpPr>
          <p:cNvPr id="23" name="Text 20">
            <a:extLst xmlns:a="http://schemas.openxmlformats.org/drawingml/2006/main">
              <a:ext uri="{FF2B5EF4-FFF2-40B4-BE49-F238E27FC236}">
                <a16:creationId xmlns:a16="http://schemas.microsoft.com/office/drawing/2014/main" id="{98B3470E-654D-4755-9011-55A4D66C4CD6}"/>
              </a:ext>
            </a:extLst>
          </p:cNvPr>
          <p:cNvSpPr>
            <a:spLocks xmlns:a="http://schemas.openxmlformats.org/drawingml/2006/main" noGrp="1"/>
          </p:cNvSpPr>
          <p:nvPr/>
        </p:nvSpPr>
        <p:spPr>
          <a:xfrm xmlns:a="http://schemas.openxmlformats.org/drawingml/2006/main">
            <a:off x="8083296" y="4480560"/>
            <a:ext cx="35753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C2410C"/>
                </a:solidFill>
                <a:latin typeface="Calibri"/>
                <a:ea typeface="Calibri"/>
                <a:cs typeface="Calibri"/>
              </a:rPr>
              <a:t>Day-180 success measures</a:t>
            </a:r>
            <a:endParaRPr sz="1250"/>
          </a:p>
        </p:txBody>
      </p:sp>
      <p:sp>
        <p:nvSpPr>
          <p:cNvPr id="24" name="Text 21">
            <a:extLst xmlns:a="http://schemas.openxmlformats.org/drawingml/2006/main">
              <a:ext uri="{FF2B5EF4-FFF2-40B4-BE49-F238E27FC236}">
                <a16:creationId xmlns:a16="http://schemas.microsoft.com/office/drawing/2014/main" id="{720E29C7-01A1-4171-A1C7-8C3D7C83CA0A}"/>
              </a:ext>
            </a:extLst>
          </p:cNvPr>
          <p:cNvSpPr>
            <a:spLocks xmlns:a="http://schemas.openxmlformats.org/drawingml/2006/main" noGrp="1"/>
          </p:cNvSpPr>
          <p:nvPr/>
        </p:nvSpPr>
        <p:spPr>
          <a:xfrm xmlns:a="http://schemas.openxmlformats.org/drawingml/2006/main">
            <a:off x="8083296" y="4773168"/>
            <a:ext cx="357530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+$12.0M net annual profit in the verified base case</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Projected margin reaches 13.0% at constant revenue</a:t>
            </a:r>
          </a:p>
          <a:p xmlns:a="http://schemas.openxmlformats.org/drawingml/2006/main">
            <a:pPr marL="152400" indent="-76200">
              <a:spcAft>
                <a:spcPts val="500"/>
              </a:spcAft>
              <a:buChar char="•"/>
              <a:defRPr sz="1313">
                <a:solidFill>
                  <a:srgbClr val="292524"/>
                </a:solidFill>
                <a:latin typeface="Calibri"/>
                <a:ea typeface="Calibri"/>
                <a:cs typeface="Calibri"/>
              </a:defRPr>
            </a:pPr>
            <a:r>
              <a:rPr sz="1313">
                <a:solidFill>
                  <a:srgbClr val="292524"/>
                </a:solidFill>
                <a:latin typeface="Calibri"/>
                <a:ea typeface="Calibri"/>
                <a:cs typeface="Calibri"/>
              </a:rPr>
              <a:t>Campaign exceptions remain below 5%</a:t>
            </a:r>
          </a:p>
        </p:txBody>
      </p:sp>
      <p:sp>
        <p:nvSpPr>
          <p:cNvPr id="25" name="Slide Number Placeholder 0">
            <a:extLst xmlns:a="http://schemas.openxmlformats.org/drawingml/2006/main">
              <a:ext uri="{FF2B5EF4-FFF2-40B4-BE49-F238E27FC236}">
                <a16:creationId xmlns:a16="http://schemas.microsoft.com/office/drawing/2014/main" id="{41DA285C-16B0-456E-9DD4-651197B4C553}"/>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15</a:t>
            </a:fld>
            <a:endParaRPr/>
          </a:p>
        </p:txBody>
      </p:sp>
      <p:sp>
        <p:nvSpPr>
          <p:cNvPr id="26" name="Phase 4 header">
            <a:extLst xmlns:a="http://schemas.openxmlformats.org/drawingml/2006/main">
              <a:ext uri="{FF2B5EF4-FFF2-40B4-BE49-F238E27FC236}">
                <a16:creationId xmlns:a16="http://schemas.microsoft.com/office/drawing/2014/main" id="{30C06C80-0738-4C87-8251-3D6F73E7205E}"/>
              </a:ext>
            </a:extLst>
          </p:cNvPr>
          <p:cNvSpPr>
            <a:spLocks xmlns:a="http://schemas.openxmlformats.org/drawingml/2006/main" noGrp="1"/>
          </p:cNvSpPr>
          <p:nvPr/>
        </p:nvSpPr>
        <p:spPr>
          <a:xfrm xmlns:a="http://schemas.openxmlformats.org/drawingml/2006/main">
            <a:off x="8892540" y="1691640"/>
            <a:ext cx="2571750"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75" b="1">
                <a:solidFill>
                  <a:srgbClr val="EA580C"/>
                </a:solidFill>
                <a:latin typeface="Calibri"/>
                <a:ea typeface="Calibri"/>
                <a:cs typeface="Calibri"/>
              </a:defRPr>
            </a:pPr>
            <a:r>
              <a:rPr sz="1575" b="1">
                <a:solidFill>
                  <a:srgbClr val="EA580C"/>
                </a:solidFill>
                <a:latin typeface="Calibri"/>
                <a:ea typeface="Calibri"/>
                <a:cs typeface="Calibri"/>
              </a:rPr>
              <a:t>121–180 DAYS</a:t>
            </a:r>
          </a:p>
        </p:txBody>
      </p:sp>
      <p:sp>
        <p:nvSpPr>
          <p:cNvPr id="27" name="Phase 4 title">
            <a:extLst xmlns:a="http://schemas.openxmlformats.org/drawingml/2006/main">
              <a:ext uri="{FF2B5EF4-FFF2-40B4-BE49-F238E27FC236}">
                <a16:creationId xmlns:a16="http://schemas.microsoft.com/office/drawing/2014/main" id="{B77947F9-86EE-4A19-8F3B-F3CEA1BCD481}"/>
              </a:ext>
            </a:extLst>
          </p:cNvPr>
          <p:cNvSpPr>
            <a:spLocks xmlns:a="http://schemas.openxmlformats.org/drawingml/2006/main" noGrp="1"/>
          </p:cNvSpPr>
          <p:nvPr/>
        </p:nvSpPr>
        <p:spPr>
          <a:xfrm xmlns:a="http://schemas.openxmlformats.org/drawingml/2006/main">
            <a:off x="8892540" y="1965960"/>
            <a:ext cx="2571750" cy="274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292524"/>
                </a:solidFill>
                <a:latin typeface="Calibri"/>
                <a:ea typeface="Calibri"/>
                <a:cs typeface="Calibri"/>
              </a:defRPr>
            </a:pPr>
            <a:r>
              <a:rPr sz="1500" b="1">
                <a:solidFill>
                  <a:srgbClr val="292524"/>
                </a:solidFill>
                <a:latin typeface="Calibri"/>
                <a:ea typeface="Calibri"/>
                <a:cs typeface="Calibri"/>
              </a:rPr>
              <a:t>Scale</a:t>
            </a:r>
          </a:p>
        </p:txBody>
      </p:sp>
      <p:sp>
        <p:nvSpPr>
          <p:cNvPr id="28" name="Phase 4 divider">
            <a:extLst xmlns:a="http://schemas.openxmlformats.org/drawingml/2006/main">
              <a:ext uri="{FF2B5EF4-FFF2-40B4-BE49-F238E27FC236}">
                <a16:creationId xmlns:a16="http://schemas.microsoft.com/office/drawing/2014/main" id="{C3217062-1432-4E5F-8659-2070F2C271B9}"/>
              </a:ext>
            </a:extLst>
          </p:cNvPr>
          <p:cNvSpPr>
            <a:spLocks xmlns:a="http://schemas.openxmlformats.org/drawingml/2006/main" noGrp="1"/>
          </p:cNvSpPr>
          <p:nvPr/>
        </p:nvSpPr>
        <p:spPr>
          <a:xfrm xmlns:a="http://schemas.openxmlformats.org/drawingml/2006/main">
            <a:off x="8892540" y="2331720"/>
            <a:ext cx="2571750" cy="0"/>
          </a:xfrm>
          <a:prstGeom xmlns:a="http://schemas.openxmlformats.org/drawingml/2006/main" prst="line">
            <a:avLst/>
          </a:prstGeom>
          <a:noFill xmlns:a="http://schemas.openxmlformats.org/drawingml/2006/main"/>
          <a:ln xmlns:a="http://schemas.openxmlformats.org/drawingml/2006/main" w="14288">
            <a:solidFill>
              <a:srgbClr val="292524"/>
            </a:solidFill>
            <a:prstDash val="solid"/>
          </a:ln>
        </p:spPr>
      </p:sp>
      <p:sp>
        <p:nvSpPr>
          <p:cNvPr id="29" name="Phase 4 actions">
            <a:extLst xmlns:a="http://schemas.openxmlformats.org/drawingml/2006/main">
              <a:ext uri="{FF2B5EF4-FFF2-40B4-BE49-F238E27FC236}">
                <a16:creationId xmlns:a16="http://schemas.microsoft.com/office/drawing/2014/main" id="{CA4A8C84-6122-44E0-87B8-5DC41F405C43}"/>
              </a:ext>
            </a:extLst>
          </p:cNvPr>
          <p:cNvSpPr>
            <a:spLocks xmlns:a="http://schemas.openxmlformats.org/drawingml/2006/main" noGrp="1"/>
          </p:cNvSpPr>
          <p:nvPr/>
        </p:nvSpPr>
        <p:spPr>
          <a:xfrm xmlns:a="http://schemas.openxmlformats.org/drawingml/2006/main">
            <a:off x="8892540" y="2468880"/>
            <a:ext cx="2571750" cy="1737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Roll winning rules across regions</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Link incentives to incremental profit</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Prepare the Q3 supply-chain and logistics handoff</a:t>
            </a:r>
          </a:p>
          <a:p xmlns:a="http://schemas.openxmlformats.org/drawingml/2006/main">
            <a:pPr marL="152400" indent="-76200">
              <a:spcAft>
                <a:spcPts val="300"/>
              </a:spcAft>
              <a:buChar char="•"/>
              <a:defRPr sz="1163">
                <a:solidFill>
                  <a:srgbClr val="292524"/>
                </a:solidFill>
                <a:latin typeface="Calibri"/>
                <a:ea typeface="Calibri"/>
                <a:cs typeface="Calibri"/>
              </a:defRPr>
            </a:pPr>
            <a:r>
              <a:rPr sz="1163">
                <a:solidFill>
                  <a:srgbClr val="292524"/>
                </a:solidFill>
                <a:latin typeface="Calibri"/>
                <a:ea typeface="Calibri"/>
                <a:cs typeface="Calibri"/>
              </a:rPr>
              <a:t>Gate: +$12M verified; exceptions below 5%</a:t>
            </a:r>
          </a:p>
        </p:txBody>
      </p:sp>
    </p:spTree>
    <p:extLst>
      <p:ext uri="{BB962C8B-B14F-4D97-AF65-F5344CB8AC3E}">
        <p14:creationId xmlns:p14="http://schemas.microsoft.com/office/powerpoint/2010/main" val="1891840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73FFD7-5CB6-4A05-80A9-62A8A28DF897}"/>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Q3 follow-on</a:t>
            </a:r>
            <a:endParaRPr sz="1100"/>
          </a:p>
        </p:txBody>
      </p:sp>
      <p:sp>
        <p:nvSpPr>
          <p:cNvPr id="3" name="Text 1">
            <a:extLst xmlns:a="http://schemas.openxmlformats.org/drawingml/2006/main">
              <a:ext uri="{FF2B5EF4-FFF2-40B4-BE49-F238E27FC236}">
                <a16:creationId xmlns:a16="http://schemas.microsoft.com/office/drawing/2014/main" id="{6795E140-AECA-476A-BCF5-F9126C7DBBD3}"/>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Supply chain and logistics enter the plan in Q3 after Finance reconciles the cost baseline</a:t>
            </a:r>
            <a:endParaRPr sz="2500"/>
          </a:p>
        </p:txBody>
      </p:sp>
      <p:sp>
        <p:nvSpPr>
          <p:cNvPr id="4" name="Text 2">
            <a:extLst xmlns:a="http://schemas.openxmlformats.org/drawingml/2006/main">
              <a:ext uri="{FF2B5EF4-FFF2-40B4-BE49-F238E27FC236}">
                <a16:creationId xmlns:a16="http://schemas.microsoft.com/office/drawing/2014/main" id="{3361E100-D81E-41BD-9372-7EB0923115AB}"/>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Supply Chain &amp; Inventory Dataset (12,000 records) and Retail Profitability Dataset. High risk = score of 55 or more.</a:t>
            </a:r>
            <a:endParaRPr sz="900"/>
          </a:p>
        </p:txBody>
      </p:sp>
      <p:sp>
        <p:nvSpPr>
          <p:cNvPr id="6" name="Text 3">
            <a:extLst xmlns:a="http://schemas.openxmlformats.org/drawingml/2006/main">
              <a:ext uri="{FF2B5EF4-FFF2-40B4-BE49-F238E27FC236}">
                <a16:creationId xmlns:a16="http://schemas.microsoft.com/office/drawing/2014/main" id="{FE4002B3-914C-4CC2-AD98-9B09E27BB04F}"/>
              </a:ext>
            </a:extLst>
          </p:cNvPr>
          <p:cNvSpPr>
            <a:spLocks xmlns:a="http://schemas.openxmlformats.org/drawingml/2006/main" noGrp="1"/>
          </p:cNvSpPr>
          <p:nvPr/>
        </p:nvSpPr>
        <p:spPr>
          <a:xfrm xmlns:a="http://schemas.openxmlformats.org/drawingml/2006/main">
            <a:off x="548640" y="169164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Risk score by lead time (days)</a:t>
            </a:r>
            <a:endParaRPr sz="1300"/>
          </a:p>
        </p:txBody>
      </p:sp>
      <p:sp>
        <p:nvSpPr>
          <p:cNvPr id="7" name="Text 4">
            <a:extLst xmlns:a="http://schemas.openxmlformats.org/drawingml/2006/main">
              <a:ext uri="{FF2B5EF4-FFF2-40B4-BE49-F238E27FC236}">
                <a16:creationId xmlns:a16="http://schemas.microsoft.com/office/drawing/2014/main" id="{39A41C51-FD5A-4E05-A4A6-80596307D14C}"/>
              </a:ext>
            </a:extLst>
          </p:cNvPr>
          <p:cNvSpPr>
            <a:spLocks xmlns:a="http://schemas.openxmlformats.org/drawingml/2006/main" noGrp="1"/>
          </p:cNvSpPr>
          <p:nvPr/>
        </p:nvSpPr>
        <p:spPr>
          <a:xfrm xmlns:a="http://schemas.openxmlformats.org/drawingml/2006/main">
            <a:off x="548640" y="1929384"/>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About 7 points for every 15 extra days</a:t>
            </a:r>
            <a:endParaRPr sz="1050"/>
          </a:p>
        </p:txBody>
      </p:sp>
      <p:sp>
        <p:nvSpPr>
          <p:cNvPr id="9" name="Text 5">
            <a:extLst xmlns:a="http://schemas.openxmlformats.org/drawingml/2006/main">
              <a:ext uri="{FF2B5EF4-FFF2-40B4-BE49-F238E27FC236}">
                <a16:creationId xmlns:a16="http://schemas.microsoft.com/office/drawing/2014/main" id="{CD6EE567-00A0-4B60-AC4D-95A2A4D152CA}"/>
              </a:ext>
            </a:extLst>
          </p:cNvPr>
          <p:cNvSpPr>
            <a:spLocks xmlns:a="http://schemas.openxmlformats.org/drawingml/2006/main" noGrp="1"/>
          </p:cNvSpPr>
          <p:nvPr/>
        </p:nvSpPr>
        <p:spPr>
          <a:xfrm xmlns:a="http://schemas.openxmlformats.org/drawingml/2006/main">
            <a:off x="4434840" y="1691640"/>
            <a:ext cx="3840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C1917"/>
                </a:solidFill>
                <a:latin typeface="Calibri"/>
                <a:ea typeface="Calibri"/>
                <a:cs typeface="Calibri"/>
              </a:rPr>
              <a:t>Holding cost per record, by inventory turnover</a:t>
            </a:r>
            <a:endParaRPr sz="1300"/>
          </a:p>
        </p:txBody>
      </p:sp>
      <p:sp>
        <p:nvSpPr>
          <p:cNvPr id="10" name="Text 6">
            <a:extLst xmlns:a="http://schemas.openxmlformats.org/drawingml/2006/main">
              <a:ext uri="{FF2B5EF4-FFF2-40B4-BE49-F238E27FC236}">
                <a16:creationId xmlns:a16="http://schemas.microsoft.com/office/drawing/2014/main" id="{64FE30DF-CF7B-4539-8C8E-FDF69091B3BD}"/>
              </a:ext>
            </a:extLst>
          </p:cNvPr>
          <p:cNvSpPr>
            <a:spLocks xmlns:a="http://schemas.openxmlformats.org/drawingml/2006/main" noGrp="1"/>
          </p:cNvSpPr>
          <p:nvPr/>
        </p:nvSpPr>
        <p:spPr>
          <a:xfrm xmlns:a="http://schemas.openxmlformats.org/drawingml/2006/main">
            <a:off x="4434840" y="1929384"/>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7534E"/>
                </a:solidFill>
                <a:latin typeface="Calibri"/>
                <a:ea typeface="Calibri"/>
                <a:cs typeface="Calibri"/>
              </a:rPr>
              <a:t>Fast and slow stock cost the same to hold</a:t>
            </a:r>
            <a:endParaRPr sz="1050"/>
          </a:p>
        </p:txBody>
      </p:sp>
      <p:sp>
        <p:nvSpPr>
          <p:cNvPr id="12" name="Shape 7">
            <a:extLst xmlns:a="http://schemas.openxmlformats.org/drawingml/2006/main">
              <a:ext uri="{FF2B5EF4-FFF2-40B4-BE49-F238E27FC236}">
                <a16:creationId xmlns:a16="http://schemas.microsoft.com/office/drawing/2014/main" id="{C604B46A-99F7-405D-B1EC-651F19ADE5DC}"/>
              </a:ext>
            </a:extLst>
          </p:cNvPr>
          <p:cNvSpPr>
            <a:spLocks xmlns:a="http://schemas.openxmlformats.org/drawingml/2006/main" noGrp="1"/>
          </p:cNvSpPr>
          <p:nvPr/>
        </p:nvSpPr>
        <p:spPr>
          <a:xfrm xmlns:a="http://schemas.openxmlformats.org/drawingml/2006/main">
            <a:off x="8549640" y="1737360"/>
            <a:ext cx="0" cy="448056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8">
            <a:extLst xmlns:a="http://schemas.openxmlformats.org/drawingml/2006/main">
              <a:ext uri="{FF2B5EF4-FFF2-40B4-BE49-F238E27FC236}">
                <a16:creationId xmlns:a16="http://schemas.microsoft.com/office/drawing/2014/main" id="{A13D7B09-11DC-41E6-AA3F-723C69C58877}"/>
              </a:ext>
            </a:extLst>
          </p:cNvPr>
          <p:cNvSpPr>
            <a:spLocks xmlns:a="http://schemas.openxmlformats.org/drawingml/2006/main" noGrp="1"/>
          </p:cNvSpPr>
          <p:nvPr/>
        </p:nvSpPr>
        <p:spPr>
          <a:xfrm xmlns:a="http://schemas.openxmlformats.org/drawingml/2006/main">
            <a:off x="8778240" y="173736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A580C"/>
                </a:solidFill>
                <a:latin typeface="Calibri"/>
                <a:ea typeface="Calibri"/>
                <a:cs typeface="Calibri"/>
              </a:rPr>
              <a:t>$449.7M</a:t>
            </a:r>
            <a:endParaRPr sz="2200"/>
          </a:p>
        </p:txBody>
      </p:sp>
      <p:sp>
        <p:nvSpPr>
          <p:cNvPr id="14" name="Text 9">
            <a:extLst xmlns:a="http://schemas.openxmlformats.org/drawingml/2006/main">
              <a:ext uri="{FF2B5EF4-FFF2-40B4-BE49-F238E27FC236}">
                <a16:creationId xmlns:a16="http://schemas.microsoft.com/office/drawing/2014/main" id="{02070B6C-D40B-44AF-A2F3-60189AF9342D}"/>
              </a:ext>
            </a:extLst>
          </p:cNvPr>
          <p:cNvSpPr>
            <a:spLocks xmlns:a="http://schemas.openxmlformats.org/drawingml/2006/main" noGrp="1"/>
          </p:cNvSpPr>
          <p:nvPr/>
        </p:nvSpPr>
        <p:spPr>
          <a:xfrm xmlns:a="http://schemas.openxmlformats.org/drawingml/2006/main">
            <a:off x="8778240" y="2212848"/>
            <a:ext cx="28620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292524"/>
                </a:solidFill>
                <a:latin typeface="Calibri"/>
                <a:ea typeface="Calibri"/>
                <a:cs typeface="Calibri"/>
              </a:rPr>
              <a:t>total cost base: 67% inventory holding, 33% transportation</a:t>
            </a:r>
            <a:endParaRPr sz="1100"/>
          </a:p>
        </p:txBody>
      </p:sp>
      <p:sp>
        <p:nvSpPr>
          <p:cNvPr id="15" name="Shape 10">
            <a:extLst xmlns:a="http://schemas.openxmlformats.org/drawingml/2006/main">
              <a:ext uri="{FF2B5EF4-FFF2-40B4-BE49-F238E27FC236}">
                <a16:creationId xmlns:a16="http://schemas.microsoft.com/office/drawing/2014/main" id="{E76F301E-43C5-43E1-B034-D38E6AB1431B}"/>
              </a:ext>
            </a:extLst>
          </p:cNvPr>
          <p:cNvSpPr>
            <a:spLocks xmlns:a="http://schemas.openxmlformats.org/drawingml/2006/main" noGrp="1"/>
          </p:cNvSpPr>
          <p:nvPr/>
        </p:nvSpPr>
        <p:spPr>
          <a:xfrm xmlns:a="http://schemas.openxmlformats.org/drawingml/2006/main">
            <a:off x="8778240" y="2788920"/>
            <a:ext cx="286207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1">
            <a:extLst xmlns:a="http://schemas.openxmlformats.org/drawingml/2006/main">
              <a:ext uri="{FF2B5EF4-FFF2-40B4-BE49-F238E27FC236}">
                <a16:creationId xmlns:a16="http://schemas.microsoft.com/office/drawing/2014/main" id="{F11C43E4-18DF-472D-BFAC-A2F19DF09666}"/>
              </a:ext>
            </a:extLst>
          </p:cNvPr>
          <p:cNvSpPr>
            <a:spLocks xmlns:a="http://schemas.openxmlformats.org/drawingml/2006/main" noGrp="1"/>
          </p:cNvSpPr>
          <p:nvPr/>
        </p:nvSpPr>
        <p:spPr>
          <a:xfrm xmlns:a="http://schemas.openxmlformats.org/drawingml/2006/main">
            <a:off x="8778240" y="288036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A580C"/>
                </a:solidFill>
                <a:latin typeface="Calibri"/>
                <a:ea typeface="Calibri"/>
                <a:cs typeface="Calibri"/>
              </a:rPr>
              <a:t>27%</a:t>
            </a:r>
            <a:endParaRPr sz="2200"/>
          </a:p>
        </p:txBody>
      </p:sp>
      <p:sp>
        <p:nvSpPr>
          <p:cNvPr id="17" name="Text 12">
            <a:extLst xmlns:a="http://schemas.openxmlformats.org/drawingml/2006/main">
              <a:ext uri="{FF2B5EF4-FFF2-40B4-BE49-F238E27FC236}">
                <a16:creationId xmlns:a16="http://schemas.microsoft.com/office/drawing/2014/main" id="{0D0EEE44-79DD-4C87-9856-0D9B517E1EC4}"/>
              </a:ext>
            </a:extLst>
          </p:cNvPr>
          <p:cNvSpPr>
            <a:spLocks xmlns:a="http://schemas.openxmlformats.org/drawingml/2006/main" noGrp="1"/>
          </p:cNvSpPr>
          <p:nvPr/>
        </p:nvSpPr>
        <p:spPr>
          <a:xfrm xmlns:a="http://schemas.openxmlformats.org/drawingml/2006/main">
            <a:off x="8778240" y="3355848"/>
            <a:ext cx="28620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292524"/>
                </a:solidFill>
                <a:latin typeface="Calibri"/>
                <a:ea typeface="Calibri"/>
                <a:cs typeface="Calibri"/>
              </a:rPr>
              <a:t>of records turn inventory slower than 4x a year and carry $81.5M of holding cost</a:t>
            </a:r>
            <a:endParaRPr sz="1100"/>
          </a:p>
        </p:txBody>
      </p:sp>
      <p:sp>
        <p:nvSpPr>
          <p:cNvPr id="18" name="Shape 13">
            <a:extLst xmlns:a="http://schemas.openxmlformats.org/drawingml/2006/main">
              <a:ext uri="{FF2B5EF4-FFF2-40B4-BE49-F238E27FC236}">
                <a16:creationId xmlns:a16="http://schemas.microsoft.com/office/drawing/2014/main" id="{AEBD6259-529C-4283-9AF2-59C354D8E864}"/>
              </a:ext>
            </a:extLst>
          </p:cNvPr>
          <p:cNvSpPr>
            <a:spLocks xmlns:a="http://schemas.openxmlformats.org/drawingml/2006/main" noGrp="1"/>
          </p:cNvSpPr>
          <p:nvPr/>
        </p:nvSpPr>
        <p:spPr>
          <a:xfrm xmlns:a="http://schemas.openxmlformats.org/drawingml/2006/main">
            <a:off x="8778240" y="3931920"/>
            <a:ext cx="2862072"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4">
            <a:extLst xmlns:a="http://schemas.openxmlformats.org/drawingml/2006/main">
              <a:ext uri="{FF2B5EF4-FFF2-40B4-BE49-F238E27FC236}">
                <a16:creationId xmlns:a16="http://schemas.microsoft.com/office/drawing/2014/main" id="{4C29F149-14A4-4BE6-8533-FEEDA66199E1}"/>
              </a:ext>
            </a:extLst>
          </p:cNvPr>
          <p:cNvSpPr>
            <a:spLocks xmlns:a="http://schemas.openxmlformats.org/drawingml/2006/main" noGrp="1"/>
          </p:cNvSpPr>
          <p:nvPr/>
        </p:nvSpPr>
        <p:spPr>
          <a:xfrm xmlns:a="http://schemas.openxmlformats.org/drawingml/2006/main">
            <a:off x="8778240" y="402336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A580C"/>
                </a:solidFill>
                <a:latin typeface="Calibri"/>
                <a:ea typeface="Calibri"/>
                <a:cs typeface="Calibri"/>
              </a:rPr>
              <a:t>0.5 vs 22</a:t>
            </a:r>
            <a:endParaRPr sz="2200"/>
          </a:p>
        </p:txBody>
      </p:sp>
      <p:sp>
        <p:nvSpPr>
          <p:cNvPr id="20" name="Text 15">
            <a:extLst xmlns:a="http://schemas.openxmlformats.org/drawingml/2006/main">
              <a:ext uri="{FF2B5EF4-FFF2-40B4-BE49-F238E27FC236}">
                <a16:creationId xmlns:a16="http://schemas.microsoft.com/office/drawing/2014/main" id="{2FBF7A06-C47C-4837-B586-9181DC988EE8}"/>
              </a:ext>
            </a:extLst>
          </p:cNvPr>
          <p:cNvSpPr>
            <a:spLocks xmlns:a="http://schemas.openxmlformats.org/drawingml/2006/main" noGrp="1"/>
          </p:cNvSpPr>
          <p:nvPr/>
        </p:nvSpPr>
        <p:spPr>
          <a:xfrm xmlns:a="http://schemas.openxmlformats.org/drawingml/2006/main">
            <a:off x="8778240" y="4498848"/>
            <a:ext cx="28620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292524"/>
                </a:solidFill>
                <a:latin typeface="Calibri"/>
                <a:ea typeface="Calibri"/>
                <a:cs typeface="Calibri"/>
              </a:rPr>
              <a:t>points of risk between the five suppliers, versus between the shortest and longest lead times</a:t>
            </a:r>
            <a:endParaRPr sz="1100"/>
          </a:p>
        </p:txBody>
      </p:sp>
      <p:sp>
        <p:nvSpPr>
          <p:cNvPr id="21" name="Shape 16">
            <a:extLst xmlns:a="http://schemas.openxmlformats.org/drawingml/2006/main">
              <a:ext uri="{FF2B5EF4-FFF2-40B4-BE49-F238E27FC236}">
                <a16:creationId xmlns:a16="http://schemas.microsoft.com/office/drawing/2014/main" id="{F4777745-775B-4049-B8D4-275DBE948511}"/>
              </a:ext>
            </a:extLst>
          </p:cNvPr>
          <p:cNvSpPr>
            <a:spLocks xmlns:a="http://schemas.openxmlformats.org/drawingml/2006/main" noGrp="1"/>
          </p:cNvSpPr>
          <p:nvPr/>
        </p:nvSpPr>
        <p:spPr>
          <a:xfrm xmlns:a="http://schemas.openxmlformats.org/drawingml/2006/main">
            <a:off x="548640" y="5349240"/>
            <a:ext cx="7772400" cy="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19CA926-62D9-4AFA-905F-8674DB8FECD0}"/>
              </a:ext>
            </a:extLst>
          </p:cNvPr>
          <p:cNvSpPr>
            <a:spLocks xmlns:a="http://schemas.openxmlformats.org/drawingml/2006/main" noGrp="1"/>
          </p:cNvSpPr>
          <p:nvPr/>
        </p:nvSpPr>
        <p:spPr>
          <a:xfrm xmlns:a="http://schemas.openxmlformats.org/drawingml/2006/main">
            <a:off x="548640" y="5440680"/>
            <a:ext cx="77724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92524"/>
                </a:solidFill>
                <a:latin typeface="Calibri"/>
                <a:ea typeface="Calibri"/>
                <a:cs typeface="Calibri"/>
              </a:rPr>
              <a:t>Lead time, stockouts, and backorders explain the risk score. Each 1% of this $449.7M cost base equals about $4.5M, but the supply-chain file operates on a larger scale than the retail data and shares no transaction key. HRG should reconcile the baseline in Q2 and launch the supplier, inventory, and logistics workstream in Q3.</a:t>
            </a:r>
            <a:endParaRPr sz="1200"/>
          </a:p>
        </p:txBody>
      </p:sp>
      <p:sp>
        <p:nvSpPr>
          <p:cNvPr id="25" name="Slide Number Placeholder 0">
            <a:extLst xmlns:a="http://schemas.openxmlformats.org/drawingml/2006/main">
              <a:ext uri="{FF2B5EF4-FFF2-40B4-BE49-F238E27FC236}">
                <a16:creationId xmlns:a16="http://schemas.microsoft.com/office/drawing/2014/main" id="{95222537-52C5-4CF3-A763-CC0D658FE9C3}"/>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10</a:t>
            </a:fld>
            <a:endParaRPr/>
          </a:p>
        </p:txBody>
      </p:sp>
      <p:graphicFrame>
        <p:nvGraphicFramePr>
          <p:cNvPr id="49" name="Rebuilt editable chart: ch/zahczmp4"/>
          <p:cNvGraphicFramePr/>
          <p:nvPr/>
        </p:nvGraphicFramePr>
        <p:xfrm>
          <a:off xmlns:a="http://schemas.openxmlformats.org/drawingml/2006/main" x="548640" y="2240280"/>
          <a:ext xmlns:a="http://schemas.openxmlformats.org/drawingml/2006/main" cx="3657600" cy="2926080"/>
        </p:xfrm>
        <a:graphic xmlns:a="http://schemas.openxmlformats.org/drawingml/2006/main">
          <a:graphicData uri="http://schemas.openxmlformats.org/drawingml/2006/chart">
            <c:chart xmlns:r="http://schemas.openxmlformats.org/officeDocument/2006/relationships" xmlns:c="http://schemas.openxmlformats.org/drawingml/2006/chart" r:id="Re4de80e75ea74bc5"/>
          </a:graphicData>
        </a:graphic>
      </p:graphicFrame>
      <p:graphicFrame>
        <p:nvGraphicFramePr>
          <p:cNvPr id="50" name="Rebuilt editable chart: ch/y98b6hoj"/>
          <p:cNvGraphicFramePr/>
          <p:nvPr/>
        </p:nvGraphicFramePr>
        <p:xfrm>
          <a:off xmlns:a="http://schemas.openxmlformats.org/drawingml/2006/main" x="4434840" y="2240280"/>
          <a:ext xmlns:a="http://schemas.openxmlformats.org/drawingml/2006/main" cx="3749040" cy="2926080"/>
        </p:xfrm>
        <a:graphic xmlns:a="http://schemas.openxmlformats.org/drawingml/2006/main">
          <a:graphicData uri="http://schemas.openxmlformats.org/drawingml/2006/chart">
            <c:chart xmlns:r="http://schemas.openxmlformats.org/officeDocument/2006/relationships" xmlns:c="http://schemas.openxmlformats.org/drawingml/2006/chart" r:id="Rbabe4081625b4af7"/>
          </a:graphicData>
        </a:graphic>
      </p:graphicFrame>
    </p:spTree>
    <p:extLst>
      <p:ext uri="{BB962C8B-B14F-4D97-AF65-F5344CB8AC3E}">
        <p14:creationId xmlns:p14="http://schemas.microsoft.com/office/powerpoint/2010/main" val="16758183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9209E5-2B58-487F-8346-56B5B239CA23}"/>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Board decision</a:t>
            </a:r>
            <a:endParaRPr sz="1100"/>
          </a:p>
        </p:txBody>
      </p:sp>
      <p:sp>
        <p:nvSpPr>
          <p:cNvPr id="3" name="Text 1">
            <a:extLst xmlns:a="http://schemas.openxmlformats.org/drawingml/2006/main">
              <a:ext uri="{FF2B5EF4-FFF2-40B4-BE49-F238E27FC236}">
                <a16:creationId xmlns:a16="http://schemas.microsoft.com/office/drawing/2014/main" id="{C12CF95D-C833-49A5-B4CE-A8D6F72F4B93}"/>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Three decisions start the 180-day plan</a:t>
            </a:r>
            <a:endParaRPr sz="2500"/>
          </a:p>
        </p:txBody>
      </p:sp>
      <p:sp>
        <p:nvSpPr>
          <p:cNvPr id="4" name="Text 2">
            <a:extLst xmlns:a="http://schemas.openxmlformats.org/drawingml/2006/main">
              <a:ext uri="{FF2B5EF4-FFF2-40B4-BE49-F238E27FC236}">
                <a16:creationId xmlns:a16="http://schemas.microsoft.com/office/drawing/2014/main" id="{9F2BE0DD-7B01-431C-A8F1-114210F9605A}"/>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Two Two Consulting analysis and live dashboard. The base case is an illustrative planning scenario to be validated through controlled pilots and the Finance value ledger.</a:t>
            </a:r>
            <a:endParaRPr sz="900"/>
          </a:p>
        </p:txBody>
      </p:sp>
      <p:sp>
        <p:nvSpPr>
          <p:cNvPr id="6" name="Text 3">
            <a:extLst xmlns:a="http://schemas.openxmlformats.org/drawingml/2006/main">
              <a:ext uri="{FF2B5EF4-FFF2-40B4-BE49-F238E27FC236}">
                <a16:creationId xmlns:a16="http://schemas.microsoft.com/office/drawing/2014/main" id="{80EE6C24-EA8D-46A1-8382-A2A0E70AEAA2}"/>
              </a:ext>
            </a:extLst>
          </p:cNvPr>
          <p:cNvSpPr>
            <a:spLocks xmlns:a="http://schemas.openxmlformats.org/drawingml/2006/main" noGrp="1"/>
          </p:cNvSpPr>
          <p:nvPr/>
        </p:nvSpPr>
        <p:spPr>
          <a:xfrm xmlns:a="http://schemas.openxmlformats.org/drawingml/2006/main">
            <a:off x="548640" y="1783080"/>
            <a:ext cx="548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600" b="1">
                <a:solidFill>
                  <a:srgbClr val="EA580C"/>
                </a:solidFill>
                <a:latin typeface="Calibri"/>
                <a:ea typeface="Calibri"/>
                <a:cs typeface="Calibri"/>
              </a:rPr>
              <a:t>1</a:t>
            </a:r>
            <a:endParaRPr sz="3600"/>
          </a:p>
        </p:txBody>
      </p:sp>
      <p:sp>
        <p:nvSpPr>
          <p:cNvPr id="7" name="Text 4">
            <a:extLst xmlns:a="http://schemas.openxmlformats.org/drawingml/2006/main">
              <a:ext uri="{FF2B5EF4-FFF2-40B4-BE49-F238E27FC236}">
                <a16:creationId xmlns:a16="http://schemas.microsoft.com/office/drawing/2014/main" id="{818907D7-41CA-4C3F-A467-083919DDF1E7}"/>
              </a:ext>
            </a:extLst>
          </p:cNvPr>
          <p:cNvSpPr>
            <a:spLocks xmlns:a="http://schemas.openxmlformats.org/drawingml/2006/main" noGrp="1"/>
          </p:cNvSpPr>
          <p:nvPr/>
        </p:nvSpPr>
        <p:spPr>
          <a:xfrm xmlns:a="http://schemas.openxmlformats.org/drawingml/2006/main">
            <a:off x="1234440" y="178308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92524"/>
                </a:solidFill>
                <a:latin typeface="Calibri"/>
                <a:ea typeface="Calibri"/>
                <a:cs typeface="Calibri"/>
              </a:rPr>
              <a:t>Approve the promotion guardrails</a:t>
            </a:r>
            <a:endParaRPr sz="1700"/>
          </a:p>
        </p:txBody>
      </p:sp>
      <p:sp>
        <p:nvSpPr>
          <p:cNvPr id="8" name="Text 5">
            <a:extLst xmlns:a="http://schemas.openxmlformats.org/drawingml/2006/main">
              <a:ext uri="{FF2B5EF4-FFF2-40B4-BE49-F238E27FC236}">
                <a16:creationId xmlns:a16="http://schemas.microsoft.com/office/drawing/2014/main" id="{FA900FB2-F929-4AFD-820A-D5887F174CE0}"/>
              </a:ext>
            </a:extLst>
          </p:cNvPr>
          <p:cNvSpPr>
            <a:spLocks xmlns:a="http://schemas.openxmlformats.org/drawingml/2006/main" noGrp="1"/>
          </p:cNvSpPr>
          <p:nvPr/>
        </p:nvSpPr>
        <p:spPr>
          <a:xfrm xmlns:a="http://schemas.openxmlformats.org/drawingml/2006/main">
            <a:off x="1234440" y="2194560"/>
            <a:ext cx="6035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57534E"/>
                </a:solidFill>
                <a:latin typeface="Calibri"/>
                <a:ea typeface="Calibri"/>
                <a:cs typeface="Calibri"/>
              </a:rPr>
              <a:t>Freeze unapproved BOGO and Clearance launches; require at least 5% margin, 50% campaign ROI, and less than 3% traffic decline.</a:t>
            </a:r>
            <a:endParaRPr sz="1250"/>
          </a:p>
        </p:txBody>
      </p:sp>
      <p:sp>
        <p:nvSpPr>
          <p:cNvPr id="9" name="Text 6">
            <a:extLst xmlns:a="http://schemas.openxmlformats.org/drawingml/2006/main">
              <a:ext uri="{FF2B5EF4-FFF2-40B4-BE49-F238E27FC236}">
                <a16:creationId xmlns:a16="http://schemas.microsoft.com/office/drawing/2014/main" id="{28554F00-88E2-4656-B36E-4E213DC05BC5}"/>
              </a:ext>
            </a:extLst>
          </p:cNvPr>
          <p:cNvSpPr>
            <a:spLocks xmlns:a="http://schemas.openxmlformats.org/drawingml/2006/main" noGrp="1"/>
          </p:cNvSpPr>
          <p:nvPr/>
        </p:nvSpPr>
        <p:spPr>
          <a:xfrm xmlns:a="http://schemas.openxmlformats.org/drawingml/2006/main">
            <a:off x="548640" y="2971800"/>
            <a:ext cx="548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600" b="1">
                <a:solidFill>
                  <a:srgbClr val="EA580C"/>
                </a:solidFill>
                <a:latin typeface="Calibri"/>
                <a:ea typeface="Calibri"/>
                <a:cs typeface="Calibri"/>
              </a:rPr>
              <a:t>2</a:t>
            </a:r>
            <a:endParaRPr sz="3600"/>
          </a:p>
        </p:txBody>
      </p:sp>
      <p:sp>
        <p:nvSpPr>
          <p:cNvPr id="10" name="Text 7">
            <a:extLst xmlns:a="http://schemas.openxmlformats.org/drawingml/2006/main">
              <a:ext uri="{FF2B5EF4-FFF2-40B4-BE49-F238E27FC236}">
                <a16:creationId xmlns:a16="http://schemas.microsoft.com/office/drawing/2014/main" id="{D6B28816-FCB3-4F39-A20C-7C01C04E3A00}"/>
              </a:ext>
            </a:extLst>
          </p:cNvPr>
          <p:cNvSpPr>
            <a:spLocks xmlns:a="http://schemas.openxmlformats.org/drawingml/2006/main" noGrp="1"/>
          </p:cNvSpPr>
          <p:nvPr/>
        </p:nvSpPr>
        <p:spPr>
          <a:xfrm xmlns:a="http://schemas.openxmlformats.org/drawingml/2006/main">
            <a:off x="1234440" y="29718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92524"/>
                </a:solidFill>
                <a:latin typeface="Calibri"/>
                <a:ea typeface="Calibri"/>
                <a:cs typeface="Calibri"/>
              </a:rPr>
              <a:t>Name one executive value owner</a:t>
            </a:r>
            <a:endParaRPr sz="1700"/>
          </a:p>
        </p:txBody>
      </p:sp>
      <p:sp>
        <p:nvSpPr>
          <p:cNvPr id="11" name="Text 8">
            <a:extLst xmlns:a="http://schemas.openxmlformats.org/drawingml/2006/main">
              <a:ext uri="{FF2B5EF4-FFF2-40B4-BE49-F238E27FC236}">
                <a16:creationId xmlns:a16="http://schemas.microsoft.com/office/drawing/2014/main" id="{200CE48F-58BF-4D34-BA27-2694B6E766E0}"/>
              </a:ext>
            </a:extLst>
          </p:cNvPr>
          <p:cNvSpPr>
            <a:spLocks xmlns:a="http://schemas.openxmlformats.org/drawingml/2006/main" noGrp="1"/>
          </p:cNvSpPr>
          <p:nvPr/>
        </p:nvSpPr>
        <p:spPr>
          <a:xfrm xmlns:a="http://schemas.openxmlformats.org/drawingml/2006/main">
            <a:off x="1234440" y="3383280"/>
            <a:ext cx="6035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57534E"/>
                </a:solidFill>
                <a:latin typeface="Calibri"/>
                <a:ea typeface="Calibri"/>
                <a:cs typeface="Calibri"/>
              </a:rPr>
              <a:t>Give one leader authority across pricing, CRM, merchandising, and FP&amp;A, supported by a weekly stop, fix, or expand review.</a:t>
            </a:r>
            <a:endParaRPr sz="1250"/>
          </a:p>
        </p:txBody>
      </p:sp>
      <p:sp>
        <p:nvSpPr>
          <p:cNvPr id="12" name="Text 9">
            <a:extLst xmlns:a="http://schemas.openxmlformats.org/drawingml/2006/main">
              <a:ext uri="{FF2B5EF4-FFF2-40B4-BE49-F238E27FC236}">
                <a16:creationId xmlns:a16="http://schemas.microsoft.com/office/drawing/2014/main" id="{FDD8537E-554B-443E-9C71-B37DAF41CCF6}"/>
              </a:ext>
            </a:extLst>
          </p:cNvPr>
          <p:cNvSpPr>
            <a:spLocks xmlns:a="http://schemas.openxmlformats.org/drawingml/2006/main" noGrp="1"/>
          </p:cNvSpPr>
          <p:nvPr/>
        </p:nvSpPr>
        <p:spPr>
          <a:xfrm xmlns:a="http://schemas.openxmlformats.org/drawingml/2006/main">
            <a:off x="548640" y="4160520"/>
            <a:ext cx="548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600" b="1">
                <a:solidFill>
                  <a:srgbClr val="EA580C"/>
                </a:solidFill>
                <a:latin typeface="Calibri"/>
                <a:ea typeface="Calibri"/>
                <a:cs typeface="Calibri"/>
              </a:rPr>
              <a:t>3</a:t>
            </a:r>
            <a:endParaRPr sz="3600"/>
          </a:p>
        </p:txBody>
      </p:sp>
      <p:sp>
        <p:nvSpPr>
          <p:cNvPr id="13" name="Text 10">
            <a:extLst xmlns:a="http://schemas.openxmlformats.org/drawingml/2006/main">
              <a:ext uri="{FF2B5EF4-FFF2-40B4-BE49-F238E27FC236}">
                <a16:creationId xmlns:a16="http://schemas.microsoft.com/office/drawing/2014/main" id="{83A3345C-4CF8-4B3B-AE1A-9AE0297B1A69}"/>
              </a:ext>
            </a:extLst>
          </p:cNvPr>
          <p:cNvSpPr>
            <a:spLocks xmlns:a="http://schemas.openxmlformats.org/drawingml/2006/main" noGrp="1"/>
          </p:cNvSpPr>
          <p:nvPr/>
        </p:nvSpPr>
        <p:spPr>
          <a:xfrm xmlns:a="http://schemas.openxmlformats.org/drawingml/2006/main">
            <a:off x="1234440" y="416052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92524"/>
                </a:solidFill>
                <a:latin typeface="Calibri"/>
                <a:ea typeface="Calibri"/>
                <a:cs typeface="Calibri"/>
              </a:rPr>
              <a:t>Authorize the Q1–Q2 dashboard plan and two pilots</a:t>
            </a:r>
            <a:endParaRPr sz="1700"/>
          </a:p>
        </p:txBody>
      </p:sp>
      <p:sp>
        <p:nvSpPr>
          <p:cNvPr id="14" name="Text 11">
            <a:extLst xmlns:a="http://schemas.openxmlformats.org/drawingml/2006/main">
              <a:ext uri="{FF2B5EF4-FFF2-40B4-BE49-F238E27FC236}">
                <a16:creationId xmlns:a16="http://schemas.microsoft.com/office/drawing/2014/main" id="{07234B29-D73D-4DC8-BC7F-96BDD038B9EC}"/>
              </a:ext>
            </a:extLst>
          </p:cNvPr>
          <p:cNvSpPr>
            <a:spLocks xmlns:a="http://schemas.openxmlformats.org/drawingml/2006/main" noGrp="1"/>
          </p:cNvSpPr>
          <p:nvPr/>
        </p:nvSpPr>
        <p:spPr>
          <a:xfrm xmlns:a="http://schemas.openxmlformats.org/drawingml/2006/main">
            <a:off x="1234440" y="4572000"/>
            <a:ext cx="6035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57534E"/>
                </a:solidFill>
                <a:latin typeface="Calibri"/>
                <a:ea typeface="Calibri"/>
                <a:cs typeface="Calibri"/>
              </a:rPr>
              <a:t>Fund the $6M implementation envelope now; bring the reconciled supply-chain and logistics case back for a separate Q3 decision.</a:t>
            </a:r>
            <a:endParaRPr sz="1250"/>
          </a:p>
        </p:txBody>
      </p:sp>
      <p:sp>
        <p:nvSpPr>
          <p:cNvPr id="15" name="Shape 12">
            <a:extLst xmlns:a="http://schemas.openxmlformats.org/drawingml/2006/main">
              <a:ext uri="{FF2B5EF4-FFF2-40B4-BE49-F238E27FC236}">
                <a16:creationId xmlns:a16="http://schemas.microsoft.com/office/drawing/2014/main" id="{4AF0D32E-8C98-4B33-8E4E-8C5CA468F304}"/>
              </a:ext>
            </a:extLst>
          </p:cNvPr>
          <p:cNvSpPr>
            <a:spLocks xmlns:a="http://schemas.openxmlformats.org/drawingml/2006/main" noGrp="1"/>
          </p:cNvSpPr>
          <p:nvPr/>
        </p:nvSpPr>
        <p:spPr>
          <a:xfrm xmlns:a="http://schemas.openxmlformats.org/drawingml/2006/main">
            <a:off x="7680960" y="1783080"/>
            <a:ext cx="0" cy="411480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5CB4DFCF-4696-4B7C-8124-4EFE8C8B1DC1}"/>
              </a:ext>
            </a:extLst>
          </p:cNvPr>
          <p:cNvSpPr>
            <a:spLocks xmlns:a="http://schemas.openxmlformats.org/drawingml/2006/main" noGrp="1"/>
          </p:cNvSpPr>
          <p:nvPr/>
        </p:nvSpPr>
        <p:spPr>
          <a:xfrm xmlns:a="http://schemas.openxmlformats.org/drawingml/2006/main">
            <a:off x="8046720" y="1783080"/>
            <a:ext cx="35935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Base case if approved</a:t>
            </a:r>
            <a:endParaRPr sz="1200"/>
          </a:p>
        </p:txBody>
      </p:sp>
      <p:sp>
        <p:nvSpPr>
          <p:cNvPr id="17" name="Text 14">
            <a:extLst xmlns:a="http://schemas.openxmlformats.org/drawingml/2006/main">
              <a:ext uri="{FF2B5EF4-FFF2-40B4-BE49-F238E27FC236}">
                <a16:creationId xmlns:a16="http://schemas.microsoft.com/office/drawing/2014/main" id="{2EBADA23-50EE-44CD-971D-0D9CD83F12FB}"/>
              </a:ext>
            </a:extLst>
          </p:cNvPr>
          <p:cNvSpPr>
            <a:spLocks xmlns:a="http://schemas.openxmlformats.org/drawingml/2006/main" noGrp="1"/>
          </p:cNvSpPr>
          <p:nvPr/>
        </p:nvSpPr>
        <p:spPr>
          <a:xfrm xmlns:a="http://schemas.openxmlformats.org/drawingml/2006/main">
            <a:off x="8046720" y="2103120"/>
            <a:ext cx="35935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EA580C"/>
                </a:solidFill>
                <a:latin typeface="Calibri"/>
                <a:ea typeface="Calibri"/>
                <a:cs typeface="Calibri"/>
              </a:rPr>
              <a:t>+$12.0M</a:t>
            </a:r>
            <a:endParaRPr sz="4600"/>
          </a:p>
        </p:txBody>
      </p:sp>
      <p:sp>
        <p:nvSpPr>
          <p:cNvPr id="18" name="Text 15">
            <a:extLst xmlns:a="http://schemas.openxmlformats.org/drawingml/2006/main">
              <a:ext uri="{FF2B5EF4-FFF2-40B4-BE49-F238E27FC236}">
                <a16:creationId xmlns:a16="http://schemas.microsoft.com/office/drawing/2014/main" id="{FC98CD63-BE2B-4C02-AE2C-D2B8B237E0BC}"/>
              </a:ext>
            </a:extLst>
          </p:cNvPr>
          <p:cNvSpPr>
            <a:spLocks xmlns:a="http://schemas.openxmlformats.org/drawingml/2006/main" noGrp="1"/>
          </p:cNvSpPr>
          <p:nvPr/>
        </p:nvSpPr>
        <p:spPr>
          <a:xfrm xmlns:a="http://schemas.openxmlformats.org/drawingml/2006/main">
            <a:off x="8046720" y="2926080"/>
            <a:ext cx="35935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57534E"/>
                </a:solidFill>
                <a:latin typeface="Calibri"/>
                <a:ea typeface="Calibri"/>
                <a:cs typeface="Calibri"/>
              </a:rPr>
              <a:t>net annual profit uplift</a:t>
            </a:r>
            <a:endParaRPr sz="1200"/>
          </a:p>
        </p:txBody>
      </p:sp>
      <p:graphicFrame>
        <p:nvGraphicFramePr>
          <p:cNvPr id="43" name="Table 0"/>
          <p:cNvGraphicFramePr/>
          <p:nvPr/>
        </p:nvGraphicFramePr>
        <p:xfrm>
          <a:off xmlns:a="http://schemas.openxmlformats.org/drawingml/2006/main" x="8046720" y="3383280"/>
          <a:ext xmlns:a="http://schemas.openxmlformats.org/drawingml/2006/main" cx="3593592" cy="1152144"/>
        </p:xfrm>
        <a:graphic xmlns:a="http://schemas.openxmlformats.org/drawingml/2006/main">
          <a:graphicData uri="http://schemas.openxmlformats.org/drawingml/2006/table">
            <a:tbl>
              <a:tblPr/>
              <a:tblGrid>
                <a:gridCol w="1463040"/>
                <a:gridCol w="2130552"/>
              </a:tblGrid>
              <a:tr h="384048">
                <a:tc>
                  <a:txBody>
                    <a:bodyPr/>
                    <a:lstStyle/>
                    <a:p>
                      <a:pPr marL="0" indent="0">
                        <a:buNone/>
                      </a:pPr>
                      <a:r>
                        <a:rPr sz="1150">
                          <a:solidFill>
                            <a:srgbClr val="57534E"/>
                          </a:solidFill>
                          <a:latin typeface="Calibri"/>
                          <a:ea typeface="Calibri"/>
                          <a:cs typeface="Calibri"/>
                        </a:rPr>
                        <a:t>Projected profit</a:t>
                      </a:r>
                      <a:endParaRPr sz="115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$50.4M</a:t>
                      </a:r>
                      <a:endParaRPr sz="115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r>
              <a:tr h="384048">
                <a:tc>
                  <a:txBody>
                    <a:bodyPr/>
                    <a:lstStyle/>
                    <a:p>
                      <a:pPr marL="0" indent="0">
                        <a:buNone/>
                      </a:pPr>
                      <a:r>
                        <a:rPr sz="1150">
                          <a:solidFill>
                            <a:srgbClr val="57534E"/>
                          </a:solidFill>
                          <a:latin typeface="Calibri"/>
                          <a:ea typeface="Calibri"/>
                          <a:cs typeface="Calibri"/>
                        </a:rPr>
                        <a:t>Profit margin</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13.0%</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84048">
                <a:tc>
                  <a:txBody>
                    <a:bodyPr/>
                    <a:lstStyle/>
                    <a:p>
                      <a:pPr marL="0" indent="0">
                        <a:buNone/>
                      </a:pPr>
                      <a:r>
                        <a:rPr sz="1150">
                          <a:solidFill>
                            <a:srgbClr val="57534E"/>
                          </a:solidFill>
                          <a:latin typeface="Calibri"/>
                          <a:ea typeface="Calibri"/>
                          <a:cs typeface="Calibri"/>
                        </a:rPr>
                        <a:t>Gross benefit / cost</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$18.0M / $6.0M</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20" name="Text 16">
            <a:extLst xmlns:a="http://schemas.openxmlformats.org/drawingml/2006/main">
              <a:ext uri="{FF2B5EF4-FFF2-40B4-BE49-F238E27FC236}">
                <a16:creationId xmlns:a16="http://schemas.microsoft.com/office/drawing/2014/main" id="{BD7DDB0D-0610-4A0E-944F-1B5F183AD55B}"/>
              </a:ext>
            </a:extLst>
          </p:cNvPr>
          <p:cNvSpPr>
            <a:spLocks xmlns:a="http://schemas.openxmlformats.org/drawingml/2006/main" noGrp="1"/>
          </p:cNvSpPr>
          <p:nvPr/>
        </p:nvSpPr>
        <p:spPr>
          <a:xfrm xmlns:a="http://schemas.openxmlformats.org/drawingml/2006/main">
            <a:off x="548640" y="5440680"/>
            <a:ext cx="67665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250">
                <a:solidFill>
                  <a:srgbClr val="292524"/>
                </a:solidFill>
                <a:latin typeface="Calibri"/>
                <a:ea typeface="Calibri"/>
                <a:cs typeface="Calibri"/>
              </a:rPr>
              <a:t>Approve the guardrails, name one value owner, and fund the two controlled pilots. Finance records value only after the evidence clears the agreed thresholds.</a:t>
            </a:r>
            <a:endParaRPr sz="1250"/>
          </a:p>
        </p:txBody>
      </p:sp>
      <p:sp>
        <p:nvSpPr>
          <p:cNvPr id="25" name="Slide Number Placeholder 0">
            <a:extLst xmlns:a="http://schemas.openxmlformats.org/drawingml/2006/main">
              <a:ext uri="{FF2B5EF4-FFF2-40B4-BE49-F238E27FC236}">
                <a16:creationId xmlns:a16="http://schemas.microsoft.com/office/drawing/2014/main" id="{45FAFC59-7B91-4042-B014-5CAF9184FFC3}"/>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16</a:t>
            </a:fld>
            <a:endParaRPr/>
          </a:p>
        </p:txBody>
      </p:sp>
    </p:spTree>
    <p:extLst>
      <p:ext uri="{BB962C8B-B14F-4D97-AF65-F5344CB8AC3E}">
        <p14:creationId xmlns:p14="http://schemas.microsoft.com/office/powerpoint/2010/main" val="12483134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61AB6E-61F4-43C8-834E-F34C028628DA}"/>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Appendix · Economics</a:t>
            </a:r>
            <a:endParaRPr sz="1100"/>
          </a:p>
        </p:txBody>
      </p:sp>
      <p:sp>
        <p:nvSpPr>
          <p:cNvPr id="3" name="Text 1">
            <a:extLst xmlns:a="http://schemas.openxmlformats.org/drawingml/2006/main">
              <a:ext uri="{FF2B5EF4-FFF2-40B4-BE49-F238E27FC236}">
                <a16:creationId xmlns:a16="http://schemas.microsoft.com/office/drawing/2014/main" id="{DB965663-6719-4558-9FA5-5E6BA627251D}"/>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How the four priorities connect to the $12M base case</a:t>
            </a:r>
            <a:endParaRPr sz="2500"/>
          </a:p>
        </p:txBody>
      </p:sp>
      <p:sp>
        <p:nvSpPr>
          <p:cNvPr id="4" name="Text 2">
            <a:extLst xmlns:a="http://schemas.openxmlformats.org/drawingml/2006/main">
              <a:ext uri="{FF2B5EF4-FFF2-40B4-BE49-F238E27FC236}">
                <a16:creationId xmlns:a16="http://schemas.microsoft.com/office/drawing/2014/main" id="{FFC67DEE-5466-40C4-A8BB-51E93B2FE0E9}"/>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consulting packet and the three HRG datasets. Financial values are Two Two Consulting estimates.</a:t>
            </a:r>
            <a:endParaRPr sz="900"/>
          </a:p>
        </p:txBody>
      </p:sp>
      <p:sp>
        <p:nvSpPr>
          <p:cNvPr id="6" name="Text 3">
            <a:extLst xmlns:a="http://schemas.openxmlformats.org/drawingml/2006/main">
              <a:ext uri="{FF2B5EF4-FFF2-40B4-BE49-F238E27FC236}">
                <a16:creationId xmlns:a16="http://schemas.microsoft.com/office/drawing/2014/main" id="{B04F515A-E0B8-48A7-99B1-56D6DA14ED18}"/>
              </a:ext>
            </a:extLst>
          </p:cNvPr>
          <p:cNvSpPr>
            <a:spLocks xmlns:a="http://schemas.openxmlformats.org/drawingml/2006/main" noGrp="1"/>
          </p:cNvSpPr>
          <p:nvPr/>
        </p:nvSpPr>
        <p:spPr>
          <a:xfrm xmlns:a="http://schemas.openxmlformats.org/drawingml/2006/main">
            <a:off x="548640" y="1691640"/>
            <a:ext cx="6858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The situation</a:t>
            </a:r>
            <a:endParaRPr sz="1200"/>
          </a:p>
        </p:txBody>
      </p:sp>
      <p:sp>
        <p:nvSpPr>
          <p:cNvPr id="7" name="Text 4">
            <a:extLst xmlns:a="http://schemas.openxmlformats.org/drawingml/2006/main">
              <a:ext uri="{FF2B5EF4-FFF2-40B4-BE49-F238E27FC236}">
                <a16:creationId xmlns:a16="http://schemas.microsoft.com/office/drawing/2014/main" id="{96A48C55-EBC1-4DBA-9E91-EEA3044EAD07}"/>
              </a:ext>
            </a:extLst>
          </p:cNvPr>
          <p:cNvSpPr>
            <a:spLocks xmlns:a="http://schemas.openxmlformats.org/drawingml/2006/main" noGrp="1"/>
          </p:cNvSpPr>
          <p:nvPr/>
        </p:nvSpPr>
        <p:spPr>
          <a:xfrm xmlns:a="http://schemas.openxmlformats.org/drawingml/2006/main">
            <a:off x="548640" y="1938528"/>
            <a:ext cx="6858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250">
                <a:solidFill>
                  <a:srgbClr val="292524"/>
                </a:solidFill>
                <a:latin typeface="Calibri"/>
                <a:ea typeface="Calibri"/>
                <a:cs typeface="Calibri"/>
              </a:rPr>
              <a:t>Revenue growth rose from 5.8% in 2022 to 12.7% in 2025, while profit growth fell from +3.2% to −4.8%. Leadership estimates that $18–25M of profit is lost each year. We traced the leakage and built a measured recovery plan.</a:t>
            </a:r>
            <a:endParaRPr sz="1250"/>
          </a:p>
        </p:txBody>
      </p:sp>
      <p:sp>
        <p:nvSpPr>
          <p:cNvPr id="8" name="Text 5">
            <a:extLst xmlns:a="http://schemas.openxmlformats.org/drawingml/2006/main">
              <a:ext uri="{FF2B5EF4-FFF2-40B4-BE49-F238E27FC236}">
                <a16:creationId xmlns:a16="http://schemas.microsoft.com/office/drawing/2014/main" id="{0F894B1E-549A-485D-8D63-2222BB9792AE}"/>
              </a:ext>
            </a:extLst>
          </p:cNvPr>
          <p:cNvSpPr>
            <a:spLocks xmlns:a="http://schemas.openxmlformats.org/drawingml/2006/main" noGrp="1"/>
          </p:cNvSpPr>
          <p:nvPr/>
        </p:nvSpPr>
        <p:spPr>
          <a:xfrm xmlns:a="http://schemas.openxmlformats.org/drawingml/2006/main">
            <a:off x="548640" y="2788920"/>
            <a:ext cx="6858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What we found</a:t>
            </a:r>
            <a:endParaRPr sz="1200"/>
          </a:p>
        </p:txBody>
      </p:sp>
      <p:sp>
        <p:nvSpPr>
          <p:cNvPr id="9" name="Text 6">
            <a:extLst xmlns:a="http://schemas.openxmlformats.org/drawingml/2006/main">
              <a:ext uri="{FF2B5EF4-FFF2-40B4-BE49-F238E27FC236}">
                <a16:creationId xmlns:a16="http://schemas.microsoft.com/office/drawing/2014/main" id="{7B365FEC-D11D-458D-91E4-3C6BFD39F46D}"/>
              </a:ext>
            </a:extLst>
          </p:cNvPr>
          <p:cNvSpPr>
            <a:spLocks xmlns:a="http://schemas.openxmlformats.org/drawingml/2006/main" noGrp="1"/>
          </p:cNvSpPr>
          <p:nvPr/>
        </p:nvSpPr>
        <p:spPr>
          <a:xfrm xmlns:a="http://schemas.openxmlformats.org/drawingml/2006/main">
            <a:off x="548640" y="3035808"/>
            <a:ext cx="685800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The deck retains seven problem areas: promotion leakage, loss-making sales, customer churn, weak loyalty targeting, inventory inefficiency, supply-chain and logistics risk, and fragmented executive reporting.</a:t>
            </a:r>
            <a:endParaRPr sz="1200"/>
          </a:p>
          <a:p xmlns:a="http://schemas.openxmlformats.org/drawingml/2006/main">
            <a:pPr marL="0" indent="0">
              <a:buNone/>
            </a:pPr>
            <a:r>
              <a:rPr sz="1200">
                <a:solidFill>
                  <a:srgbClr val="292524"/>
                </a:solidFill>
                <a:latin typeface="Calibri"/>
                <a:ea typeface="Calibri"/>
                <a:cs typeface="Calibri"/>
              </a:rPr>
              <a:t>The Q1–Q2 dashboard plan focuses on the first four because the existing data supports immediate owners, controlled tests, and measurable profit gates. Executive reporting is the mechanism that makes those tests visible.</a:t>
            </a:r>
            <a:endParaRPr sz="1200"/>
          </a:p>
          <a:p xmlns:a="http://schemas.openxmlformats.org/drawingml/2006/main">
            <a:pPr marL="0" indent="0">
              <a:spcAft>
                <a:spcPts val="700"/>
              </a:spcAft>
              <a:buNone/>
            </a:pPr>
            <a:r>
              <a:rPr sz="1200">
                <a:solidFill>
                  <a:srgbClr val="292524"/>
                </a:solidFill>
                <a:latin typeface="Calibri"/>
                <a:ea typeface="Calibri"/>
                <a:cs typeface="Calibri"/>
              </a:rPr>
              <a:t>Inventory, supply chain, and logistics move into the Q3 workstream after Finance reconciles the larger operating cost baseline.</a:t>
            </a:r>
            <a:endParaRPr sz="1200"/>
          </a:p>
        </p:txBody>
      </p:sp>
      <p:sp>
        <p:nvSpPr>
          <p:cNvPr id="10" name="Text 7">
            <a:extLst xmlns:a="http://schemas.openxmlformats.org/drawingml/2006/main">
              <a:ext uri="{FF2B5EF4-FFF2-40B4-BE49-F238E27FC236}">
                <a16:creationId xmlns:a16="http://schemas.microsoft.com/office/drawing/2014/main" id="{6B9D7584-A052-4A1C-8F92-545E3E125A21}"/>
              </a:ext>
            </a:extLst>
          </p:cNvPr>
          <p:cNvSpPr>
            <a:spLocks xmlns:a="http://schemas.openxmlformats.org/drawingml/2006/main" noGrp="1"/>
          </p:cNvSpPr>
          <p:nvPr/>
        </p:nvSpPr>
        <p:spPr>
          <a:xfrm xmlns:a="http://schemas.openxmlformats.org/drawingml/2006/main">
            <a:off x="548640" y="4864608"/>
            <a:ext cx="6858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What we recommend</a:t>
            </a:r>
            <a:endParaRPr sz="1200"/>
          </a:p>
        </p:txBody>
      </p:sp>
      <p:sp>
        <p:nvSpPr>
          <p:cNvPr id="11" name="Text 8">
            <a:extLst xmlns:a="http://schemas.openxmlformats.org/drawingml/2006/main">
              <a:ext uri="{FF2B5EF4-FFF2-40B4-BE49-F238E27FC236}">
                <a16:creationId xmlns:a16="http://schemas.microsoft.com/office/drawing/2014/main" id="{6F6258C5-CFFD-4FBE-BC8C-A588DC26096C}"/>
              </a:ext>
            </a:extLst>
          </p:cNvPr>
          <p:cNvSpPr>
            <a:spLocks xmlns:a="http://schemas.openxmlformats.org/drawingml/2006/main" noGrp="1"/>
          </p:cNvSpPr>
          <p:nvPr/>
        </p:nvSpPr>
        <p:spPr>
          <a:xfrm xmlns:a="http://schemas.openxmlformats.org/drawingml/2006/main">
            <a:off x="548640" y="5102352"/>
            <a:ext cx="685800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1. Q1: install promotion gates, publish the loss-pocket file, and launch the executive dashboard.</a:t>
            </a:r>
            <a:endParaRPr sz="1200"/>
          </a:p>
          <a:p xmlns:a="http://schemas.openxmlformats.org/drawingml/2006/main">
            <a:pPr marL="0" indent="0">
              <a:buNone/>
            </a:pPr>
            <a:r>
              <a:rPr sz="1200" b="1">
                <a:solidFill>
                  <a:srgbClr val="C2410C"/>
                </a:solidFill>
                <a:latin typeface="Calibri"/>
                <a:ea typeface="Calibri"/>
                <a:cs typeface="Calibri"/>
              </a:rPr>
              <a:t>2. Q2: run controlled promotion and retention pilots, then encode only the rules that prove incremental value.</a:t>
            </a:r>
            <a:endParaRPr sz="1200"/>
          </a:p>
          <a:p xmlns:a="http://schemas.openxmlformats.org/drawingml/2006/main">
            <a:pPr marL="0" indent="0">
              <a:buNone/>
            </a:pPr>
            <a:r>
              <a:rPr sz="1200" b="1">
                <a:solidFill>
                  <a:srgbClr val="C2410C"/>
                </a:solidFill>
                <a:latin typeface="Calibri"/>
                <a:ea typeface="Calibri"/>
                <a:cs typeface="Calibri"/>
              </a:rPr>
              <a:t>3. Q3: address inventory, supply chain, and logistics after Finance reconciles cost and supplier baselines.</a:t>
            </a:r>
            <a:endParaRPr sz="1200"/>
          </a:p>
        </p:txBody>
      </p:sp>
      <p:sp>
        <p:nvSpPr>
          <p:cNvPr id="12" name="Shape 9">
            <a:extLst xmlns:a="http://schemas.openxmlformats.org/drawingml/2006/main">
              <a:ext uri="{FF2B5EF4-FFF2-40B4-BE49-F238E27FC236}">
                <a16:creationId xmlns:a16="http://schemas.microsoft.com/office/drawing/2014/main" id="{0CFA2F73-6CBF-4F4F-8B3B-E4F38A293036}"/>
              </a:ext>
            </a:extLst>
          </p:cNvPr>
          <p:cNvSpPr>
            <a:spLocks xmlns:a="http://schemas.openxmlformats.org/drawingml/2006/main" noGrp="1"/>
          </p:cNvSpPr>
          <p:nvPr/>
        </p:nvSpPr>
        <p:spPr>
          <a:xfrm xmlns:a="http://schemas.openxmlformats.org/drawingml/2006/main">
            <a:off x="7726680" y="1737360"/>
            <a:ext cx="0" cy="4526280"/>
          </a:xfrm>
          <a:prstGeom xmlns:a="http://schemas.openxmlformats.org/drawingml/2006/main" prst="line">
            <a:avLst/>
          </a:prstGeom>
          <a:noFill xmlns:a="http://schemas.openxmlformats.org/drawingml/2006/main"/>
          <a:ln xmlns:a="http://schemas.openxmlformats.org/drawingml/2006/main" w="9525">
            <a:solidFill>
              <a:srgbClr val="D6D3D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C98A1D23-A812-4CF3-9495-6DC417C117D3}"/>
              </a:ext>
            </a:extLst>
          </p:cNvPr>
          <p:cNvSpPr>
            <a:spLocks xmlns:a="http://schemas.openxmlformats.org/drawingml/2006/main" noGrp="1"/>
          </p:cNvSpPr>
          <p:nvPr/>
        </p:nvSpPr>
        <p:spPr>
          <a:xfrm xmlns:a="http://schemas.openxmlformats.org/drawingml/2006/main">
            <a:off x="8046720" y="1691640"/>
            <a:ext cx="35935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What it is worth</a:t>
            </a:r>
            <a:endParaRPr sz="1200"/>
          </a:p>
        </p:txBody>
      </p:sp>
      <p:sp>
        <p:nvSpPr>
          <p:cNvPr id="14" name="Text 11">
            <a:extLst xmlns:a="http://schemas.openxmlformats.org/drawingml/2006/main">
              <a:ext uri="{FF2B5EF4-FFF2-40B4-BE49-F238E27FC236}">
                <a16:creationId xmlns:a16="http://schemas.microsoft.com/office/drawing/2014/main" id="{AB788DB3-5DF3-47B5-88FD-F257DEBE35E7}"/>
              </a:ext>
            </a:extLst>
          </p:cNvPr>
          <p:cNvSpPr>
            <a:spLocks xmlns:a="http://schemas.openxmlformats.org/drawingml/2006/main" noGrp="1"/>
          </p:cNvSpPr>
          <p:nvPr/>
        </p:nvSpPr>
        <p:spPr>
          <a:xfrm xmlns:a="http://schemas.openxmlformats.org/drawingml/2006/main">
            <a:off x="8046720" y="1965960"/>
            <a:ext cx="35935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600" b="1">
                <a:solidFill>
                  <a:srgbClr val="EA580C"/>
                </a:solidFill>
                <a:latin typeface="Calibri"/>
                <a:ea typeface="Calibri"/>
                <a:cs typeface="Calibri"/>
              </a:rPr>
              <a:t>+$12.0M</a:t>
            </a:r>
            <a:endParaRPr sz="4600"/>
          </a:p>
        </p:txBody>
      </p:sp>
      <p:sp>
        <p:nvSpPr>
          <p:cNvPr id="15" name="Text 12">
            <a:extLst xmlns:a="http://schemas.openxmlformats.org/drawingml/2006/main">
              <a:ext uri="{FF2B5EF4-FFF2-40B4-BE49-F238E27FC236}">
                <a16:creationId xmlns:a16="http://schemas.microsoft.com/office/drawing/2014/main" id="{4A65C52E-66B7-446C-9B1E-CEAEFB34668E}"/>
              </a:ext>
            </a:extLst>
          </p:cNvPr>
          <p:cNvSpPr>
            <a:spLocks xmlns:a="http://schemas.openxmlformats.org/drawingml/2006/main" noGrp="1"/>
          </p:cNvSpPr>
          <p:nvPr/>
        </p:nvSpPr>
        <p:spPr>
          <a:xfrm xmlns:a="http://schemas.openxmlformats.org/drawingml/2006/main">
            <a:off x="8046720" y="2743200"/>
            <a:ext cx="35935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57534E"/>
                </a:solidFill>
                <a:latin typeface="Calibri"/>
                <a:ea typeface="Calibri"/>
                <a:cs typeface="Calibri"/>
              </a:rPr>
              <a:t>net annual profit uplift in the base case</a:t>
            </a:r>
            <a:endParaRPr sz="1200"/>
          </a:p>
        </p:txBody>
      </p:sp>
      <p:graphicFrame>
        <p:nvGraphicFramePr>
          <p:cNvPr id="40" name="Table 0"/>
          <p:cNvGraphicFramePr/>
          <p:nvPr/>
        </p:nvGraphicFramePr>
        <p:xfrm>
          <a:off xmlns:a="http://schemas.openxmlformats.org/drawingml/2006/main" x="8046720" y="3154680"/>
          <a:ext xmlns:a="http://schemas.openxmlformats.org/drawingml/2006/main" cx="3593592" cy="1536192"/>
        </p:xfrm>
        <a:graphic xmlns:a="http://schemas.openxmlformats.org/drawingml/2006/main">
          <a:graphicData uri="http://schemas.openxmlformats.org/drawingml/2006/table">
            <a:tbl>
              <a:tblPr/>
              <a:tblGrid>
                <a:gridCol w="1600200"/>
                <a:gridCol w="1993392"/>
              </a:tblGrid>
              <a:tr h="384048">
                <a:tc>
                  <a:txBody>
                    <a:bodyPr/>
                    <a:lstStyle/>
                    <a:p>
                      <a:pPr marL="0" indent="0">
                        <a:buNone/>
                      </a:pPr>
                      <a:r>
                        <a:rPr sz="1150">
                          <a:solidFill>
                            <a:srgbClr val="57534E"/>
                          </a:solidFill>
                          <a:latin typeface="Calibri"/>
                          <a:ea typeface="Calibri"/>
                          <a:cs typeface="Calibri"/>
                        </a:rPr>
                        <a:t>Range across scenarios</a:t>
                      </a:r>
                      <a:endParaRPr sz="115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+$5.5M to +$17.0M</a:t>
                      </a:r>
                      <a:endParaRPr sz="1150">
                        <a:latin typeface="Calibri"/>
                        <a:ea typeface="Calibri"/>
                        <a:cs typeface="Calibri"/>
                      </a:endParaRPr>
                    </a:p>
                  </a:txBody>
                  <a:tcPr marL="76200" marR="76200" marT="50800" marB="50800" anchor="ctr">
                    <a:lnL w="0" cmpd="sng">
                      <a:noFill/>
                    </a:lnL>
                    <a:lnR w="0" cmpd="sng">
                      <a:noFill/>
                    </a:lnR>
                    <a:lnT w="0" cmpd="sng">
                      <a:noFill/>
                    </a:lnT>
                    <a:lnB w="9525" cmpd="sng">
                      <a:solidFill>
                        <a:srgbClr val="D6D3D1"/>
                      </a:solidFill>
                      <a:prstDash val="solid"/>
                    </a:lnB>
                  </a:tcPr>
                </a:tc>
              </a:tr>
              <a:tr h="384048">
                <a:tc>
                  <a:txBody>
                    <a:bodyPr/>
                    <a:lstStyle/>
                    <a:p>
                      <a:pPr marL="0" indent="0">
                        <a:buNone/>
                      </a:pPr>
                      <a:r>
                        <a:rPr sz="1150">
                          <a:solidFill>
                            <a:srgbClr val="57534E"/>
                          </a:solidFill>
                          <a:latin typeface="Calibri"/>
                          <a:ea typeface="Calibri"/>
                          <a:cs typeface="Calibri"/>
                        </a:rPr>
                        <a:t>Implementation cost</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$6.0M base case</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84048">
                <a:tc>
                  <a:txBody>
                    <a:bodyPr/>
                    <a:lstStyle/>
                    <a:p>
                      <a:pPr marL="0" indent="0">
                        <a:buNone/>
                      </a:pPr>
                      <a:r>
                        <a:rPr sz="1150">
                          <a:solidFill>
                            <a:srgbClr val="57534E"/>
                          </a:solidFill>
                          <a:latin typeface="Calibri"/>
                          <a:ea typeface="Calibri"/>
                          <a:cs typeface="Calibri"/>
                        </a:rPr>
                        <a:t>Simple payback</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4.0 months</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384048">
                <a:tc>
                  <a:txBody>
                    <a:bodyPr/>
                    <a:lstStyle/>
                    <a:p>
                      <a:pPr marL="0" indent="0">
                        <a:buNone/>
                      </a:pPr>
                      <a:r>
                        <a:rPr sz="1150">
                          <a:solidFill>
                            <a:srgbClr val="57534E"/>
                          </a:solidFill>
                          <a:latin typeface="Calibri"/>
                          <a:ea typeface="Calibri"/>
                          <a:cs typeface="Calibri"/>
                        </a:rPr>
                        <a:t>Profit margin</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lgn="r">
                        <a:buNone/>
                      </a:pPr>
                      <a:r>
                        <a:rPr sz="1150" b="1">
                          <a:solidFill>
                            <a:srgbClr val="292524"/>
                          </a:solidFill>
                          <a:latin typeface="Calibri"/>
                          <a:ea typeface="Calibri"/>
                          <a:cs typeface="Calibri"/>
                        </a:rPr>
                        <a:t>9.9% to 13.0%</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17" name="Text 13">
            <a:extLst xmlns:a="http://schemas.openxmlformats.org/drawingml/2006/main">
              <a:ext uri="{FF2B5EF4-FFF2-40B4-BE49-F238E27FC236}">
                <a16:creationId xmlns:a16="http://schemas.microsoft.com/office/drawing/2014/main" id="{EFE0E8DB-41A8-498C-AA1E-1F49D7FF989A}"/>
              </a:ext>
            </a:extLst>
          </p:cNvPr>
          <p:cNvSpPr>
            <a:spLocks xmlns:a="http://schemas.openxmlformats.org/drawingml/2006/main" noGrp="1"/>
          </p:cNvSpPr>
          <p:nvPr/>
        </p:nvSpPr>
        <p:spPr>
          <a:xfrm xmlns:a="http://schemas.openxmlformats.org/drawingml/2006/main">
            <a:off x="8046720" y="4846320"/>
            <a:ext cx="359359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600"/>
              </a:spcAft>
              <a:buNone/>
            </a:pPr>
            <a:r>
              <a:rPr sz="1150">
                <a:solidFill>
                  <a:srgbClr val="292524"/>
                </a:solidFill>
                <a:latin typeface="Calibri"/>
                <a:ea typeface="Calibri"/>
                <a:cs typeface="Calibri"/>
              </a:rPr>
              <a:t>The base case starts with $18M of gross annual benefit, subtracts $6M of implementation cost, and reaches $50.4M of projected profit. Finance verifies each benefit before it enters the value ledger.</a:t>
            </a:r>
            <a:endParaRPr sz="1150"/>
          </a:p>
        </p:txBody>
      </p:sp>
      <p:sp>
        <p:nvSpPr>
          <p:cNvPr id="25" name="Slide Number Placeholder 0">
            <a:extLst xmlns:a="http://schemas.openxmlformats.org/drawingml/2006/main">
              <a:ext uri="{FF2B5EF4-FFF2-40B4-BE49-F238E27FC236}">
                <a16:creationId xmlns:a16="http://schemas.microsoft.com/office/drawing/2014/main" id="{CBBEB10D-6BC9-42DB-B0E3-CFF1EADB58A2}"/>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6893326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D32A7D-65DB-4056-B8E9-F73710237F11}"/>
              </a:ext>
            </a:extLst>
          </p:cNvPr>
          <p:cNvSpPr>
            <a:spLocks xmlns:a="http://schemas.openxmlformats.org/drawingml/2006/main" noGrp="1"/>
          </p:cNvSpPr>
          <p:nvPr/>
        </p:nvSpPr>
        <p:spPr>
          <a:xfrm xmlns:a="http://schemas.openxmlformats.org/drawingml/2006/main">
            <a:off x="548640" y="329184"/>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7534E"/>
                </a:solidFill>
                <a:latin typeface="Calibri"/>
                <a:ea typeface="Calibri"/>
                <a:cs typeface="Calibri"/>
              </a:rPr>
              <a:t>Appendix · Data</a:t>
            </a:r>
            <a:endParaRPr sz="1100"/>
          </a:p>
        </p:txBody>
      </p:sp>
      <p:sp>
        <p:nvSpPr>
          <p:cNvPr id="3" name="Text 1">
            <a:extLst xmlns:a="http://schemas.openxmlformats.org/drawingml/2006/main">
              <a:ext uri="{FF2B5EF4-FFF2-40B4-BE49-F238E27FC236}">
                <a16:creationId xmlns:a16="http://schemas.microsoft.com/office/drawing/2014/main" id="{86ADFBF2-323A-4A3B-8222-5A321D79CAAC}"/>
              </a:ext>
            </a:extLst>
          </p:cNvPr>
          <p:cNvSpPr>
            <a:spLocks xmlns:a="http://schemas.openxmlformats.org/drawingml/2006/main" noGrp="1"/>
          </p:cNvSpPr>
          <p:nvPr/>
        </p:nvSpPr>
        <p:spPr>
          <a:xfrm xmlns:a="http://schemas.openxmlformats.org/drawingml/2006/main">
            <a:off x="548640" y="585216"/>
            <a:ext cx="110944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1C1917"/>
                </a:solidFill>
                <a:latin typeface="Cambria"/>
                <a:ea typeface="Cambria"/>
                <a:cs typeface="Cambria"/>
              </a:rPr>
              <a:t>We used three datasets with no common key, so we linked them by product category and region</a:t>
            </a:r>
            <a:endParaRPr sz="2500"/>
          </a:p>
        </p:txBody>
      </p:sp>
      <p:sp>
        <p:nvSpPr>
          <p:cNvPr id="4" name="Text 2">
            <a:extLst xmlns:a="http://schemas.openxmlformats.org/drawingml/2006/main">
              <a:ext uri="{FF2B5EF4-FFF2-40B4-BE49-F238E27FC236}">
                <a16:creationId xmlns:a16="http://schemas.microsoft.com/office/drawing/2014/main" id="{3DB3A6C9-5BAC-4420-8B31-ADEE54D129FD}"/>
              </a:ext>
            </a:extLst>
          </p:cNvPr>
          <p:cNvSpPr>
            <a:spLocks xmlns:a="http://schemas.openxmlformats.org/drawingml/2006/main" noGrp="1"/>
          </p:cNvSpPr>
          <p:nvPr/>
        </p:nvSpPr>
        <p:spPr>
          <a:xfrm xmlns:a="http://schemas.openxmlformats.org/drawingml/2006/main">
            <a:off x="548640" y="6446520"/>
            <a:ext cx="10058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7534E"/>
                </a:solidFill>
                <a:latin typeface="Calibri"/>
                <a:ea typeface="Calibri"/>
                <a:cs typeface="Calibri"/>
              </a:rPr>
              <a:t>Source: HRG Data Dictionary and the three HRG datasets; Two Two Consulting data quality review.</a:t>
            </a:r>
            <a:endParaRPr sz="900"/>
          </a:p>
        </p:txBody>
      </p:sp>
      <p:graphicFrame>
        <p:nvGraphicFramePr>
          <p:cNvPr id="31" name="Table 0"/>
          <p:cNvGraphicFramePr/>
          <p:nvPr/>
        </p:nvGraphicFramePr>
        <p:xfrm>
          <a:off xmlns:a="http://schemas.openxmlformats.org/drawingml/2006/main" x="548640" y="1691640"/>
          <a:ext xmlns:a="http://schemas.openxmlformats.org/drawingml/2006/main" cx="11094415" cy="1837944"/>
        </p:xfrm>
        <a:graphic xmlns:a="http://schemas.openxmlformats.org/drawingml/2006/main">
          <a:graphicData uri="http://schemas.openxmlformats.org/drawingml/2006/table">
            <a:tbl>
              <a:tblPr/>
              <a:tblGrid>
                <a:gridCol w="2377440"/>
                <a:gridCol w="1371600"/>
                <a:gridCol w="4754880"/>
                <a:gridCol w="2590495"/>
              </a:tblGrid>
              <a:tr h="329184">
                <a:tc>
                  <a:txBody>
                    <a:bodyPr/>
                    <a:lstStyle/>
                    <a:p>
                      <a:pPr marL="0" indent="0">
                        <a:buNone/>
                      </a:pPr>
                      <a:r>
                        <a:rPr sz="1100" b="1">
                          <a:solidFill>
                            <a:srgbClr val="1C1917"/>
                          </a:solidFill>
                          <a:latin typeface="Calibri"/>
                          <a:ea typeface="Calibri"/>
                          <a:cs typeface="Calibri"/>
                        </a:rPr>
                        <a:t>Dataset</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Size</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What it covers</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What we used it for</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502920">
                <a:tc>
                  <a:txBody>
                    <a:bodyPr/>
                    <a:lstStyle/>
                    <a:p>
                      <a:pPr marL="0" indent="0">
                        <a:buNone/>
                      </a:pPr>
                      <a:r>
                        <a:rPr sz="1150" b="1">
                          <a:solidFill>
                            <a:srgbClr val="292524"/>
                          </a:solidFill>
                          <a:latin typeface="Calibri"/>
                          <a:ea typeface="Calibri"/>
                          <a:cs typeface="Calibri"/>
                        </a:rPr>
                        <a:t>Retail Profitability</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15,000 records</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Sales, pricing, promotions, labor, inventory by store, region, and category</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Where profit is made and lost</a:t>
                      </a:r>
                      <a:endParaRPr sz="115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502920">
                <a:tc>
                  <a:txBody>
                    <a:bodyPr/>
                    <a:lstStyle/>
                    <a:p>
                      <a:pPr marL="0" indent="0">
                        <a:buNone/>
                      </a:pPr>
                      <a:r>
                        <a:rPr sz="1150" b="1">
                          <a:solidFill>
                            <a:srgbClr val="292524"/>
                          </a:solidFill>
                          <a:latin typeface="Calibri"/>
                          <a:ea typeface="Calibri"/>
                          <a:cs typeface="Calibri"/>
                        </a:rPr>
                        <a:t>Customer Loyalty &amp; Retention</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18,000 customers</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Lifetime value, loyalty tier, visits, basket size, email and coupon activity, churn</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Who is worth keeping</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502920">
                <a:tc>
                  <a:txBody>
                    <a:bodyPr/>
                    <a:lstStyle/>
                    <a:p>
                      <a:pPr marL="0" indent="0">
                        <a:buNone/>
                      </a:pPr>
                      <a:r>
                        <a:rPr sz="1150" b="1">
                          <a:solidFill>
                            <a:srgbClr val="292524"/>
                          </a:solidFill>
                          <a:latin typeface="Calibri"/>
                          <a:ea typeface="Calibri"/>
                          <a:cs typeface="Calibri"/>
                        </a:rPr>
                        <a:t>Supply Chain &amp; Inventory</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12,000 records</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Suppliers, warehouses, holding and transport cost, lead time, stockouts, risk score</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50">
                          <a:solidFill>
                            <a:srgbClr val="292524"/>
                          </a:solidFill>
                          <a:latin typeface="Calibri"/>
                          <a:ea typeface="Calibri"/>
                          <a:cs typeface="Calibri"/>
                        </a:rPr>
                        <a:t>Where operations add cost and risk</a:t>
                      </a:r>
                      <a:endParaRPr sz="115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CB0524F5-7BEC-4E55-959F-4B906E3E6F4E}"/>
              </a:ext>
            </a:extLst>
          </p:cNvPr>
          <p:cNvSpPr>
            <a:spLocks xmlns:a="http://schemas.openxmlformats.org/drawingml/2006/main" noGrp="1"/>
          </p:cNvSpPr>
          <p:nvPr/>
        </p:nvSpPr>
        <p:spPr>
          <a:xfrm xmlns:a="http://schemas.openxmlformats.org/drawingml/2006/main">
            <a:off x="548640" y="38404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2410C"/>
                </a:solidFill>
                <a:latin typeface="Calibri"/>
                <a:ea typeface="Calibri"/>
                <a:cs typeface="Calibri"/>
              </a:rPr>
              <a:t>How we linked and cleaned it</a:t>
            </a:r>
            <a:endParaRPr sz="1200"/>
          </a:p>
        </p:txBody>
      </p:sp>
      <p:sp>
        <p:nvSpPr>
          <p:cNvPr id="8" name="Text 4">
            <a:extLst xmlns:a="http://schemas.openxmlformats.org/drawingml/2006/main">
              <a:ext uri="{FF2B5EF4-FFF2-40B4-BE49-F238E27FC236}">
                <a16:creationId xmlns:a16="http://schemas.microsoft.com/office/drawing/2014/main" id="{F2C7C27F-C5BE-4C40-9FCB-92E4D7E218EF}"/>
              </a:ext>
            </a:extLst>
          </p:cNvPr>
          <p:cNvSpPr>
            <a:spLocks xmlns:a="http://schemas.openxmlformats.org/drawingml/2006/main" noGrp="1"/>
          </p:cNvSpPr>
          <p:nvPr/>
        </p:nvSpPr>
        <p:spPr>
          <a:xfrm xmlns:a="http://schemas.openxmlformats.org/drawingml/2006/main">
            <a:off x="548640" y="4114800"/>
            <a:ext cx="36576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65100" indent="-165100">
              <a:spcAft>
                <a:spcPts val="500"/>
              </a:spcAft>
              <a:buSzPct val="100000"/>
              <a:buChar char="•"/>
            </a:pPr>
            <a:r>
              <a:rPr sz="1150">
                <a:solidFill>
                  <a:srgbClr val="292524"/>
                </a:solidFill>
                <a:latin typeface="Calibri"/>
                <a:ea typeface="Calibri"/>
                <a:cs typeface="Calibri"/>
              </a:rPr>
              <a:t>Only about 2-3% of cells in any column are blank (details at right). The retail and supply chain files share 8 product categories, and both carry a region (6 retail regions, 5 warehouse regions).</a:t>
            </a:r>
            <a:endParaRPr sz="1150"/>
          </a:p>
          <a:p xmlns:a="http://schemas.openxmlformats.org/drawingml/2006/main">
            <a:pPr marL="165100" indent="-165100">
              <a:spcAft>
                <a:spcPts val="500"/>
              </a:spcAft>
              <a:buSzPct val="100000"/>
              <a:buChar char="•"/>
            </a:pPr>
            <a:r>
              <a:rPr sz="1150">
                <a:solidFill>
                  <a:srgbClr val="292524"/>
                </a:solidFill>
                <a:latin typeface="Calibri"/>
                <a:ea typeface="Calibri"/>
                <a:cs typeface="Calibri"/>
              </a:rPr>
              <a:t>The customer file cannot be joined to either, so we connect its findings through KPIs and segments.</a:t>
            </a:r>
            <a:endParaRPr sz="1150"/>
          </a:p>
          <a:p xmlns:a="http://schemas.openxmlformats.org/drawingml/2006/main">
            <a:pPr marL="165100" indent="-165100">
              <a:spcAft>
                <a:spcPts val="500"/>
              </a:spcAft>
              <a:buSzPct val="100000"/>
              <a:buChar char="•"/>
            </a:pPr>
            <a:r>
              <a:rPr sz="1150">
                <a:solidFill>
                  <a:srgbClr val="292524"/>
                </a:solidFill>
                <a:latin typeface="Calibri"/>
                <a:ea typeface="Calibri"/>
                <a:cs typeface="Calibri"/>
              </a:rPr>
              <a:t>No file has a time field, so the trend comes from the packet. Store IDs appear in every region, so store results combine all region labels.</a:t>
            </a:r>
            <a:endParaRPr sz="1150"/>
          </a:p>
        </p:txBody>
      </p:sp>
      <p:graphicFrame>
        <p:nvGraphicFramePr>
          <p:cNvPr id="34" name="Table 1"/>
          <p:cNvGraphicFramePr/>
          <p:nvPr/>
        </p:nvGraphicFramePr>
        <p:xfrm>
          <a:off xmlns:a="http://schemas.openxmlformats.org/drawingml/2006/main" x="4572000" y="3840480"/>
          <a:ext xmlns:a="http://schemas.openxmlformats.org/drawingml/2006/main" cx="7068312" cy="2459736"/>
        </p:xfrm>
        <a:graphic xmlns:a="http://schemas.openxmlformats.org/drawingml/2006/main">
          <a:graphicData uri="http://schemas.openxmlformats.org/drawingml/2006/table">
            <a:tbl>
              <a:tblPr/>
              <a:tblGrid>
                <a:gridCol w="2286000"/>
                <a:gridCol w="960120"/>
                <a:gridCol w="3822192"/>
              </a:tblGrid>
              <a:tr h="310896">
                <a:tc>
                  <a:txBody>
                    <a:bodyPr/>
                    <a:lstStyle/>
                    <a:p>
                      <a:pPr marL="0" indent="0">
                        <a:buNone/>
                      </a:pPr>
                      <a:r>
                        <a:rPr sz="1100" b="1">
                          <a:solidFill>
                            <a:srgbClr val="1C1917"/>
                          </a:solidFill>
                          <a:latin typeface="Calibri"/>
                          <a:ea typeface="Calibri"/>
                          <a:cs typeface="Calibri"/>
                        </a:rPr>
                        <a:t>Data gap</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Records</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c>
                  <a:txBody>
                    <a:bodyPr/>
                    <a:lstStyle/>
                    <a:p>
                      <a:pPr marL="0" indent="0">
                        <a:buNone/>
                      </a:pPr>
                      <a:r>
                        <a:rPr sz="1100" b="1">
                          <a:solidFill>
                            <a:srgbClr val="1C1917"/>
                          </a:solidFill>
                          <a:latin typeface="Calibri"/>
                          <a:ea typeface="Calibri"/>
                          <a:cs typeface="Calibri"/>
                        </a:rPr>
                        <a:t>How we handled it</a:t>
                      </a:r>
                      <a:endParaRPr sz="1100">
                        <a:latin typeface="Calibri"/>
                        <a:ea typeface="Calibri"/>
                        <a:cs typeface="Calibri"/>
                      </a:endParaRPr>
                    </a:p>
                  </a:txBody>
                  <a:tcPr marL="76200" marR="76200" marT="50800" marB="50800" anchor="ctr">
                    <a:lnL w="0" cmpd="sng">
                      <a:noFill/>
                    </a:lnL>
                    <a:lnR w="0" cmpd="sng">
                      <a:noFill/>
                    </a:lnR>
                    <a:lnT w="0" cmpd="sng">
                      <a:noFill/>
                    </a:lnT>
                    <a:lnB w="19050" cmpd="sng">
                      <a:solidFill>
                        <a:srgbClr val="292524"/>
                      </a:solidFill>
                      <a:prstDash val="solid"/>
                    </a:lnB>
                  </a:tcPr>
                </a:tc>
              </a:tr>
              <a:tr h="502920">
                <a:tc>
                  <a:txBody>
                    <a:bodyPr/>
                    <a:lstStyle/>
                    <a:p>
                      <a:pPr marL="0" indent="0">
                        <a:buNone/>
                      </a:pPr>
                      <a:r>
                        <a:rPr sz="1100">
                          <a:solidFill>
                            <a:srgbClr val="292524"/>
                          </a:solidFill>
                          <a:latin typeface="Calibri"/>
                          <a:ea typeface="Calibri"/>
                          <a:cs typeface="Calibri"/>
                        </a:rPr>
                        <a:t>PromotionType blank (retail)</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300 (2%)</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Recovered from the discount rate (labels match it on all 14,700 filled rows); 175 turned out to be discounted</a:t>
                      </a:r>
                      <a:endParaRPr sz="1100">
                        <a:latin typeface="Calibri"/>
                        <a:ea typeface="Calibri"/>
                        <a:cs typeface="Calibri"/>
                      </a:endParaRPr>
                    </a:p>
                  </a:txBody>
                  <a:tcPr marL="76200" marR="76200" marT="50800" marB="50800" anchor="ctr">
                    <a:lnL w="0" cmpd="sng">
                      <a:noFill/>
                    </a:lnL>
                    <a:lnR w="0" cmpd="sng">
                      <a:noFill/>
                    </a:lnR>
                    <a:lnT w="19050" cmpd="sng">
                      <a:solidFill>
                        <a:srgbClr val="292524"/>
                      </a:solidFill>
                      <a:prstDash val="solid"/>
                    </a:lnT>
                    <a:lnB w="9525" cmpd="sng">
                      <a:solidFill>
                        <a:srgbClr val="D6D3D1"/>
                      </a:solidFill>
                      <a:prstDash val="solid"/>
                    </a:lnB>
                  </a:tcPr>
                </a:tc>
              </a:tr>
              <a:tr h="411480">
                <a:tc>
                  <a:txBody>
                    <a:bodyPr/>
                    <a:lstStyle/>
                    <a:p>
                      <a:pPr marL="0" indent="0">
                        <a:buNone/>
                      </a:pPr>
                      <a:r>
                        <a:rPr sz="1100">
                          <a:solidFill>
                            <a:srgbClr val="292524"/>
                          </a:solidFill>
                          <a:latin typeface="Calibri"/>
                          <a:ea typeface="Calibri"/>
                          <a:cs typeface="Calibri"/>
                        </a:rPr>
                        <a:t>Labor, turnover blank (retail)</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300 each</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Labor rebuilt from Revenue - COGS - Profit</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11480">
                <a:tc>
                  <a:txBody>
                    <a:bodyPr/>
                    <a:lstStyle/>
                    <a:p>
                      <a:pPr marL="0" indent="0">
                        <a:buNone/>
                      </a:pPr>
                      <a:r>
                        <a:rPr sz="1100">
                          <a:solidFill>
                            <a:srgbClr val="292524"/>
                          </a:solidFill>
                          <a:latin typeface="Calibri"/>
                          <a:ea typeface="Calibri"/>
                          <a:cs typeface="Calibri"/>
                        </a:rPr>
                        <a:t>Email, coupon blank (customer)</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540 each</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Median-filled and flagged; the email-blank group churns at 7.0%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11480">
                <a:tc>
                  <a:txBody>
                    <a:bodyPr/>
                    <a:lstStyle/>
                    <a:p>
                      <a:pPr marL="0" indent="0">
                        <a:buNone/>
                      </a:pPr>
                      <a:r>
                        <a:rPr sz="1100">
                          <a:solidFill>
                            <a:srgbClr val="292524"/>
                          </a:solidFill>
                          <a:latin typeface="Calibri"/>
                          <a:ea typeface="Calibri"/>
                          <a:cs typeface="Calibri"/>
                        </a:rPr>
                        <a:t>Lead time, transport blank (supply)</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240 each</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Left out of those averages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r h="411480">
                <a:tc>
                  <a:txBody>
                    <a:bodyPr/>
                    <a:lstStyle/>
                    <a:p>
                      <a:pPr marL="0" indent="0">
                        <a:buNone/>
                      </a:pPr>
                      <a:r>
                        <a:rPr sz="1100">
                          <a:solidFill>
                            <a:srgbClr val="292524"/>
                          </a:solidFill>
                          <a:latin typeface="Calibri"/>
                          <a:ea typeface="Calibri"/>
                          <a:cs typeface="Calibri"/>
                        </a:rPr>
                        <a:t>Duplicate records</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0</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c>
                  <a:txBody>
                    <a:bodyPr/>
                    <a:lstStyle/>
                    <a:p>
                      <a:pPr marL="0" indent="0">
                        <a:buNone/>
                      </a:pPr>
                      <a:r>
                        <a:rPr sz="1100">
                          <a:solidFill>
                            <a:srgbClr val="292524"/>
                          </a:solidFill>
                          <a:latin typeface="Calibri"/>
                          <a:ea typeface="Calibri"/>
                          <a:cs typeface="Calibri"/>
                        </a:rPr>
                        <a:t>None found in any file</a:t>
                      </a:r>
                      <a:endParaRPr sz="1100">
                        <a:latin typeface="Calibri"/>
                        <a:ea typeface="Calibri"/>
                        <a:cs typeface="Calibri"/>
                      </a:endParaRPr>
                    </a:p>
                  </a:txBody>
                  <a:tcPr marL="76200" marR="76200" marT="50800" marB="50800" anchor="ctr">
                    <a:lnL w="0" cmpd="sng">
                      <a:noFill/>
                    </a:lnL>
                    <a:lnR w="0" cmpd="sng">
                      <a:noFill/>
                    </a:lnR>
                    <a:lnT w="9525" cmpd="sng">
                      <a:solidFill>
                        <a:srgbClr val="D6D3D1"/>
                      </a:solidFill>
                      <a:prstDash val="solid"/>
                    </a:lnT>
                    <a:lnB w="9525" cmpd="sng">
                      <a:solidFill>
                        <a:srgbClr val="D6D3D1"/>
                      </a:solidFill>
                      <a:prstDash val="solid"/>
                    </a:lnB>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99766B29-CF5C-41B0-9A63-E8B3E7D1E2B8}"/>
              </a:ext>
            </a:extLst>
          </p:cNvPr>
          <p:cNvSpPr>
            <a:spLocks xmlns:a="http://schemas.openxmlformats.org/drawingml/2006/main" noGrp="1"/>
          </p:cNvSpPr>
          <p:nvPr>
            <p:ph type="sldNum" idx="4294967295"/>
          </p:nvPr>
        </p:nvSpPr>
        <p:spPr>
          <a:xfrm xmlns:a="http://schemas.openxmlformats.org/drawingml/2006/main">
            <a:off x="11247120" y="6446520"/>
            <a:ext cx="393192" cy="256032"/>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7534E"/>
                </a:solidFill>
                <a:latin typeface="Calibri"/>
                <a:ea typeface="Calibri"/>
                <a:cs typeface="Calibri"/>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49631611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9b81d8e28bbf48b2"/>
          <a:stretch xmlns:a="http://schemas.openxmlformats.org/drawingml/2006/main">
            <a:fillRect l="0" t="0" r="0" b="0"/>
          </a:stretch>
        </p:blipFill>
        <p:spPr>
          <a:xfrm xmlns:a="http://schemas.openxmlformats.org/drawingml/2006/main">
            <a:off x="-1" y="2661"/>
            <a:ext cx="12192001" cy="6852678"/>
          </a:xfrm>
          <a:prstGeom xmlns:a="http://schemas.openxmlformats.org/drawingml/2006/main" prst="rect">
            <a:avLst/>
          </a:prstGeom>
        </p:spPr>
      </p:pic>
    </p:spTree>
    <p:extLst>
      <p:ext uri="{BB962C8B-B14F-4D97-AF65-F5344CB8AC3E}">
        <p14:creationId xmlns:p14="http://schemas.microsoft.com/office/powerpoint/2010/main" val="40183786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2026-09-19T20:33:09.7020000Z</dcterms:created>
  <dcterms:modified xsi:type="dcterms:W3CDTF">2026-09-19T20:33:09.7020000Z</dcterms:modified>
</coreProperties>
</file>