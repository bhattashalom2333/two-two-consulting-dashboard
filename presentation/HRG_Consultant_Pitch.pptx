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ddc6b4fa3c4287" /><Relationship Type="http://schemas.openxmlformats.org/officeDocument/2006/relationships/extended-properties" Target="/docProps/app.xml" Id="R5aba98dcd44a4444" /><Relationship Type="http://schemas.openxmlformats.org/officeDocument/2006/relationships/officeDocument" Target="/ppt/presentation.xml" Id="R0b8b7ee316d64780"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d8fb405276fb4859"/>
  </p:sldMasterIdLst>
  <p:notesMasterIdLst>
    <p:notesMasterId xmlns:r="http://schemas.openxmlformats.org/officeDocument/2006/relationships" r:id="R71636a929d0d4bfb"/>
  </p:notesMasterIdLst>
  <p:sldIdLst>
    <p:sldId xmlns:r="http://schemas.openxmlformats.org/officeDocument/2006/relationships" id="256" r:id="R617202d610894344"/>
    <p:sldId xmlns:r="http://schemas.openxmlformats.org/officeDocument/2006/relationships" id="257" r:id="R1568c4f8b3644ea9"/>
    <p:sldId xmlns:r="http://schemas.openxmlformats.org/officeDocument/2006/relationships" id="258" r:id="R08afdaeabdb744ff"/>
    <p:sldId xmlns:r="http://schemas.openxmlformats.org/officeDocument/2006/relationships" id="259" r:id="Ra8a5233350c2414a"/>
    <p:sldId xmlns:r="http://schemas.openxmlformats.org/officeDocument/2006/relationships" id="260" r:id="Ra0363b187c07445e"/>
    <p:sldId xmlns:r="http://schemas.openxmlformats.org/officeDocument/2006/relationships" id="261" r:id="R05470f3db3024238"/>
    <p:sldId xmlns:r="http://schemas.openxmlformats.org/officeDocument/2006/relationships" id="262" r:id="R6e33c71d4a5146bc"/>
    <p:sldId xmlns:r="http://schemas.openxmlformats.org/officeDocument/2006/relationships" id="263" r:id="R14101739010d45c8"/>
    <p:sldId xmlns:r="http://schemas.openxmlformats.org/officeDocument/2006/relationships" id="264" r:id="R0409b1ef644041d8"/>
    <p:sldId xmlns:r="http://schemas.openxmlformats.org/officeDocument/2006/relationships" id="265" r:id="R3ca95d822a284cd5"/>
    <p:sldId xmlns:r="http://schemas.openxmlformats.org/officeDocument/2006/relationships" id="266" r:id="R0fc3a8b8d8214820"/>
  </p:sldIdLst>
  <p:sldSz cx="12192000" cy="6858000"/>
  <p:notesSz cx="6858000" cy="9144000"/>
  <p:embeddedFontLst>
    <p:embeddedFont>
      <p:font typeface="Inter"/>
      <p:bold xmlns:r="http://schemas.openxmlformats.org/officeDocument/2006/relationships" r:id="Re1f84ec3a7dc4f0c"/>
      <p:boldItalic xmlns:r="http://schemas.openxmlformats.org/officeDocument/2006/relationships" r:id="Ree5c55b1a9c4408f"/>
    </p:embeddedFont>
    <p:embeddedFont>
      <p:font typeface="Plus Jakarta Sans"/>
      <p:bold xmlns:r="http://schemas.openxmlformats.org/officeDocument/2006/relationships" r:id="R6b6cab1f46594ef1"/>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0c9f10599b14ea5" /><Relationship Type="http://schemas.openxmlformats.org/officeDocument/2006/relationships/slideMaster" Target="/ppt/slideMasters/slideMaster1.xml" Id="Rd8fb405276fb4859" /><Relationship Type="http://schemas.openxmlformats.org/officeDocument/2006/relationships/notesMaster" Target="/ppt/notesMasters/notesMaster1.xml" Id="R71636a929d0d4bfb" /><Relationship Type="http://schemas.openxmlformats.org/officeDocument/2006/relationships/presProps" Target="/ppt/presProps.xml" Id="Reb631cb8a61d4fd1" /><Relationship Type="http://schemas.openxmlformats.org/officeDocument/2006/relationships/viewProps" Target="/ppt/viewProps.xml" Id="R47bc6dd8a67c4e4b" /><Relationship Type="http://schemas.openxmlformats.org/officeDocument/2006/relationships/tableStyles" Target="/ppt/tableStyles.xml" Id="R56eeba18d02d4c8c" /><Relationship Type="http://schemas.openxmlformats.org/officeDocument/2006/relationships/font" Target="/ppt/fonts/font.dat" Id="Re1f84ec3a7dc4f0c" /><Relationship Type="http://schemas.openxmlformats.org/officeDocument/2006/relationships/font" Target="/ppt/fonts/font2.dat" Id="Ree5c55b1a9c4408f" /><Relationship Type="http://schemas.openxmlformats.org/officeDocument/2006/relationships/font" Target="/ppt/fonts/font3.dat" Id="R6b6cab1f46594ef1" /><Relationship Type="http://schemas.openxmlformats.org/officeDocument/2006/relationships/slide" Target="/ppt/slides/slide1.xml" Id="R617202d610894344" /><Relationship Type="http://schemas.openxmlformats.org/officeDocument/2006/relationships/slide" Target="/ppt/slides/slide2.xml" Id="R1568c4f8b3644ea9" /><Relationship Type="http://schemas.openxmlformats.org/officeDocument/2006/relationships/slide" Target="/ppt/slides/slide3.xml" Id="R08afdaeabdb744ff" /><Relationship Type="http://schemas.openxmlformats.org/officeDocument/2006/relationships/slide" Target="/ppt/slides/slide4.xml" Id="Ra8a5233350c2414a" /><Relationship Type="http://schemas.openxmlformats.org/officeDocument/2006/relationships/slide" Target="/ppt/slides/slide5.xml" Id="Ra0363b187c07445e" /><Relationship Type="http://schemas.openxmlformats.org/officeDocument/2006/relationships/slide" Target="/ppt/slides/slide6.xml" Id="R05470f3db3024238" /><Relationship Type="http://schemas.openxmlformats.org/officeDocument/2006/relationships/slide" Target="/ppt/slides/slide7.xml" Id="R6e33c71d4a5146bc" /><Relationship Type="http://schemas.openxmlformats.org/officeDocument/2006/relationships/slide" Target="/ppt/slides/slide8.xml" Id="R14101739010d45c8" /><Relationship Type="http://schemas.openxmlformats.org/officeDocument/2006/relationships/slide" Target="/ppt/slides/slide9.xml" Id="R0409b1ef644041d8" /><Relationship Type="http://schemas.openxmlformats.org/officeDocument/2006/relationships/slide" Target="/ppt/slides/slide10.xml" Id="R3ca95d822a284cd5" /><Relationship Type="http://schemas.openxmlformats.org/officeDocument/2006/relationships/slide" Target="/ppt/slides/slide11.xml" Id="R0fc3a8b8d82148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f04a0d2fa946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0232ed390d4cff" /><Relationship Type="http://schemas.openxmlformats.org/officeDocument/2006/relationships/notesMaster" Target="/ppt/notesMasters/notesMaster1.xml" Id="R48dbab3226d643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f497c1361374326" /><Relationship Type="http://schemas.openxmlformats.org/officeDocument/2006/relationships/notesMaster" Target="/ppt/notesMasters/notesMaster1.xml" Id="R601d3ec0b35f4c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babefc27974bd5" /><Relationship Type="http://schemas.openxmlformats.org/officeDocument/2006/relationships/notesMaster" Target="/ppt/notesMasters/notesMaster1.xml" Id="Read00c20a93e4fa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7ecb02817f941a5" /><Relationship Type="http://schemas.openxmlformats.org/officeDocument/2006/relationships/notesMaster" Target="/ppt/notesMasters/notesMaster1.xml" Id="Ra4d77255bd2445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fdd9c88b0a4e69" /><Relationship Type="http://schemas.openxmlformats.org/officeDocument/2006/relationships/notesMaster" Target="/ppt/notesMasters/notesMaster1.xml" Id="R9eb229d5f83949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2278d9f9be4c72" /><Relationship Type="http://schemas.openxmlformats.org/officeDocument/2006/relationships/notesMaster" Target="/ppt/notesMasters/notesMaster1.xml" Id="Re4f1eda6865c45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59b89eb136a14eb1" /><Relationship Type="http://schemas.openxmlformats.org/officeDocument/2006/relationships/notesMaster" Target="/ppt/notesMasters/notesMaster1.xml" Id="R24998c435dd14793"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6ff9dd512548ac" /><Relationship Type="http://schemas.openxmlformats.org/officeDocument/2006/relationships/notesMaster" Target="/ppt/notesMasters/notesMaster1.xml" Id="R7e75778a77e64a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5fdc446a764c27" /><Relationship Type="http://schemas.openxmlformats.org/officeDocument/2006/relationships/notesMaster" Target="/ppt/notesMasters/notesMaster1.xml" Id="R41978faae7a34f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e3d3b0a21548cf" /><Relationship Type="http://schemas.openxmlformats.org/officeDocument/2006/relationships/notesMaster" Target="/ppt/notesMasters/notesMaster1.xml" Id="Rdaefa6414f5743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924e9fbb654c20" /><Relationship Type="http://schemas.openxmlformats.org/officeDocument/2006/relationships/notesMaster" Target="/ppt/notesMasters/notesMaster1.xml" Id="Re698e624914a45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Two Two Consulting. We will start with the outcome HRG wants, show the dashboard in one minute, then walk through the evidence, the operating plan, and the three decisions required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destination is 12 million dollars in verified net annual profit uplift. The base case lifts projected profit from 38.4 to 50.4 million dollars and margin from 9.9 to 13 percent, holding revenue constant. Finance books value only after the evidence clears the agreed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one-minute dashboard demonstration. I will select one of the four priority problems, change the region or offer assumption, and show the recommended owner and threshold. The action plan lets the client choose commitments, record the three board approvals, and export the result. The live link is https://bhattashalom2333.github.io/two-two-consulting-dashboard/.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reason to act is the widening gap between revenue and profit. Revenue growth reached 12.7 percent in 2025 while profit growth fell to negative 4.8 percent. Leadership estimates annual profit leakage at 18 to 25 million dollars.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HRG has seven problem areas. The Q1 and Q2 plan focuses on promotion margin, loss-making sales, churn risk, and customer value because the current data supports immediate owners and controlled tests. Slow inventory, supply chain, and logistics move into Q3 after Finance reconciles the operating baseline. The dashboard fixes the reporting gap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solution converts the four priority problems into four decisions: install promotion guardrails, assign loss pockets, protect high-value customers at risk, and replace loyalty-tier targeting with customer value and risk. The combined base-case net value is 12 million dollars.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promotion evidence is direct. BOGO margin is negative 16.4 percent and Clearance margin is negative 35.6 percent. Neither produces a measurable unit lift. HRG should require a margin floor, a campaign ROI threshold, a holdout group, and a stop rule before funding a deep offer.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dashboard ranks value and risk together. It identifies 1,408 high-value customers at the greatest modeled risk. The first pilot uses a capped 10 percent offer, a 15 percent untreated group, and a 90-day retained-value readout.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base case starts with 18 million dollars of gross benefit and subtracts 6 million dollars of implementation cost. The result is 12 million dollars of net annual profit uplift. These are planning scenarios, so Finance requires a reconciled baseline, a valid comparison, all costs, and two positive reads.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plan runs for 180 days. HRG controls leakage first, runs two narrow pilots, proves incremental value, and scales only the rules that clear the evidence gate. Q2 prepares the cost baseline for the Q3 supply chain and logistics workstream.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need three decisions today: approve the promotion guardrails, name one executive value owner, and fund the dashboard and two controlled pilots within the 6 million dollar envelope. The Q3 operating case returns after Finance completes the reconciliation.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7ea8a7511d430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25bdfd7ec0b4f1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f8ed32c69a845e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b1c0090e9ca40d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35f978233374af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df71b2bc7c4357"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909efad3d1b48e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80570658b214cb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92881a9f201c419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c841e8d8beee4c8b"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0942e2824dc34492"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DD900E-ECD2-433E-B81F-442687CFA17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61BD4869-9B3E-440D-AF86-18C1CBBEB51D}"/>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6219B00F-66FF-49CC-AA85-BF19E3A80DA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5" name="Footer Placeholder 4">
            <a:extLst xmlns:a="http://schemas.openxmlformats.org/drawingml/2006/main">
              <a:ext uri="{FF2B5EF4-FFF2-40B4-BE49-F238E27FC236}">
                <a16:creationId xmlns:a16="http://schemas.microsoft.com/office/drawing/2014/main" id="{E3FFE179-6F9D-4617-85EE-299A058C604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7D55571-EB8D-4056-B86B-4098F0821C8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35EA962-1233-47C8-837D-F7E2E9CD1E7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8750668-FC77-4074-A0F1-2028A29719B0}"/>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57DC51FC-B662-43E5-8A7E-5CCCF1030EA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5" name="Footer Placeholder 4">
            <a:extLst xmlns:a="http://schemas.openxmlformats.org/drawingml/2006/main">
              <a:ext uri="{FF2B5EF4-FFF2-40B4-BE49-F238E27FC236}">
                <a16:creationId xmlns:a16="http://schemas.microsoft.com/office/drawing/2014/main" id="{5E5D8B3A-4DBA-4B2A-8A6C-4132C713964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95D6CFD-7FD5-4ADC-A704-755DF2004D9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C941EBF-BBB4-4DC1-9D59-277F9FDB40B4}"/>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55BBBB5-7369-43CF-BABD-30C6339E48C4}"/>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59A260B3-5175-4EDA-9D34-0D1D2739AC1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5" name="Footer Placeholder 4">
            <a:extLst xmlns:a="http://schemas.openxmlformats.org/drawingml/2006/main">
              <a:ext uri="{FF2B5EF4-FFF2-40B4-BE49-F238E27FC236}">
                <a16:creationId xmlns:a16="http://schemas.microsoft.com/office/drawing/2014/main" id="{135549EB-F39D-4139-8017-0F0E8C5F027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498F087-0CAE-4349-BB40-53EB427311C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A38F7F4-3318-4E4E-B394-6678F18E468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2288C36-556A-4454-A11C-CE4F9DDFA63B}"/>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EAC4BFE1-38CC-4D86-8D58-EF4EAA9E2A08}"/>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4D5B48-A8D5-47E6-98FF-B48168A592D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6" name="Footer Placeholder 5">
            <a:extLst xmlns:a="http://schemas.openxmlformats.org/drawingml/2006/main">
              <a:ext uri="{FF2B5EF4-FFF2-40B4-BE49-F238E27FC236}">
                <a16:creationId xmlns:a16="http://schemas.microsoft.com/office/drawing/2014/main" id="{0B3CD64F-407F-4FDF-8083-D24E488509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3E2763E-AA0F-42FD-9A98-E0F677CF3B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11F71E4-571F-48FD-86D9-0AC1F3F2757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FF219F39-B298-4390-BE75-AE1DE529988B}"/>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8D8854A5-4F75-4CFB-BE84-26854AE1A13A}"/>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F873AF90-1583-4F5B-914D-76C2E4B4681F}"/>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520B309B-76D3-498C-B6C4-66B79AD0E5C1}"/>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8CC2D97B-4CFE-4871-AA69-86E5E53B6D4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8" name="Footer Placeholder 7">
            <a:extLst xmlns:a="http://schemas.openxmlformats.org/drawingml/2006/main">
              <a:ext uri="{FF2B5EF4-FFF2-40B4-BE49-F238E27FC236}">
                <a16:creationId xmlns:a16="http://schemas.microsoft.com/office/drawing/2014/main" id="{A332D607-960E-47BC-92A2-A42E551C456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C697106-2922-4F77-8C9A-37E8F33E1D6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6CB100E-7D11-4CB3-9B1F-5BEA51B4ED5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90224C0E-952A-4665-843A-9C2E002575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4" name="Footer Placeholder 3">
            <a:extLst xmlns:a="http://schemas.openxmlformats.org/drawingml/2006/main">
              <a:ext uri="{FF2B5EF4-FFF2-40B4-BE49-F238E27FC236}">
                <a16:creationId xmlns:a16="http://schemas.microsoft.com/office/drawing/2014/main" id="{1849BBA3-F867-469C-A8D0-19D2E1490D6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6E2C7643-09BE-4FF1-A2C3-CDB647AA56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942732CE-D01F-4B41-B7DE-2F1E597A01D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3" name="Footer Placeholder 2">
            <a:extLst xmlns:a="http://schemas.openxmlformats.org/drawingml/2006/main">
              <a:ext uri="{FF2B5EF4-FFF2-40B4-BE49-F238E27FC236}">
                <a16:creationId xmlns:a16="http://schemas.microsoft.com/office/drawing/2014/main" id="{40772CFD-30A0-4F7C-B31A-569AA7BE9B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E24543A1-B11D-459F-99A4-97F1DCDA05A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C531861-9ED2-41E3-89E2-175E7EBD68DA}"/>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C8E8181-FBDB-4413-BB70-BF07854D0F71}"/>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E5D8778D-9C83-43DB-9E79-65A83207181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BFCCA38-F26A-4E9F-9239-832A8A52222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6" name="Footer Placeholder 5">
            <a:extLst xmlns:a="http://schemas.openxmlformats.org/drawingml/2006/main">
              <a:ext uri="{FF2B5EF4-FFF2-40B4-BE49-F238E27FC236}">
                <a16:creationId xmlns:a16="http://schemas.microsoft.com/office/drawing/2014/main" id="{75F89DBD-AE18-4B11-BFC4-C94EE3F0FE4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3D103DA-48E6-4DD5-A33B-A9F73ACFE18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3C425C-D3C0-4975-BC43-3B5E3CB78BF3}"/>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6E1C89F9-D94F-4963-B527-53B7A84DC43A}"/>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79FBF938-F7A9-4116-899B-4B634AA56B3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51EB5933-D50D-4321-AC8A-2AFD572F8B0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6" name="Footer Placeholder 5">
            <a:extLst xmlns:a="http://schemas.openxmlformats.org/drawingml/2006/main">
              <a:ext uri="{FF2B5EF4-FFF2-40B4-BE49-F238E27FC236}">
                <a16:creationId xmlns:a16="http://schemas.microsoft.com/office/drawing/2014/main" id="{020DB4DF-DCB7-499C-8107-4855435D91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C30CF6C-7341-4383-ABFD-805C2EED78A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EE3DD65-2E40-460A-92B3-F338763103C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68D1613C-3017-43D8-922B-E6FFC70DCFAE}"/>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627D4D5C-06B4-4B5E-BAD2-BAC93ACD223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5" name="Footer Placeholder 4">
            <a:extLst xmlns:a="http://schemas.openxmlformats.org/drawingml/2006/main">
              <a:ext uri="{FF2B5EF4-FFF2-40B4-BE49-F238E27FC236}">
                <a16:creationId xmlns:a16="http://schemas.microsoft.com/office/drawing/2014/main" id="{07FB2AFD-3F3F-4600-9FE5-1AFAD07A036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48779DD-70FC-4592-B557-FAADE4D5375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08599FD-430E-4C1B-8FAD-4E39059ED692}"/>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3D3D6342-FCE3-4387-BEC3-7691E0708A91}"/>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897957F-3E3B-4BBF-B4BA-BB30F462D07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9/19/26</a:t>
            </a:fld>
            <a:endParaRPr/>
          </a:p>
        </p:txBody>
      </p:sp>
      <p:sp>
        <p:nvSpPr>
          <p:cNvPr id="5" name="Footer Placeholder 4">
            <a:extLst xmlns:a="http://schemas.openxmlformats.org/drawingml/2006/main">
              <a:ext uri="{FF2B5EF4-FFF2-40B4-BE49-F238E27FC236}">
                <a16:creationId xmlns:a16="http://schemas.microsoft.com/office/drawing/2014/main" id="{2EA58273-D34C-4B40-90A0-F0BA76457E7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84550A4-E735-477B-AC72-3FBA5B23879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ebc05198084082" /><Relationship Type="http://schemas.openxmlformats.org/officeDocument/2006/relationships/slideLayout" Target="/ppt/slideLayouts/slideLayout1.xml" Id="R26b952b44b8b416d" /><Relationship Type="http://schemas.openxmlformats.org/officeDocument/2006/relationships/slideLayout" Target="/ppt/slideLayouts/slideLayout2.xml" Id="Ree70c32012b8454d" /><Relationship Type="http://schemas.openxmlformats.org/officeDocument/2006/relationships/slideLayout" Target="/ppt/slideLayouts/slideLayout3.xml" Id="R35110a79008d4782" /><Relationship Type="http://schemas.openxmlformats.org/officeDocument/2006/relationships/slideLayout" Target="/ppt/slideLayouts/slideLayout4.xml" Id="Rf78c6d4f88b246cb" /><Relationship Type="http://schemas.openxmlformats.org/officeDocument/2006/relationships/slideLayout" Target="/ppt/slideLayouts/slideLayout5.xml" Id="R1f349082c2b74870" /><Relationship Type="http://schemas.openxmlformats.org/officeDocument/2006/relationships/slideLayout" Target="/ppt/slideLayouts/slideLayout6.xml" Id="R7891f719575b42c5" /><Relationship Type="http://schemas.openxmlformats.org/officeDocument/2006/relationships/slideLayout" Target="/ppt/slideLayouts/slideLayout7.xml" Id="R309566a3f0ee49cb" /><Relationship Type="http://schemas.openxmlformats.org/officeDocument/2006/relationships/slideLayout" Target="/ppt/slideLayouts/slideLayout8.xml" Id="R95463e012e914115" /><Relationship Type="http://schemas.openxmlformats.org/officeDocument/2006/relationships/slideLayout" Target="/ppt/slideLayouts/slideLayout9.xml" Id="R5df718fdde094312" /><Relationship Type="http://schemas.openxmlformats.org/officeDocument/2006/relationships/slideLayout" Target="/ppt/slideLayouts/slideLayout10.xml" Id="Ra59471f4506d4564" /><Relationship Type="http://schemas.openxmlformats.org/officeDocument/2006/relationships/slideLayout" Target="/ppt/slideLayouts/slideLayout11.xml" Id="R5cb11110fd904b3f"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A99A41D-99F3-42F9-873C-B96784C77970}"/>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FF8BFA2-D5D8-41D4-9C86-8BF1D535BBF5}"/>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030E7937-A811-4C44-BC49-2C2B6645C6F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9/19/26</a:t>
            </a:fld>
            <a:endParaRPr/>
          </a:p>
        </p:txBody>
      </p:sp>
      <p:sp>
        <p:nvSpPr>
          <p:cNvPr id="5" name="Footer Placeholder 4">
            <a:extLst xmlns:a="http://schemas.openxmlformats.org/drawingml/2006/main">
              <a:ext uri="{FF2B5EF4-FFF2-40B4-BE49-F238E27FC236}">
                <a16:creationId xmlns:a16="http://schemas.microsoft.com/office/drawing/2014/main" id="{4D3B7CBD-0959-4D21-A038-9186464D862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962906B-781D-400D-9ECB-F4836F32A55B}"/>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6b952b44b8b416d"/>
    <p:sldLayoutId xmlns:r="http://schemas.openxmlformats.org/officeDocument/2006/relationships" id="2147483650" r:id="Ree70c32012b8454d"/>
    <p:sldLayoutId xmlns:r="http://schemas.openxmlformats.org/officeDocument/2006/relationships" id="2147483651" r:id="R35110a79008d4782"/>
    <p:sldLayoutId xmlns:r="http://schemas.openxmlformats.org/officeDocument/2006/relationships" id="2147483652" r:id="Rf78c6d4f88b246cb"/>
    <p:sldLayoutId xmlns:r="http://schemas.openxmlformats.org/officeDocument/2006/relationships" id="2147483653" r:id="R1f349082c2b74870"/>
    <p:sldLayoutId xmlns:r="http://schemas.openxmlformats.org/officeDocument/2006/relationships" id="2147483654" r:id="R7891f719575b42c5"/>
    <p:sldLayoutId xmlns:r="http://schemas.openxmlformats.org/officeDocument/2006/relationships" id="2147483655" r:id="R309566a3f0ee49cb"/>
    <p:sldLayoutId xmlns:r="http://schemas.openxmlformats.org/officeDocument/2006/relationships" id="2147483656" r:id="R95463e012e914115"/>
    <p:sldLayoutId xmlns:r="http://schemas.openxmlformats.org/officeDocument/2006/relationships" id="2147483657" r:id="R5df718fdde094312"/>
    <p:sldLayoutId xmlns:r="http://schemas.openxmlformats.org/officeDocument/2006/relationships" id="2147483658" r:id="Ra59471f4506d4564"/>
    <p:sldLayoutId xmlns:r="http://schemas.openxmlformats.org/officeDocument/2006/relationships" id="2147483659" r:id="R5cb11110fd904b3f"/>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81f37b4699514e7e" /><Relationship Type="http://schemas.openxmlformats.org/officeDocument/2006/relationships/notesSlide" Target="/ppt/notesSlides/notesSlide1.xml" Id="R685b6a71162e44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d03ff67e3b124c1d" /><Relationship Type="http://schemas.openxmlformats.org/officeDocument/2006/relationships/notesSlide" Target="/ppt/notesSlides/notesSlide2.xml" Id="Rcc600505bad74f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d04fae285e4c48cf" /><Relationship Type="http://schemas.openxmlformats.org/officeDocument/2006/relationships/image" Target="/ppt/media/image.png" Id="Rcda3ce214e6d449d" /><Relationship Type="http://schemas.openxmlformats.org/officeDocument/2006/relationships/notesSlide" Target="/ppt/notesSlides/notesSlide3.xml" Id="Rd8f1470e480c4297"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04628d2302e42b9" /><Relationship Type="http://schemas.openxmlformats.org/officeDocument/2006/relationships/image" Target="/ppt/media/image2.png" Id="R76fd34a6029a4f88" /><Relationship Type="http://schemas.openxmlformats.org/officeDocument/2006/relationships/notesSlide" Target="/ppt/notesSlides/notesSlide4.xml" Id="Rd4b44bd752f04deb"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11ce019bda6346c8" /><Relationship Type="http://schemas.openxmlformats.org/officeDocument/2006/relationships/notesSlide" Target="/ppt/notesSlides/notesSlide5.xml" Id="Rfed82a0fd1df4e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24f140f1c5144f73" /><Relationship Type="http://schemas.openxmlformats.org/officeDocument/2006/relationships/notesSlide" Target="/ppt/notesSlides/notesSlide6.xml" Id="R5e35a795c88c404b"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3eced78f51aa4eda" /><Relationship Type="http://schemas.openxmlformats.org/officeDocument/2006/relationships/notesSlide" Target="/ppt/notesSlides/notesSlide7.xml" Id="R3297610fdfd8429e"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40707e56449a45b1" /><Relationship Type="http://schemas.openxmlformats.org/officeDocument/2006/relationships/notesSlide" Target="/ppt/notesSlides/notesSlide8.xml" Id="Rc7bef13b014940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297b3d306512459d" /><Relationship Type="http://schemas.openxmlformats.org/officeDocument/2006/relationships/notesSlide" Target="/ppt/notesSlides/notesSlide9.xml" Id="Rc989b0023c534d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70bb18dbe38c451c" /><Relationship Type="http://schemas.openxmlformats.org/officeDocument/2006/relationships/notesSlide" Target="/ppt/notesSlides/notesSlide10.xml" Id="Rb389b7b4cd99411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dc93696046814b63" /><Relationship Type="http://schemas.openxmlformats.org/officeDocument/2006/relationships/notesSlide" Target="/ppt/notesSlides/notesSlide11.xml" Id="R7fe9d61b134f43b1" /></Relationships>
</file>

<file path=ppt/slides/slide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39B519F-236A-4C94-AAD8-4C6C7DC5C212}"/>
              </a:ext>
            </a:extLst>
          </p:cNvPr>
          <p:cNvSpPr>
            <a:spLocks xmlns:a="http://schemas.openxmlformats.org/drawingml/2006/main" noGrp="1"/>
          </p:cNvSpPr>
          <p:nvPr/>
        </p:nvSpPr>
        <p:spPr>
          <a:xfrm xmlns:a="http://schemas.openxmlformats.org/drawingml/2006/main">
            <a:off x="533400" y="5695950"/>
            <a:ext cx="11125200" cy="628650"/>
          </a:xfrm>
          <a:prstGeom xmlns:a="http://schemas.openxmlformats.org/drawingml/2006/main" prst="rect">
            <a:avLst/>
          </a:prstGeom>
          <a:noFill xmlns:a="http://schemas.openxmlformats.org/drawingml/2006/main"/>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ectangle 2">
            <a:extLst xmlns:a="http://schemas.openxmlformats.org/drawingml/2006/main">
              <a:ext uri="{FF2B5EF4-FFF2-40B4-BE49-F238E27FC236}">
                <a16:creationId xmlns:a16="http://schemas.microsoft.com/office/drawing/2014/main" id="{E89788E5-5BEA-4B22-80E8-76EC3D22EFDF}"/>
              </a:ext>
            </a:extLst>
          </p:cNvPr>
          <p:cNvSpPr>
            <a:spLocks xmlns:a="http://schemas.openxmlformats.org/drawingml/2006/main" noGrp="1"/>
          </p:cNvSpPr>
          <p:nvPr/>
        </p:nvSpPr>
        <p:spPr>
          <a:xfrm xmlns:a="http://schemas.openxmlformats.org/drawingml/2006/main">
            <a:off x="533400" y="5695950"/>
            <a:ext cx="11125200" cy="9525"/>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A44105B4-E27D-402B-A369-93E22A82A6F6}"/>
              </a:ext>
            </a:extLst>
          </p:cNvPr>
          <p:cNvSpPr>
            <a:spLocks xmlns:a="http://schemas.openxmlformats.org/drawingml/2006/main" noGrp="1"/>
          </p:cNvSpPr>
          <p:nvPr/>
        </p:nvSpPr>
        <p:spPr>
          <a:xfrm xmlns:a="http://schemas.openxmlformats.org/drawingml/2006/main">
            <a:off x="533400" y="533400"/>
            <a:ext cx="438150" cy="333375"/>
          </a:xfrm>
          <a:prstGeom xmlns:a="http://schemas.openxmlformats.org/drawingml/2006/main" prst="roundRect">
            <a:avLst>
              <a:gd name="adj" fmla="val 17142"/>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TextBox 4">
            <a:extLst xmlns:a="http://schemas.openxmlformats.org/drawingml/2006/main">
              <a:ext uri="{FF2B5EF4-FFF2-40B4-BE49-F238E27FC236}">
                <a16:creationId xmlns:a16="http://schemas.microsoft.com/office/drawing/2014/main" id="{DD142761-2F8A-4B73-948A-16794AFCE77D}"/>
              </a:ext>
            </a:extLst>
          </p:cNvPr>
          <p:cNvSpPr>
            <a:spLocks xmlns:a="http://schemas.openxmlformats.org/drawingml/2006/main" noGrp="1"/>
          </p:cNvSpPr>
          <p:nvPr/>
        </p:nvSpPr>
        <p:spPr>
          <a:xfrm xmlns:a="http://schemas.openxmlformats.org/drawingml/2006/main">
            <a:off x="9477375" y="609600"/>
            <a:ext cx="2714625"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0" i="0" u="none">
                <a:solidFill>
                  <a:srgbClr val="94A3B8"/>
                </a:solidFill>
                <a:latin typeface="Inter"/>
                <a:ea typeface="Inter"/>
                <a:cs typeface="Inter"/>
              </a:rPr>
              <a:t>Board of Directors Presentation</a:t>
            </a:r>
          </a:p>
        </p:txBody>
      </p:sp>
      <p:sp>
        <p:nvSpPr>
          <p:cNvPr id="6" name="TextBox 5">
            <a:extLst xmlns:a="http://schemas.openxmlformats.org/drawingml/2006/main">
              <a:ext uri="{FF2B5EF4-FFF2-40B4-BE49-F238E27FC236}">
                <a16:creationId xmlns:a16="http://schemas.microsoft.com/office/drawing/2014/main" id="{3C0ECE49-7FB5-4F2F-B253-719626ECE421}"/>
              </a:ext>
            </a:extLst>
          </p:cNvPr>
          <p:cNvSpPr>
            <a:spLocks xmlns:a="http://schemas.openxmlformats.org/drawingml/2006/main" noGrp="1"/>
          </p:cNvSpPr>
          <p:nvPr/>
        </p:nvSpPr>
        <p:spPr>
          <a:xfrm xmlns:a="http://schemas.openxmlformats.org/drawingml/2006/main">
            <a:off x="533400" y="2149822"/>
            <a:ext cx="10953750"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HORIZON RETAIL GROUP (HRG)</a:t>
            </a:r>
          </a:p>
        </p:txBody>
      </p:sp>
      <p:sp>
        <p:nvSpPr>
          <p:cNvPr id="7" name="TextBox 6">
            <a:extLst xmlns:a="http://schemas.openxmlformats.org/drawingml/2006/main">
              <a:ext uri="{FF2B5EF4-FFF2-40B4-BE49-F238E27FC236}">
                <a16:creationId xmlns:a16="http://schemas.microsoft.com/office/drawing/2014/main" id="{83CE11A9-557D-43EA-830D-B53E05CA380E}"/>
              </a:ext>
            </a:extLst>
          </p:cNvPr>
          <p:cNvSpPr>
            <a:spLocks xmlns:a="http://schemas.openxmlformats.org/drawingml/2006/main" noGrp="1"/>
          </p:cNvSpPr>
          <p:nvPr/>
        </p:nvSpPr>
        <p:spPr>
          <a:xfrm xmlns:a="http://schemas.openxmlformats.org/drawingml/2006/main">
            <a:off x="533400" y="2473672"/>
            <a:ext cx="9301162" cy="113913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4484"/>
              </a:lnSpc>
              <a:buNone/>
            </a:pPr>
            <a:r>
              <a:rPr sz="3900" b="1" i="0" u="none">
                <a:solidFill>
                  <a:srgbClr val="FFFFFF"/>
                </a:solidFill>
                <a:latin typeface="Plus Jakarta Sans"/>
                <a:ea typeface="Plus Jakarta Sans"/>
                <a:cs typeface="Plus Jakarta Sans"/>
              </a:rPr>
              <a:t>Turning Growth into Profitable Customer Value</a:t>
            </a:r>
          </a:p>
        </p:txBody>
      </p:sp>
      <p:sp>
        <p:nvSpPr>
          <p:cNvPr id="8" name="TextBox 7">
            <a:extLst xmlns:a="http://schemas.openxmlformats.org/drawingml/2006/main">
              <a:ext uri="{FF2B5EF4-FFF2-40B4-BE49-F238E27FC236}">
                <a16:creationId xmlns:a16="http://schemas.microsoft.com/office/drawing/2014/main" id="{BFBC3DB9-F60E-4E02-9C3A-A5F67199C547}"/>
              </a:ext>
            </a:extLst>
          </p:cNvPr>
          <p:cNvSpPr>
            <a:spLocks xmlns:a="http://schemas.openxmlformats.org/drawingml/2006/main" noGrp="1"/>
          </p:cNvSpPr>
          <p:nvPr/>
        </p:nvSpPr>
        <p:spPr>
          <a:xfrm xmlns:a="http://schemas.openxmlformats.org/drawingml/2006/main">
            <a:off x="533400" y="3841402"/>
            <a:ext cx="7334250" cy="5715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2250"/>
              </a:lnSpc>
              <a:buNone/>
            </a:pPr>
            <a:r>
              <a:rPr sz="1500" b="0" i="0" u="none">
                <a:solidFill>
                  <a:srgbClr val="94A3B8"/>
                </a:solidFill>
                <a:latin typeface="Inter"/>
                <a:ea typeface="Inter"/>
                <a:cs typeface="Inter"/>
              </a:rPr>
              <a:t>A focused Q1–Q2 plan to recover $12.0M in net annual profit and prepare the Q3 operating case.</a:t>
            </a:r>
          </a:p>
        </p:txBody>
      </p:sp>
      <p:sp>
        <p:nvSpPr>
          <p:cNvPr id="9" name="TextBox 8">
            <a:extLst xmlns:a="http://schemas.openxmlformats.org/drawingml/2006/main">
              <a:ext uri="{FF2B5EF4-FFF2-40B4-BE49-F238E27FC236}">
                <a16:creationId xmlns:a16="http://schemas.microsoft.com/office/drawing/2014/main" id="{1AA67E3A-AB1C-4F2F-9D37-8A8DC4770186}"/>
              </a:ext>
            </a:extLst>
          </p:cNvPr>
          <p:cNvSpPr>
            <a:spLocks xmlns:a="http://schemas.openxmlformats.org/drawingml/2006/main" noGrp="1"/>
          </p:cNvSpPr>
          <p:nvPr/>
        </p:nvSpPr>
        <p:spPr>
          <a:xfrm xmlns:a="http://schemas.openxmlformats.org/drawingml/2006/main">
            <a:off x="647700" y="590550"/>
            <a:ext cx="3048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50" b="1" i="0" u="none">
                <a:solidFill>
                  <a:srgbClr val="FFFFFF"/>
                </a:solidFill>
                <a:latin typeface="Plus Jakarta Sans"/>
                <a:ea typeface="Plus Jakarta Sans"/>
                <a:cs typeface="Plus Jakarta Sans"/>
              </a:rPr>
              <a:t>22</a:t>
            </a:r>
          </a:p>
        </p:txBody>
      </p:sp>
      <p:sp>
        <p:nvSpPr>
          <p:cNvPr id="10" name="TextBox 9">
            <a:extLst xmlns:a="http://schemas.openxmlformats.org/drawingml/2006/main">
              <a:ext uri="{FF2B5EF4-FFF2-40B4-BE49-F238E27FC236}">
                <a16:creationId xmlns:a16="http://schemas.microsoft.com/office/drawing/2014/main" id="{F54A9FE6-A746-4C25-92F0-B60DF57044BD}"/>
              </a:ext>
            </a:extLst>
          </p:cNvPr>
          <p:cNvSpPr>
            <a:spLocks xmlns:a="http://schemas.openxmlformats.org/drawingml/2006/main" noGrp="1"/>
          </p:cNvSpPr>
          <p:nvPr/>
        </p:nvSpPr>
        <p:spPr>
          <a:xfrm xmlns:a="http://schemas.openxmlformats.org/drawingml/2006/main">
            <a:off x="1085850" y="600075"/>
            <a:ext cx="2464593"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i="0" u="none">
                <a:solidFill>
                  <a:srgbClr val="FFFFFF"/>
                </a:solidFill>
                <a:latin typeface="Plus Jakarta Sans"/>
                <a:ea typeface="Plus Jakarta Sans"/>
                <a:cs typeface="Plus Jakarta Sans"/>
              </a:rPr>
              <a:t>TWO TWO CONSULTING</a:t>
            </a:r>
          </a:p>
        </p:txBody>
      </p:sp>
      <p:sp>
        <p:nvSpPr>
          <p:cNvPr id="12" name="TextBox 11">
            <a:extLst xmlns:a="http://schemas.openxmlformats.org/drawingml/2006/main">
              <a:ext uri="{FF2B5EF4-FFF2-40B4-BE49-F238E27FC236}">
                <a16:creationId xmlns:a16="http://schemas.microsoft.com/office/drawing/2014/main" id="{0450BFC9-D0CE-4D06-B39E-D417B9098830}"/>
              </a:ext>
            </a:extLst>
          </p:cNvPr>
          <p:cNvSpPr>
            <a:spLocks xmlns:a="http://schemas.openxmlformats.org/drawingml/2006/main" noGrp="1"/>
          </p:cNvSpPr>
          <p:nvPr/>
        </p:nvSpPr>
        <p:spPr>
          <a:xfrm xmlns:a="http://schemas.openxmlformats.org/drawingml/2006/main">
            <a:off x="383381" y="5934075"/>
            <a:ext cx="9601200" cy="36933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r>
              <a:rPr sz="1200">
                <a:solidFill>
                  <a:schemeClr val="bg1"/>
                </a:solidFill>
              </a:rPr>
              <a:t>Team (Group 2): Shalom Bhatta, Sangam Dahal, </a:t>
            </a:r>
            <a:r>
              <a:rPr sz="1200">
                <a:solidFill>
                  <a:schemeClr val="bg1"/>
                </a:solidFill>
              </a:rPr>
              <a:t>Suyashkumar</a:t>
            </a:r>
            <a:r>
              <a:rPr sz="1200">
                <a:solidFill>
                  <a:schemeClr val="bg1"/>
                </a:solidFill>
              </a:rPr>
              <a:t> Chavan, Jiabao Chen, Rohit Varma Chekuri, Gopal Rao </a:t>
            </a:r>
            <a:r>
              <a:rPr sz="1200">
                <a:solidFill>
                  <a:schemeClr val="bg1"/>
                </a:solidFill>
              </a:rPr>
              <a:t>Desineni</a:t>
            </a:r>
            <a:r>
              <a:rPr sz="1200">
                <a:solidFill>
                  <a:schemeClr val="bg1"/>
                </a:solidFill>
              </a:rPr>
              <a:t>, </a:t>
            </a:r>
            <a:r>
              <a:rPr sz="1200">
                <a:solidFill>
                  <a:schemeClr val="bg1"/>
                </a:solidFill>
              </a:rPr>
              <a:t>Kanhav</a:t>
            </a:r>
            <a:r>
              <a:rPr sz="1200">
                <a:solidFill>
                  <a:schemeClr val="bg1"/>
                </a:solidFill>
              </a:rPr>
              <a:t> Bhatt, Abhishek Dipakkumar Contractor, Andrea Miguel Colmenares, Maria Eduarda Cesconetto</a:t>
            </a:r>
            <a:endParaRPr sz="1200">
              <a:solidFill>
                <a:schemeClr val="bg1"/>
              </a:solidFill>
            </a:endParaRPr>
          </a:p>
        </p:txBody>
      </p:sp>
      <p:sp>
        <p:nvSpPr>
          <p:cNvPr id="13" name="TextBox 12">
            <a:extLst xmlns:a="http://schemas.openxmlformats.org/drawingml/2006/main">
              <a:ext uri="{FF2B5EF4-FFF2-40B4-BE49-F238E27FC236}">
                <a16:creationId xmlns:a16="http://schemas.microsoft.com/office/drawing/2014/main" id="{516C40C5-CCE9-4AE9-8FEB-9E3610060317}"/>
              </a:ext>
            </a:extLst>
          </p:cNvPr>
          <p:cNvSpPr>
            <a:spLocks xmlns:a="http://schemas.openxmlformats.org/drawingml/2006/main" noGrp="1"/>
          </p:cNvSpPr>
          <p:nvPr/>
        </p:nvSpPr>
        <p:spPr>
          <a:xfrm xmlns:a="http://schemas.openxmlformats.org/drawingml/2006/main">
            <a:off x="10439400" y="5934075"/>
            <a:ext cx="1524000"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64748B"/>
                </a:solidFill>
                <a:latin typeface="Inter"/>
                <a:ea typeface="Inter"/>
                <a:cs typeface="Inter"/>
              </a:rPr>
              <a:t>DATE</a:t>
            </a:r>
          </a:p>
        </p:txBody>
      </p:sp>
      <p:sp>
        <p:nvSpPr>
          <p:cNvPr id="14" name="TextBox 13">
            <a:extLst xmlns:a="http://schemas.openxmlformats.org/drawingml/2006/main">
              <a:ext uri="{FF2B5EF4-FFF2-40B4-BE49-F238E27FC236}">
                <a16:creationId xmlns:a16="http://schemas.microsoft.com/office/drawing/2014/main" id="{49E11921-3E24-4DCC-8E11-2FB2042A2ED1}"/>
              </a:ext>
            </a:extLst>
          </p:cNvPr>
          <p:cNvSpPr>
            <a:spLocks xmlns:a="http://schemas.openxmlformats.org/drawingml/2006/main" noGrp="1"/>
          </p:cNvSpPr>
          <p:nvPr/>
        </p:nvSpPr>
        <p:spPr>
          <a:xfrm xmlns:a="http://schemas.openxmlformats.org/drawingml/2006/main">
            <a:off x="10439400" y="6134100"/>
            <a:ext cx="1524000"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i="0" u="none">
                <a:solidFill>
                  <a:srgbClr val="F8FAFC"/>
                </a:solidFill>
                <a:latin typeface="Inter"/>
                <a:ea typeface="Inter"/>
                <a:cs typeface="Inter"/>
              </a:rPr>
              <a:t>September 2026</a:t>
            </a:r>
          </a:p>
        </p:txBody>
      </p:sp>
    </p:spTree>
    <p:extLst>
      <p:ext uri="{BB962C8B-B14F-4D97-AF65-F5344CB8AC3E}">
        <p14:creationId xmlns:p14="http://schemas.microsoft.com/office/powerpoint/2010/main" val="1855059733"/>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3DC9D74B-93A1-4613-B240-1DD54D943505}"/>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1DD3C70F-4A89-49AD-85A4-0AEDACC65018}"/>
              </a:ext>
            </a:extLst>
          </p:cNvPr>
          <p:cNvSpPr>
            <a:spLocks xmlns:a="http://schemas.openxmlformats.org/drawingml/2006/main" noGrp="1"/>
          </p:cNvSpPr>
          <p:nvPr/>
        </p:nvSpPr>
        <p:spPr>
          <a:xfrm xmlns:a="http://schemas.openxmlformats.org/drawingml/2006/main">
            <a:off x="533400" y="2326927"/>
            <a:ext cx="3581400" cy="1666875"/>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280FF517-8DC0-4DE7-BFAD-9AD2B527C2FE}"/>
              </a:ext>
            </a:extLst>
          </p:cNvPr>
          <p:cNvSpPr>
            <a:spLocks xmlns:a="http://schemas.openxmlformats.org/drawingml/2006/main" noGrp="1"/>
          </p:cNvSpPr>
          <p:nvPr/>
        </p:nvSpPr>
        <p:spPr>
          <a:xfrm xmlns:a="http://schemas.openxmlformats.org/drawingml/2006/main">
            <a:off x="4305300" y="2326927"/>
            <a:ext cx="3581400" cy="1666875"/>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939432FD-62DA-45BD-9997-C90614AAC73D}"/>
              </a:ext>
            </a:extLst>
          </p:cNvPr>
          <p:cNvSpPr>
            <a:spLocks xmlns:a="http://schemas.openxmlformats.org/drawingml/2006/main" noGrp="1"/>
          </p:cNvSpPr>
          <p:nvPr/>
        </p:nvSpPr>
        <p:spPr>
          <a:xfrm xmlns:a="http://schemas.openxmlformats.org/drawingml/2006/main">
            <a:off x="8077200" y="2326927"/>
            <a:ext cx="3581400" cy="1666875"/>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98C2F6BA-E7AE-4058-A5F5-1EC7DCCB8FD1}"/>
              </a:ext>
            </a:extLst>
          </p:cNvPr>
          <p:cNvSpPr>
            <a:spLocks xmlns:a="http://schemas.openxmlformats.org/drawingml/2006/main" noGrp="1"/>
          </p:cNvSpPr>
          <p:nvPr/>
        </p:nvSpPr>
        <p:spPr>
          <a:xfrm xmlns:a="http://schemas.openxmlformats.org/drawingml/2006/main">
            <a:off x="533400" y="4260502"/>
            <a:ext cx="3606849" cy="1047750"/>
          </a:xfrm>
          <a:prstGeom xmlns:a="http://schemas.openxmlformats.org/drawingml/2006/main" prst="roundRect">
            <a:avLst>
              <a:gd name="adj" fmla="val 7272"/>
            </a:avLst>
          </a:prstGeom>
          <a:solidFill xmlns:a="http://schemas.openxmlformats.org/drawingml/2006/main">
            <a:srgbClr val="FFFFFF"/>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CCBC8976-4650-4DDE-A2BB-5ADAB331F85E}"/>
              </a:ext>
            </a:extLst>
          </p:cNvPr>
          <p:cNvSpPr>
            <a:spLocks xmlns:a="http://schemas.openxmlformats.org/drawingml/2006/main" noGrp="1"/>
          </p:cNvSpPr>
          <p:nvPr/>
        </p:nvSpPr>
        <p:spPr>
          <a:xfrm xmlns:a="http://schemas.openxmlformats.org/drawingml/2006/main">
            <a:off x="4292649" y="4260502"/>
            <a:ext cx="3606849" cy="1047750"/>
          </a:xfrm>
          <a:prstGeom xmlns:a="http://schemas.openxmlformats.org/drawingml/2006/main" prst="roundRect">
            <a:avLst>
              <a:gd name="adj" fmla="val 7272"/>
            </a:avLst>
          </a:prstGeom>
          <a:solidFill xmlns:a="http://schemas.openxmlformats.org/drawingml/2006/main">
            <a:srgbClr val="FFFFFF"/>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0255E3BA-D53A-4316-8BC0-73EF7AA7836B}"/>
              </a:ext>
            </a:extLst>
          </p:cNvPr>
          <p:cNvSpPr>
            <a:spLocks xmlns:a="http://schemas.openxmlformats.org/drawingml/2006/main" noGrp="1"/>
          </p:cNvSpPr>
          <p:nvPr/>
        </p:nvSpPr>
        <p:spPr>
          <a:xfrm xmlns:a="http://schemas.openxmlformats.org/drawingml/2006/main">
            <a:off x="8051899" y="4260502"/>
            <a:ext cx="3606849" cy="1047750"/>
          </a:xfrm>
          <a:prstGeom xmlns:a="http://schemas.openxmlformats.org/drawingml/2006/main" prst="roundRect">
            <a:avLst>
              <a:gd name="adj" fmla="val 7272"/>
            </a:avLst>
          </a:prstGeom>
          <a:solidFill xmlns:a="http://schemas.openxmlformats.org/drawingml/2006/main">
            <a:srgbClr val="FFFFFF"/>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ectangle 8">
            <a:extLst xmlns:a="http://schemas.openxmlformats.org/drawingml/2006/main">
              <a:ext uri="{FF2B5EF4-FFF2-40B4-BE49-F238E27FC236}">
                <a16:creationId xmlns:a16="http://schemas.microsoft.com/office/drawing/2014/main" id="{0BBD9E15-4730-4E66-A8CE-1AC5555FC2CC}"/>
              </a:ext>
            </a:extLst>
          </p:cNvPr>
          <p:cNvSpPr>
            <a:spLocks xmlns:a="http://schemas.openxmlformats.org/drawingml/2006/main" noGrp="1"/>
          </p:cNvSpPr>
          <p:nvPr/>
        </p:nvSpPr>
        <p:spPr>
          <a:xfrm xmlns:a="http://schemas.openxmlformats.org/drawingml/2006/main">
            <a:off x="533400" y="3984277"/>
            <a:ext cx="35814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ectangle 9">
            <a:extLst xmlns:a="http://schemas.openxmlformats.org/drawingml/2006/main">
              <a:ext uri="{FF2B5EF4-FFF2-40B4-BE49-F238E27FC236}">
                <a16:creationId xmlns:a16="http://schemas.microsoft.com/office/drawing/2014/main" id="{ADD2C4BD-8813-45C5-8309-311D8C36DB27}"/>
              </a:ext>
            </a:extLst>
          </p:cNvPr>
          <p:cNvSpPr>
            <a:spLocks xmlns:a="http://schemas.openxmlformats.org/drawingml/2006/main" noGrp="1"/>
          </p:cNvSpPr>
          <p:nvPr/>
        </p:nvSpPr>
        <p:spPr>
          <a:xfrm xmlns:a="http://schemas.openxmlformats.org/drawingml/2006/main">
            <a:off x="533400" y="2326927"/>
            <a:ext cx="3581400" cy="47625"/>
          </a:xfrm>
          <a:prstGeom xmlns:a="http://schemas.openxmlformats.org/drawingml/2006/main" prst="rect">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ectangle 10">
            <a:extLst xmlns:a="http://schemas.openxmlformats.org/drawingml/2006/main">
              <a:ext uri="{FF2B5EF4-FFF2-40B4-BE49-F238E27FC236}">
                <a16:creationId xmlns:a16="http://schemas.microsoft.com/office/drawing/2014/main" id="{584617D8-C79F-45B3-BE15-8677DAE4AC0F}"/>
              </a:ext>
            </a:extLst>
          </p:cNvPr>
          <p:cNvSpPr>
            <a:spLocks xmlns:a="http://schemas.openxmlformats.org/drawingml/2006/main" noGrp="1"/>
          </p:cNvSpPr>
          <p:nvPr/>
        </p:nvSpPr>
        <p:spPr>
          <a:xfrm xmlns:a="http://schemas.openxmlformats.org/drawingml/2006/main">
            <a:off x="533400" y="2326927"/>
            <a:ext cx="9525" cy="166687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ectangle 11">
            <a:extLst xmlns:a="http://schemas.openxmlformats.org/drawingml/2006/main">
              <a:ext uri="{FF2B5EF4-FFF2-40B4-BE49-F238E27FC236}">
                <a16:creationId xmlns:a16="http://schemas.microsoft.com/office/drawing/2014/main" id="{423E8F9F-C4D2-44BC-B4F0-781CAAD80222}"/>
              </a:ext>
            </a:extLst>
          </p:cNvPr>
          <p:cNvSpPr>
            <a:spLocks xmlns:a="http://schemas.openxmlformats.org/drawingml/2006/main" noGrp="1"/>
          </p:cNvSpPr>
          <p:nvPr/>
        </p:nvSpPr>
        <p:spPr>
          <a:xfrm xmlns:a="http://schemas.openxmlformats.org/drawingml/2006/main">
            <a:off x="4105275" y="2326927"/>
            <a:ext cx="9525" cy="166687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Rectangle 12">
            <a:extLst xmlns:a="http://schemas.openxmlformats.org/drawingml/2006/main">
              <a:ext uri="{FF2B5EF4-FFF2-40B4-BE49-F238E27FC236}">
                <a16:creationId xmlns:a16="http://schemas.microsoft.com/office/drawing/2014/main" id="{DF54517D-E0D7-4F49-A8BB-9428585C8FFD}"/>
              </a:ext>
            </a:extLst>
          </p:cNvPr>
          <p:cNvSpPr>
            <a:spLocks xmlns:a="http://schemas.openxmlformats.org/drawingml/2006/main" noGrp="1"/>
          </p:cNvSpPr>
          <p:nvPr/>
        </p:nvSpPr>
        <p:spPr>
          <a:xfrm xmlns:a="http://schemas.openxmlformats.org/drawingml/2006/main">
            <a:off x="4305300" y="3984277"/>
            <a:ext cx="35814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Rectangle 13">
            <a:extLst xmlns:a="http://schemas.openxmlformats.org/drawingml/2006/main">
              <a:ext uri="{FF2B5EF4-FFF2-40B4-BE49-F238E27FC236}">
                <a16:creationId xmlns:a16="http://schemas.microsoft.com/office/drawing/2014/main" id="{EA6C9F1E-53CC-4E8C-8E24-889895ECED39}"/>
              </a:ext>
            </a:extLst>
          </p:cNvPr>
          <p:cNvSpPr>
            <a:spLocks xmlns:a="http://schemas.openxmlformats.org/drawingml/2006/main" noGrp="1"/>
          </p:cNvSpPr>
          <p:nvPr/>
        </p:nvSpPr>
        <p:spPr>
          <a:xfrm xmlns:a="http://schemas.openxmlformats.org/drawingml/2006/main">
            <a:off x="4305300" y="2326927"/>
            <a:ext cx="3581400" cy="47625"/>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Rectangle 14">
            <a:extLst xmlns:a="http://schemas.openxmlformats.org/drawingml/2006/main">
              <a:ext uri="{FF2B5EF4-FFF2-40B4-BE49-F238E27FC236}">
                <a16:creationId xmlns:a16="http://schemas.microsoft.com/office/drawing/2014/main" id="{66C5D5C9-ECE3-4658-BE0F-BC8403F6C177}"/>
              </a:ext>
            </a:extLst>
          </p:cNvPr>
          <p:cNvSpPr>
            <a:spLocks xmlns:a="http://schemas.openxmlformats.org/drawingml/2006/main" noGrp="1"/>
          </p:cNvSpPr>
          <p:nvPr/>
        </p:nvSpPr>
        <p:spPr>
          <a:xfrm xmlns:a="http://schemas.openxmlformats.org/drawingml/2006/main">
            <a:off x="4305300" y="2326927"/>
            <a:ext cx="9525" cy="166687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 name="Rectangle 15">
            <a:extLst xmlns:a="http://schemas.openxmlformats.org/drawingml/2006/main">
              <a:ext uri="{FF2B5EF4-FFF2-40B4-BE49-F238E27FC236}">
                <a16:creationId xmlns:a16="http://schemas.microsoft.com/office/drawing/2014/main" id="{FC195D29-9292-423D-9263-7C76C8F309E0}"/>
              </a:ext>
            </a:extLst>
          </p:cNvPr>
          <p:cNvSpPr>
            <a:spLocks xmlns:a="http://schemas.openxmlformats.org/drawingml/2006/main" noGrp="1"/>
          </p:cNvSpPr>
          <p:nvPr/>
        </p:nvSpPr>
        <p:spPr>
          <a:xfrm xmlns:a="http://schemas.openxmlformats.org/drawingml/2006/main">
            <a:off x="7877175" y="2326927"/>
            <a:ext cx="9525" cy="166687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Rectangle 16">
            <a:extLst xmlns:a="http://schemas.openxmlformats.org/drawingml/2006/main">
              <a:ext uri="{FF2B5EF4-FFF2-40B4-BE49-F238E27FC236}">
                <a16:creationId xmlns:a16="http://schemas.microsoft.com/office/drawing/2014/main" id="{DDC7CEC3-3C51-43FF-B6B2-6D5945351068}"/>
              </a:ext>
            </a:extLst>
          </p:cNvPr>
          <p:cNvSpPr>
            <a:spLocks xmlns:a="http://schemas.openxmlformats.org/drawingml/2006/main" noGrp="1"/>
          </p:cNvSpPr>
          <p:nvPr/>
        </p:nvSpPr>
        <p:spPr>
          <a:xfrm xmlns:a="http://schemas.openxmlformats.org/drawingml/2006/main">
            <a:off x="8077200" y="3984277"/>
            <a:ext cx="35814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Rectangle 17">
            <a:extLst xmlns:a="http://schemas.openxmlformats.org/drawingml/2006/main">
              <a:ext uri="{FF2B5EF4-FFF2-40B4-BE49-F238E27FC236}">
                <a16:creationId xmlns:a16="http://schemas.microsoft.com/office/drawing/2014/main" id="{38D5F489-E807-4F86-A632-4E47704D6CC3}"/>
              </a:ext>
            </a:extLst>
          </p:cNvPr>
          <p:cNvSpPr>
            <a:spLocks xmlns:a="http://schemas.openxmlformats.org/drawingml/2006/main" noGrp="1"/>
          </p:cNvSpPr>
          <p:nvPr/>
        </p:nvSpPr>
        <p:spPr>
          <a:xfrm xmlns:a="http://schemas.openxmlformats.org/drawingml/2006/main">
            <a:off x="8077200" y="2326927"/>
            <a:ext cx="3581400" cy="47625"/>
          </a:xfrm>
          <a:prstGeom xmlns:a="http://schemas.openxmlformats.org/drawingml/2006/main" prst="rect">
            <a:avLst/>
          </a:prstGeom>
          <a:solidFill xmlns:a="http://schemas.openxmlformats.org/drawingml/2006/main">
            <a:srgbClr val="16A34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9" name="Rectangle 18">
            <a:extLst xmlns:a="http://schemas.openxmlformats.org/drawingml/2006/main">
              <a:ext uri="{FF2B5EF4-FFF2-40B4-BE49-F238E27FC236}">
                <a16:creationId xmlns:a16="http://schemas.microsoft.com/office/drawing/2014/main" id="{E1FF112F-BD31-45EF-B562-6B9CF3F3FC76}"/>
              </a:ext>
            </a:extLst>
          </p:cNvPr>
          <p:cNvSpPr>
            <a:spLocks xmlns:a="http://schemas.openxmlformats.org/drawingml/2006/main" noGrp="1"/>
          </p:cNvSpPr>
          <p:nvPr/>
        </p:nvSpPr>
        <p:spPr>
          <a:xfrm xmlns:a="http://schemas.openxmlformats.org/drawingml/2006/main">
            <a:off x="8077200" y="2326927"/>
            <a:ext cx="9525" cy="166687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0" name="Rectangle 19">
            <a:extLst xmlns:a="http://schemas.openxmlformats.org/drawingml/2006/main">
              <a:ext uri="{FF2B5EF4-FFF2-40B4-BE49-F238E27FC236}">
                <a16:creationId xmlns:a16="http://schemas.microsoft.com/office/drawing/2014/main" id="{989ABEF8-72DE-4DAF-9480-CDA8D5F9A060}"/>
              </a:ext>
            </a:extLst>
          </p:cNvPr>
          <p:cNvSpPr>
            <a:spLocks xmlns:a="http://schemas.openxmlformats.org/drawingml/2006/main" noGrp="1"/>
          </p:cNvSpPr>
          <p:nvPr/>
        </p:nvSpPr>
        <p:spPr>
          <a:xfrm xmlns:a="http://schemas.openxmlformats.org/drawingml/2006/main">
            <a:off x="11649075" y="2326927"/>
            <a:ext cx="9525" cy="166687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TextBox 20">
            <a:extLst xmlns:a="http://schemas.openxmlformats.org/drawingml/2006/main">
              <a:ext uri="{FF2B5EF4-FFF2-40B4-BE49-F238E27FC236}">
                <a16:creationId xmlns:a16="http://schemas.microsoft.com/office/drawing/2014/main" id="{44DFD555-F750-4050-8B0D-3DEE4377AFFC}"/>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22" name="TextBox 21">
            <a:extLst xmlns:a="http://schemas.openxmlformats.org/drawingml/2006/main">
              <a:ext uri="{FF2B5EF4-FFF2-40B4-BE49-F238E27FC236}">
                <a16:creationId xmlns:a16="http://schemas.microsoft.com/office/drawing/2014/main" id="{2E0D8B55-CE6D-474D-B992-A98CFBBC02DE}"/>
              </a:ext>
            </a:extLst>
          </p:cNvPr>
          <p:cNvSpPr>
            <a:spLocks xmlns:a="http://schemas.openxmlformats.org/drawingml/2006/main" noGrp="1"/>
          </p:cNvSpPr>
          <p:nvPr/>
        </p:nvSpPr>
        <p:spPr>
          <a:xfrm xmlns:a="http://schemas.openxmlformats.org/drawingml/2006/main">
            <a:off x="533400" y="381000"/>
            <a:ext cx="8905875"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PROPOSED DESTINATION</a:t>
            </a:r>
          </a:p>
        </p:txBody>
      </p:sp>
      <p:sp>
        <p:nvSpPr>
          <p:cNvPr id="23" name="TextBox 22">
            <a:extLst xmlns:a="http://schemas.openxmlformats.org/drawingml/2006/main">
              <a:ext uri="{FF2B5EF4-FFF2-40B4-BE49-F238E27FC236}">
                <a16:creationId xmlns:a16="http://schemas.microsoft.com/office/drawing/2014/main" id="{2E9CAE72-9237-41AE-BF7E-E40302FCDE10}"/>
              </a:ext>
            </a:extLst>
          </p:cNvPr>
          <p:cNvSpPr>
            <a:spLocks xmlns:a="http://schemas.openxmlformats.org/drawingml/2006/main" noGrp="1"/>
          </p:cNvSpPr>
          <p:nvPr/>
        </p:nvSpPr>
        <p:spPr>
          <a:xfrm xmlns:a="http://schemas.openxmlformats.org/drawingml/2006/main">
            <a:off x="533400" y="609600"/>
            <a:ext cx="9351168"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A Verified $12.0M Net Profit Uplift at 13.0% Margin</a:t>
            </a:r>
          </a:p>
        </p:txBody>
      </p:sp>
      <p:sp>
        <p:nvSpPr>
          <p:cNvPr id="24" name="TextBox 23">
            <a:extLst xmlns:a="http://schemas.openxmlformats.org/drawingml/2006/main">
              <a:ext uri="{FF2B5EF4-FFF2-40B4-BE49-F238E27FC236}">
                <a16:creationId xmlns:a16="http://schemas.microsoft.com/office/drawing/2014/main" id="{E6D20F0B-4CF5-42EA-8968-17C5DDB56D39}"/>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25" name="TextBox 24">
            <a:extLst xmlns:a="http://schemas.openxmlformats.org/drawingml/2006/main">
              <a:ext uri="{FF2B5EF4-FFF2-40B4-BE49-F238E27FC236}">
                <a16:creationId xmlns:a16="http://schemas.microsoft.com/office/drawing/2014/main" id="{F56927BA-45D3-447B-A10C-592EC30DE395}"/>
              </a:ext>
            </a:extLst>
          </p:cNvPr>
          <p:cNvSpPr>
            <a:spLocks xmlns:a="http://schemas.openxmlformats.org/drawingml/2006/main" noGrp="1"/>
          </p:cNvSpPr>
          <p:nvPr/>
        </p:nvSpPr>
        <p:spPr>
          <a:xfrm xmlns:a="http://schemas.openxmlformats.org/drawingml/2006/main">
            <a:off x="809625" y="2641252"/>
            <a:ext cx="3786187"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64748B"/>
                </a:solidFill>
                <a:latin typeface="Inter"/>
                <a:ea typeface="Inter"/>
                <a:cs typeface="Inter"/>
              </a:rPr>
              <a:t>GROSS ANNUAL BENEFIT</a:t>
            </a:r>
          </a:p>
        </p:txBody>
      </p:sp>
      <p:sp>
        <p:nvSpPr>
          <p:cNvPr id="26" name="TextBox 25">
            <a:extLst xmlns:a="http://schemas.openxmlformats.org/drawingml/2006/main">
              <a:ext uri="{FF2B5EF4-FFF2-40B4-BE49-F238E27FC236}">
                <a16:creationId xmlns:a16="http://schemas.microsoft.com/office/drawing/2014/main" id="{A974C71A-7743-4B5F-B621-96DF2DE30F41}"/>
              </a:ext>
            </a:extLst>
          </p:cNvPr>
          <p:cNvSpPr>
            <a:spLocks xmlns:a="http://schemas.openxmlformats.org/drawingml/2006/main" noGrp="1"/>
          </p:cNvSpPr>
          <p:nvPr/>
        </p:nvSpPr>
        <p:spPr>
          <a:xfrm xmlns:a="http://schemas.openxmlformats.org/drawingml/2006/main">
            <a:off x="809625" y="2879377"/>
            <a:ext cx="3786187" cy="581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600" b="1" i="0" u="none">
                <a:solidFill>
                  <a:srgbClr val="0F172A"/>
                </a:solidFill>
                <a:latin typeface="Plus Jakarta Sans"/>
                <a:ea typeface="Plus Jakarta Sans"/>
                <a:cs typeface="Plus Jakarta Sans"/>
              </a:rPr>
              <a:t>+$18.0M</a:t>
            </a:r>
          </a:p>
        </p:txBody>
      </p:sp>
      <p:sp>
        <p:nvSpPr>
          <p:cNvPr id="27" name="TextBox 26">
            <a:extLst xmlns:a="http://schemas.openxmlformats.org/drawingml/2006/main">
              <a:ext uri="{FF2B5EF4-FFF2-40B4-BE49-F238E27FC236}">
                <a16:creationId xmlns:a16="http://schemas.microsoft.com/office/drawing/2014/main" id="{6631E2A7-2D14-4E8B-A6ED-714755CE0798}"/>
              </a:ext>
            </a:extLst>
          </p:cNvPr>
          <p:cNvSpPr>
            <a:spLocks xmlns:a="http://schemas.openxmlformats.org/drawingml/2006/main" noGrp="1"/>
          </p:cNvSpPr>
          <p:nvPr/>
        </p:nvSpPr>
        <p:spPr>
          <a:xfrm xmlns:a="http://schemas.openxmlformats.org/drawingml/2006/main">
            <a:off x="809625" y="3536602"/>
            <a:ext cx="3786187"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0" i="0" u="none">
                <a:solidFill>
                  <a:srgbClr val="475569"/>
                </a:solidFill>
                <a:latin typeface="Inter"/>
                <a:ea typeface="Inter"/>
                <a:cs typeface="Inter"/>
              </a:rPr>
              <a:t>Four measurable Q1–Q2 priorities.</a:t>
            </a:r>
          </a:p>
        </p:txBody>
      </p:sp>
      <p:sp>
        <p:nvSpPr>
          <p:cNvPr id="28" name="TextBox 27">
            <a:extLst xmlns:a="http://schemas.openxmlformats.org/drawingml/2006/main">
              <a:ext uri="{FF2B5EF4-FFF2-40B4-BE49-F238E27FC236}">
                <a16:creationId xmlns:a16="http://schemas.microsoft.com/office/drawing/2014/main" id="{4CC18650-3C48-4CA5-9749-42F6D9A27278}"/>
              </a:ext>
            </a:extLst>
          </p:cNvPr>
          <p:cNvSpPr>
            <a:spLocks xmlns:a="http://schemas.openxmlformats.org/drawingml/2006/main" noGrp="1"/>
          </p:cNvSpPr>
          <p:nvPr/>
        </p:nvSpPr>
        <p:spPr>
          <a:xfrm xmlns:a="http://schemas.openxmlformats.org/drawingml/2006/main">
            <a:off x="4581525" y="2641252"/>
            <a:ext cx="3786187"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64748B"/>
                </a:solidFill>
                <a:latin typeface="Inter"/>
                <a:ea typeface="Inter"/>
                <a:cs typeface="Inter"/>
              </a:rPr>
              <a:t>IMPLEMENTATION COST</a:t>
            </a:r>
          </a:p>
        </p:txBody>
      </p:sp>
      <p:sp>
        <p:nvSpPr>
          <p:cNvPr id="29" name="TextBox 28">
            <a:extLst xmlns:a="http://schemas.openxmlformats.org/drawingml/2006/main">
              <a:ext uri="{FF2B5EF4-FFF2-40B4-BE49-F238E27FC236}">
                <a16:creationId xmlns:a16="http://schemas.microsoft.com/office/drawing/2014/main" id="{A0A5BFA0-60C9-4836-8BD6-59580DD479C6}"/>
              </a:ext>
            </a:extLst>
          </p:cNvPr>
          <p:cNvSpPr>
            <a:spLocks xmlns:a="http://schemas.openxmlformats.org/drawingml/2006/main" noGrp="1"/>
          </p:cNvSpPr>
          <p:nvPr/>
        </p:nvSpPr>
        <p:spPr>
          <a:xfrm xmlns:a="http://schemas.openxmlformats.org/drawingml/2006/main">
            <a:off x="4581525" y="2879377"/>
            <a:ext cx="3786187" cy="581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600" b="1" i="0" u="none">
                <a:solidFill>
                  <a:srgbClr val="0F172A"/>
                </a:solidFill>
                <a:latin typeface="Plus Jakarta Sans"/>
                <a:ea typeface="Plus Jakarta Sans"/>
                <a:cs typeface="Plus Jakarta Sans"/>
              </a:rPr>
              <a:t>$6.0M</a:t>
            </a:r>
          </a:p>
        </p:txBody>
      </p:sp>
      <p:sp>
        <p:nvSpPr>
          <p:cNvPr id="30" name="TextBox 29">
            <a:extLst xmlns:a="http://schemas.openxmlformats.org/drawingml/2006/main">
              <a:ext uri="{FF2B5EF4-FFF2-40B4-BE49-F238E27FC236}">
                <a16:creationId xmlns:a16="http://schemas.microsoft.com/office/drawing/2014/main" id="{7B7711C3-C0D8-4635-B7C8-50E2EDAE91F9}"/>
              </a:ext>
            </a:extLst>
          </p:cNvPr>
          <p:cNvSpPr>
            <a:spLocks xmlns:a="http://schemas.openxmlformats.org/drawingml/2006/main" noGrp="1"/>
          </p:cNvSpPr>
          <p:nvPr/>
        </p:nvSpPr>
        <p:spPr>
          <a:xfrm xmlns:a="http://schemas.openxmlformats.org/drawingml/2006/main">
            <a:off x="4581525" y="3536602"/>
            <a:ext cx="3786187"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0" i="0" u="none">
                <a:solidFill>
                  <a:srgbClr val="475569"/>
                </a:solidFill>
                <a:latin typeface="Inter"/>
                <a:ea typeface="Inter"/>
                <a:cs typeface="Inter"/>
              </a:rPr>
              <a:t>4.0-month payback period across Q1–Q2.</a:t>
            </a:r>
          </a:p>
        </p:txBody>
      </p:sp>
      <p:sp>
        <p:nvSpPr>
          <p:cNvPr id="31" name="TextBox 30">
            <a:extLst xmlns:a="http://schemas.openxmlformats.org/drawingml/2006/main">
              <a:ext uri="{FF2B5EF4-FFF2-40B4-BE49-F238E27FC236}">
                <a16:creationId xmlns:a16="http://schemas.microsoft.com/office/drawing/2014/main" id="{21D08727-CA27-4878-B699-8653E8334574}"/>
              </a:ext>
            </a:extLst>
          </p:cNvPr>
          <p:cNvSpPr>
            <a:spLocks xmlns:a="http://schemas.openxmlformats.org/drawingml/2006/main" noGrp="1"/>
          </p:cNvSpPr>
          <p:nvPr/>
        </p:nvSpPr>
        <p:spPr>
          <a:xfrm xmlns:a="http://schemas.openxmlformats.org/drawingml/2006/main">
            <a:off x="8353425" y="2641252"/>
            <a:ext cx="3786187"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64748B"/>
                </a:solidFill>
                <a:latin typeface="Inter"/>
                <a:ea typeface="Inter"/>
                <a:cs typeface="Inter"/>
              </a:rPr>
              <a:t>NET ANNUAL UPLIFT</a:t>
            </a:r>
          </a:p>
        </p:txBody>
      </p:sp>
      <p:sp>
        <p:nvSpPr>
          <p:cNvPr id="32" name="TextBox 31">
            <a:extLst xmlns:a="http://schemas.openxmlformats.org/drawingml/2006/main">
              <a:ext uri="{FF2B5EF4-FFF2-40B4-BE49-F238E27FC236}">
                <a16:creationId xmlns:a16="http://schemas.microsoft.com/office/drawing/2014/main" id="{928982C2-9457-473C-91E7-A3E1388BD56C}"/>
              </a:ext>
            </a:extLst>
          </p:cNvPr>
          <p:cNvSpPr>
            <a:spLocks xmlns:a="http://schemas.openxmlformats.org/drawingml/2006/main" noGrp="1"/>
          </p:cNvSpPr>
          <p:nvPr/>
        </p:nvSpPr>
        <p:spPr>
          <a:xfrm xmlns:a="http://schemas.openxmlformats.org/drawingml/2006/main">
            <a:off x="8353425" y="2879377"/>
            <a:ext cx="3786187" cy="581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600" b="1" i="0" u="none">
                <a:solidFill>
                  <a:srgbClr val="16A34A"/>
                </a:solidFill>
                <a:latin typeface="Plus Jakarta Sans"/>
                <a:ea typeface="Plus Jakarta Sans"/>
                <a:cs typeface="Plus Jakarta Sans"/>
              </a:rPr>
              <a:t>+$12.0M</a:t>
            </a:r>
          </a:p>
        </p:txBody>
      </p:sp>
      <p:sp>
        <p:nvSpPr>
          <p:cNvPr id="33" name="TextBox 32">
            <a:extLst xmlns:a="http://schemas.openxmlformats.org/drawingml/2006/main">
              <a:ext uri="{FF2B5EF4-FFF2-40B4-BE49-F238E27FC236}">
                <a16:creationId xmlns:a16="http://schemas.microsoft.com/office/drawing/2014/main" id="{D2EBFA9B-539B-4785-A9E9-6CDE36EC79C5}"/>
              </a:ext>
            </a:extLst>
          </p:cNvPr>
          <p:cNvSpPr>
            <a:spLocks xmlns:a="http://schemas.openxmlformats.org/drawingml/2006/main" noGrp="1"/>
          </p:cNvSpPr>
          <p:nvPr/>
        </p:nvSpPr>
        <p:spPr>
          <a:xfrm xmlns:a="http://schemas.openxmlformats.org/drawingml/2006/main">
            <a:off x="8353425" y="3536602"/>
            <a:ext cx="3786187"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0" i="0" u="none">
                <a:solidFill>
                  <a:srgbClr val="475569"/>
                </a:solidFill>
                <a:latin typeface="Inter"/>
                <a:ea typeface="Inter"/>
                <a:cs typeface="Inter"/>
              </a:rPr>
              <a:t>Expands net margin from 9.9% to 13.0%.</a:t>
            </a:r>
          </a:p>
        </p:txBody>
      </p:sp>
      <p:sp>
        <p:nvSpPr>
          <p:cNvPr id="34" name="TextBox 33">
            <a:extLst xmlns:a="http://schemas.openxmlformats.org/drawingml/2006/main">
              <a:ext uri="{FF2B5EF4-FFF2-40B4-BE49-F238E27FC236}">
                <a16:creationId xmlns:a16="http://schemas.microsoft.com/office/drawing/2014/main" id="{7189BB92-6EF4-467E-8A99-6F075F74419E}"/>
              </a:ext>
            </a:extLst>
          </p:cNvPr>
          <p:cNvSpPr>
            <a:spLocks xmlns:a="http://schemas.openxmlformats.org/drawingml/2006/main" noGrp="1"/>
          </p:cNvSpPr>
          <p:nvPr/>
        </p:nvSpPr>
        <p:spPr>
          <a:xfrm xmlns:a="http://schemas.openxmlformats.org/drawingml/2006/main">
            <a:off x="752475" y="4479577"/>
            <a:ext cx="4158918"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1. Stop Promotion Loss</a:t>
            </a:r>
          </a:p>
        </p:txBody>
      </p:sp>
      <p:sp>
        <p:nvSpPr>
          <p:cNvPr id="35" name="TextBox 34">
            <a:extLst xmlns:a="http://schemas.openxmlformats.org/drawingml/2006/main">
              <a:ext uri="{FF2B5EF4-FFF2-40B4-BE49-F238E27FC236}">
                <a16:creationId xmlns:a16="http://schemas.microsoft.com/office/drawing/2014/main" id="{4F87B0C3-E91B-44B5-89CB-678992163D7A}"/>
              </a:ext>
            </a:extLst>
          </p:cNvPr>
          <p:cNvSpPr>
            <a:spLocks xmlns:a="http://schemas.openxmlformats.org/drawingml/2006/main" noGrp="1"/>
          </p:cNvSpPr>
          <p:nvPr/>
        </p:nvSpPr>
        <p:spPr>
          <a:xfrm xmlns:a="http://schemas.openxmlformats.org/drawingml/2006/main">
            <a:off x="752475" y="4727227"/>
            <a:ext cx="3263949" cy="3619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5" b="0" i="0" u="none">
                <a:solidFill>
                  <a:srgbClr val="334155"/>
                </a:solidFill>
                <a:latin typeface="Inter"/>
                <a:ea typeface="Inter"/>
                <a:cs typeface="Inter"/>
              </a:rPr>
              <a:t>Use margin and ROI gates before funding deep offers.</a:t>
            </a:r>
          </a:p>
        </p:txBody>
      </p:sp>
      <p:sp>
        <p:nvSpPr>
          <p:cNvPr id="36" name="TextBox 35">
            <a:extLst xmlns:a="http://schemas.openxmlformats.org/drawingml/2006/main">
              <a:ext uri="{FF2B5EF4-FFF2-40B4-BE49-F238E27FC236}">
                <a16:creationId xmlns:a16="http://schemas.microsoft.com/office/drawing/2014/main" id="{3BDD2820-96CA-404A-82CC-4E89FFB5B3B4}"/>
              </a:ext>
            </a:extLst>
          </p:cNvPr>
          <p:cNvSpPr>
            <a:spLocks xmlns:a="http://schemas.openxmlformats.org/drawingml/2006/main" noGrp="1"/>
          </p:cNvSpPr>
          <p:nvPr/>
        </p:nvSpPr>
        <p:spPr>
          <a:xfrm xmlns:a="http://schemas.openxmlformats.org/drawingml/2006/main">
            <a:off x="4511724" y="4479577"/>
            <a:ext cx="4158918"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2. Assign Loss Pockets</a:t>
            </a:r>
          </a:p>
        </p:txBody>
      </p:sp>
      <p:sp>
        <p:nvSpPr>
          <p:cNvPr id="37" name="TextBox 36">
            <a:extLst xmlns:a="http://schemas.openxmlformats.org/drawingml/2006/main">
              <a:ext uri="{FF2B5EF4-FFF2-40B4-BE49-F238E27FC236}">
                <a16:creationId xmlns:a16="http://schemas.microsoft.com/office/drawing/2014/main" id="{19E00924-2566-49BE-9256-4297D4BCBDB5}"/>
              </a:ext>
            </a:extLst>
          </p:cNvPr>
          <p:cNvSpPr>
            <a:spLocks xmlns:a="http://schemas.openxmlformats.org/drawingml/2006/main" noGrp="1"/>
          </p:cNvSpPr>
          <p:nvPr/>
        </p:nvSpPr>
        <p:spPr>
          <a:xfrm xmlns:a="http://schemas.openxmlformats.org/drawingml/2006/main">
            <a:off x="4511724" y="4727227"/>
            <a:ext cx="3263949" cy="3619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5" b="0" i="0" u="none">
                <a:solidFill>
                  <a:srgbClr val="334155"/>
                </a:solidFill>
                <a:latin typeface="Inter"/>
                <a:ea typeface="Inter"/>
                <a:cs typeface="Inter"/>
              </a:rPr>
              <a:t>Give the top 50 recurring pockets one owner and one fix.</a:t>
            </a:r>
          </a:p>
        </p:txBody>
      </p:sp>
      <p:sp>
        <p:nvSpPr>
          <p:cNvPr id="38" name="TextBox 37">
            <a:extLst xmlns:a="http://schemas.openxmlformats.org/drawingml/2006/main">
              <a:ext uri="{FF2B5EF4-FFF2-40B4-BE49-F238E27FC236}">
                <a16:creationId xmlns:a16="http://schemas.microsoft.com/office/drawing/2014/main" id="{20586200-D64B-47AC-8CE3-3C4C27CB4943}"/>
              </a:ext>
            </a:extLst>
          </p:cNvPr>
          <p:cNvSpPr>
            <a:spLocks xmlns:a="http://schemas.openxmlformats.org/drawingml/2006/main" noGrp="1"/>
          </p:cNvSpPr>
          <p:nvPr/>
        </p:nvSpPr>
        <p:spPr>
          <a:xfrm xmlns:a="http://schemas.openxmlformats.org/drawingml/2006/main">
            <a:off x="8270974" y="4479577"/>
            <a:ext cx="392102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3. Protect Customer Value</a:t>
            </a:r>
          </a:p>
        </p:txBody>
      </p:sp>
      <p:sp>
        <p:nvSpPr>
          <p:cNvPr id="39" name="TextBox 38">
            <a:extLst xmlns:a="http://schemas.openxmlformats.org/drawingml/2006/main">
              <a:ext uri="{FF2B5EF4-FFF2-40B4-BE49-F238E27FC236}">
                <a16:creationId xmlns:a16="http://schemas.microsoft.com/office/drawing/2014/main" id="{60DA0D15-5571-47F5-870D-285296C6C606}"/>
              </a:ext>
            </a:extLst>
          </p:cNvPr>
          <p:cNvSpPr>
            <a:spLocks xmlns:a="http://schemas.openxmlformats.org/drawingml/2006/main" noGrp="1"/>
          </p:cNvSpPr>
          <p:nvPr/>
        </p:nvSpPr>
        <p:spPr>
          <a:xfrm xmlns:a="http://schemas.openxmlformats.org/drawingml/2006/main">
            <a:off x="8270974" y="4727227"/>
            <a:ext cx="3263949" cy="3619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5" b="0" i="0" u="none">
                <a:solidFill>
                  <a:srgbClr val="334155"/>
                </a:solidFill>
                <a:latin typeface="Inter"/>
                <a:ea typeface="Inter"/>
                <a:cs typeface="Inter"/>
              </a:rPr>
              <a:t>Start with 1,408 high-value customers at the greatest modeled risk.</a:t>
            </a:r>
          </a:p>
        </p:txBody>
      </p:sp>
    </p:spTree>
    <p:extLst>
      <p:ext uri="{BB962C8B-B14F-4D97-AF65-F5344CB8AC3E}">
        <p14:creationId xmlns:p14="http://schemas.microsoft.com/office/powerpoint/2010/main" val="89810250"/>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30D2DAEC-C76A-4725-AEE0-A0B911051D72}"/>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DB386B98-61C2-4A60-A9AC-9549F4150CDB}"/>
              </a:ext>
            </a:extLst>
          </p:cNvPr>
          <p:cNvSpPr>
            <a:spLocks xmlns:a="http://schemas.openxmlformats.org/drawingml/2006/main" noGrp="1"/>
          </p:cNvSpPr>
          <p:nvPr/>
        </p:nvSpPr>
        <p:spPr>
          <a:xfrm xmlns:a="http://schemas.openxmlformats.org/drawingml/2006/main">
            <a:off x="533400" y="2031652"/>
            <a:ext cx="6026199" cy="3571875"/>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ectangle 3">
            <a:extLst xmlns:a="http://schemas.openxmlformats.org/drawingml/2006/main">
              <a:ext uri="{FF2B5EF4-FFF2-40B4-BE49-F238E27FC236}">
                <a16:creationId xmlns:a16="http://schemas.microsoft.com/office/drawing/2014/main" id="{EBE2C51C-60D6-4C0A-9E9A-FB035CDA8C47}"/>
              </a:ext>
            </a:extLst>
          </p:cNvPr>
          <p:cNvSpPr>
            <a:spLocks xmlns:a="http://schemas.openxmlformats.org/drawingml/2006/main" noGrp="1"/>
          </p:cNvSpPr>
          <p:nvPr/>
        </p:nvSpPr>
        <p:spPr>
          <a:xfrm xmlns:a="http://schemas.openxmlformats.org/drawingml/2006/main">
            <a:off x="533400" y="5594002"/>
            <a:ext cx="6026199" cy="9525"/>
          </a:xfrm>
          <a:prstGeom xmlns:a="http://schemas.openxmlformats.org/drawingml/2006/main" prst="rect">
            <a:avLst/>
          </a:prstGeom>
          <a:solidFill xmlns:a="http://schemas.openxmlformats.org/drawingml/2006/main">
            <a:srgbClr val="CBD5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ectangle 4">
            <a:extLst xmlns:a="http://schemas.openxmlformats.org/drawingml/2006/main">
              <a:ext uri="{FF2B5EF4-FFF2-40B4-BE49-F238E27FC236}">
                <a16:creationId xmlns:a16="http://schemas.microsoft.com/office/drawing/2014/main" id="{FF941BED-A829-486D-ADF5-E3F33AB26F50}"/>
              </a:ext>
            </a:extLst>
          </p:cNvPr>
          <p:cNvSpPr>
            <a:spLocks xmlns:a="http://schemas.openxmlformats.org/drawingml/2006/main" noGrp="1"/>
          </p:cNvSpPr>
          <p:nvPr/>
        </p:nvSpPr>
        <p:spPr>
          <a:xfrm xmlns:a="http://schemas.openxmlformats.org/drawingml/2006/main">
            <a:off x="533400" y="2031652"/>
            <a:ext cx="6026199" cy="9525"/>
          </a:xfrm>
          <a:prstGeom xmlns:a="http://schemas.openxmlformats.org/drawingml/2006/main" prst="rect">
            <a:avLst/>
          </a:prstGeom>
          <a:solidFill xmlns:a="http://schemas.openxmlformats.org/drawingml/2006/main">
            <a:srgbClr val="CBD5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ectangle 5">
            <a:extLst xmlns:a="http://schemas.openxmlformats.org/drawingml/2006/main">
              <a:ext uri="{FF2B5EF4-FFF2-40B4-BE49-F238E27FC236}">
                <a16:creationId xmlns:a16="http://schemas.microsoft.com/office/drawing/2014/main" id="{24B2F297-DB47-4362-B9B8-71A4A1AAC70C}"/>
              </a:ext>
            </a:extLst>
          </p:cNvPr>
          <p:cNvSpPr>
            <a:spLocks xmlns:a="http://schemas.openxmlformats.org/drawingml/2006/main" noGrp="1"/>
          </p:cNvSpPr>
          <p:nvPr/>
        </p:nvSpPr>
        <p:spPr>
          <a:xfrm xmlns:a="http://schemas.openxmlformats.org/drawingml/2006/main">
            <a:off x="533400" y="2031652"/>
            <a:ext cx="57150" cy="3571875"/>
          </a:xfrm>
          <a:prstGeom xmlns:a="http://schemas.openxmlformats.org/drawingml/2006/main" prst="rect">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ectangle 6">
            <a:extLst xmlns:a="http://schemas.openxmlformats.org/drawingml/2006/main">
              <a:ext uri="{FF2B5EF4-FFF2-40B4-BE49-F238E27FC236}">
                <a16:creationId xmlns:a16="http://schemas.microsoft.com/office/drawing/2014/main" id="{3FF30E04-954B-4CD9-B977-A314E1124369}"/>
              </a:ext>
            </a:extLst>
          </p:cNvPr>
          <p:cNvSpPr>
            <a:spLocks xmlns:a="http://schemas.openxmlformats.org/drawingml/2006/main" noGrp="1"/>
          </p:cNvSpPr>
          <p:nvPr/>
        </p:nvSpPr>
        <p:spPr>
          <a:xfrm xmlns:a="http://schemas.openxmlformats.org/drawingml/2006/main">
            <a:off x="6550074" y="2031652"/>
            <a:ext cx="9525" cy="3571875"/>
          </a:xfrm>
          <a:prstGeom xmlns:a="http://schemas.openxmlformats.org/drawingml/2006/main" prst="rect">
            <a:avLst/>
          </a:prstGeom>
          <a:solidFill xmlns:a="http://schemas.openxmlformats.org/drawingml/2006/main">
            <a:srgbClr val="CBD5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A6964A6A-4B85-4A15-A13A-283B7F71DEF7}"/>
              </a:ext>
            </a:extLst>
          </p:cNvPr>
          <p:cNvSpPr>
            <a:spLocks xmlns:a="http://schemas.openxmlformats.org/drawingml/2006/main" noGrp="1"/>
          </p:cNvSpPr>
          <p:nvPr/>
        </p:nvSpPr>
        <p:spPr>
          <a:xfrm xmlns:a="http://schemas.openxmlformats.org/drawingml/2006/main">
            <a:off x="933450" y="4422427"/>
            <a:ext cx="5273724" cy="828675"/>
          </a:xfrm>
          <a:prstGeom xmlns:a="http://schemas.openxmlformats.org/drawingml/2006/main" prst="roundRect">
            <a:avLst>
              <a:gd name="adj" fmla="val 9195"/>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ounded Rectangle 8">
            <a:extLst xmlns:a="http://schemas.openxmlformats.org/drawingml/2006/main">
              <a:ext uri="{FF2B5EF4-FFF2-40B4-BE49-F238E27FC236}">
                <a16:creationId xmlns:a16="http://schemas.microsoft.com/office/drawing/2014/main" id="{96279978-192E-40B6-90C5-5D4EC89AD299}"/>
              </a:ext>
            </a:extLst>
          </p:cNvPr>
          <p:cNvSpPr>
            <a:spLocks xmlns:a="http://schemas.openxmlformats.org/drawingml/2006/main" noGrp="1"/>
          </p:cNvSpPr>
          <p:nvPr/>
        </p:nvSpPr>
        <p:spPr>
          <a:xfrm xmlns:a="http://schemas.openxmlformats.org/drawingml/2006/main">
            <a:off x="6864399" y="1760190"/>
            <a:ext cx="4794200" cy="914400"/>
          </a:xfrm>
          <a:prstGeom xmlns:a="http://schemas.openxmlformats.org/drawingml/2006/main" prst="roundRect">
            <a:avLst>
              <a:gd name="adj" fmla="val 10416"/>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ounded Rectangle 9">
            <a:extLst xmlns:a="http://schemas.openxmlformats.org/drawingml/2006/main">
              <a:ext uri="{FF2B5EF4-FFF2-40B4-BE49-F238E27FC236}">
                <a16:creationId xmlns:a16="http://schemas.microsoft.com/office/drawing/2014/main" id="{8C3AE3CF-3263-4269-98C8-6A2954F61AF3}"/>
              </a:ext>
            </a:extLst>
          </p:cNvPr>
          <p:cNvSpPr>
            <a:spLocks xmlns:a="http://schemas.openxmlformats.org/drawingml/2006/main" noGrp="1"/>
          </p:cNvSpPr>
          <p:nvPr/>
        </p:nvSpPr>
        <p:spPr>
          <a:xfrm xmlns:a="http://schemas.openxmlformats.org/drawingml/2006/main">
            <a:off x="6864399" y="2826990"/>
            <a:ext cx="4794200" cy="914400"/>
          </a:xfrm>
          <a:prstGeom xmlns:a="http://schemas.openxmlformats.org/drawingml/2006/main" prst="roundRect">
            <a:avLst>
              <a:gd name="adj" fmla="val 10416"/>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ounded Rectangle 10">
            <a:extLst xmlns:a="http://schemas.openxmlformats.org/drawingml/2006/main">
              <a:ext uri="{FF2B5EF4-FFF2-40B4-BE49-F238E27FC236}">
                <a16:creationId xmlns:a16="http://schemas.microsoft.com/office/drawing/2014/main" id="{95821339-2666-4C87-81A3-BCCBED4CAAB3}"/>
              </a:ext>
            </a:extLst>
          </p:cNvPr>
          <p:cNvSpPr>
            <a:spLocks xmlns:a="http://schemas.openxmlformats.org/drawingml/2006/main" noGrp="1"/>
          </p:cNvSpPr>
          <p:nvPr/>
        </p:nvSpPr>
        <p:spPr>
          <a:xfrm xmlns:a="http://schemas.openxmlformats.org/drawingml/2006/main">
            <a:off x="6864399" y="3893790"/>
            <a:ext cx="4794200" cy="914400"/>
          </a:xfrm>
          <a:prstGeom xmlns:a="http://schemas.openxmlformats.org/drawingml/2006/main" prst="roundRect">
            <a:avLst>
              <a:gd name="adj" fmla="val 10416"/>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ounded Rectangle 11">
            <a:extLst xmlns:a="http://schemas.openxmlformats.org/drawingml/2006/main">
              <a:ext uri="{FF2B5EF4-FFF2-40B4-BE49-F238E27FC236}">
                <a16:creationId xmlns:a16="http://schemas.microsoft.com/office/drawing/2014/main" id="{BBBC1595-3B74-4780-888B-114A81D14E5A}"/>
              </a:ext>
            </a:extLst>
          </p:cNvPr>
          <p:cNvSpPr>
            <a:spLocks xmlns:a="http://schemas.openxmlformats.org/drawingml/2006/main" noGrp="1"/>
          </p:cNvSpPr>
          <p:nvPr/>
        </p:nvSpPr>
        <p:spPr>
          <a:xfrm xmlns:a="http://schemas.openxmlformats.org/drawingml/2006/main">
            <a:off x="6864399" y="4960590"/>
            <a:ext cx="4794200" cy="914400"/>
          </a:xfrm>
          <a:prstGeom xmlns:a="http://schemas.openxmlformats.org/drawingml/2006/main" prst="roundRect">
            <a:avLst>
              <a:gd name="adj" fmla="val 10416"/>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Rounded Rectangle 12">
            <a:extLst xmlns:a="http://schemas.openxmlformats.org/drawingml/2006/main">
              <a:ext uri="{FF2B5EF4-FFF2-40B4-BE49-F238E27FC236}">
                <a16:creationId xmlns:a16="http://schemas.microsoft.com/office/drawing/2014/main" id="{AC85127A-3862-42E4-8A0C-9D32AD4B3440}"/>
              </a:ext>
            </a:extLst>
          </p:cNvPr>
          <p:cNvSpPr>
            <a:spLocks xmlns:a="http://schemas.openxmlformats.org/drawingml/2006/main" noGrp="1"/>
          </p:cNvSpPr>
          <p:nvPr/>
        </p:nvSpPr>
        <p:spPr>
          <a:xfrm xmlns:a="http://schemas.openxmlformats.org/drawingml/2006/main">
            <a:off x="7064424" y="2045940"/>
            <a:ext cx="342900" cy="342900"/>
          </a:xfrm>
          <a:prstGeom xmlns:a="http://schemas.openxmlformats.org/drawingml/2006/main" prst="roundRect">
            <a:avLst>
              <a:gd name="adj" fmla="val 22222"/>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Rounded Rectangle 13">
            <a:extLst xmlns:a="http://schemas.openxmlformats.org/drawingml/2006/main">
              <a:ext uri="{FF2B5EF4-FFF2-40B4-BE49-F238E27FC236}">
                <a16:creationId xmlns:a16="http://schemas.microsoft.com/office/drawing/2014/main" id="{5E5E811E-147C-4D91-8C8F-568A903ACFC8}"/>
              </a:ext>
            </a:extLst>
          </p:cNvPr>
          <p:cNvSpPr>
            <a:spLocks xmlns:a="http://schemas.openxmlformats.org/drawingml/2006/main" noGrp="1"/>
          </p:cNvSpPr>
          <p:nvPr/>
        </p:nvSpPr>
        <p:spPr>
          <a:xfrm xmlns:a="http://schemas.openxmlformats.org/drawingml/2006/main">
            <a:off x="7064424" y="3112740"/>
            <a:ext cx="342900" cy="342900"/>
          </a:xfrm>
          <a:prstGeom xmlns:a="http://schemas.openxmlformats.org/drawingml/2006/main" prst="roundRect">
            <a:avLst>
              <a:gd name="adj" fmla="val 22222"/>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Rounded Rectangle 14">
            <a:extLst xmlns:a="http://schemas.openxmlformats.org/drawingml/2006/main">
              <a:ext uri="{FF2B5EF4-FFF2-40B4-BE49-F238E27FC236}">
                <a16:creationId xmlns:a16="http://schemas.microsoft.com/office/drawing/2014/main" id="{3801AE37-DEB5-4C60-8DB3-286844A17518}"/>
              </a:ext>
            </a:extLst>
          </p:cNvPr>
          <p:cNvSpPr>
            <a:spLocks xmlns:a="http://schemas.openxmlformats.org/drawingml/2006/main" noGrp="1"/>
          </p:cNvSpPr>
          <p:nvPr/>
        </p:nvSpPr>
        <p:spPr>
          <a:xfrm xmlns:a="http://schemas.openxmlformats.org/drawingml/2006/main">
            <a:off x="7064424" y="4179540"/>
            <a:ext cx="342900" cy="342900"/>
          </a:xfrm>
          <a:prstGeom xmlns:a="http://schemas.openxmlformats.org/drawingml/2006/main" prst="roundRect">
            <a:avLst>
              <a:gd name="adj" fmla="val 22222"/>
            </a:avLst>
          </a:prstGeom>
          <a:solidFill xmlns:a="http://schemas.openxmlformats.org/drawingml/2006/main">
            <a:srgbClr val="16A34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 name="Rounded Rectangle 15">
            <a:extLst xmlns:a="http://schemas.openxmlformats.org/drawingml/2006/main">
              <a:ext uri="{FF2B5EF4-FFF2-40B4-BE49-F238E27FC236}">
                <a16:creationId xmlns:a16="http://schemas.microsoft.com/office/drawing/2014/main" id="{19943A10-694B-446E-B119-129FA1DA1683}"/>
              </a:ext>
            </a:extLst>
          </p:cNvPr>
          <p:cNvSpPr>
            <a:spLocks xmlns:a="http://schemas.openxmlformats.org/drawingml/2006/main" noGrp="1"/>
          </p:cNvSpPr>
          <p:nvPr/>
        </p:nvSpPr>
        <p:spPr>
          <a:xfrm xmlns:a="http://schemas.openxmlformats.org/drawingml/2006/main">
            <a:off x="7064424" y="5246340"/>
            <a:ext cx="342900" cy="342900"/>
          </a:xfrm>
          <a:prstGeom xmlns:a="http://schemas.openxmlformats.org/drawingml/2006/main" prst="roundRect">
            <a:avLst>
              <a:gd name="adj" fmla="val 22222"/>
            </a:avLst>
          </a:prstGeom>
          <a:solidFill xmlns:a="http://schemas.openxmlformats.org/drawingml/2006/main">
            <a:srgbClr val="2563E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54" name="Picture 16"/>
          <p:cNvPicPr>
            <a:picLocks xmlns:a="http://schemas.openxmlformats.org/drawingml/2006/main" noChangeAspect="1"/>
          </p:cNvPicPr>
          <p:nvPr/>
        </p:nvPicPr>
        <p:blipFill>
          <a:blip xmlns:r="http://schemas.openxmlformats.org/officeDocument/2006/relationships" xmlns:a="http://schemas.openxmlformats.org/drawingml/2006/main" r:embed="Rcda3ce214e6d449d"/>
          <a:stretch xmlns:a="http://schemas.openxmlformats.org/drawingml/2006/main">
            <a:fillRect l="0" t="0" r="0" b="0"/>
          </a:stretch>
        </p:blipFill>
        <p:spPr>
          <a:xfrm xmlns:a="http://schemas.openxmlformats.org/drawingml/2006/main">
            <a:off x="933450" y="2384077"/>
            <a:ext cx="209550" cy="228600"/>
          </a:xfrm>
          <a:prstGeom xmlns:a="http://schemas.openxmlformats.org/drawingml/2006/main" prst="rect">
            <a:avLst/>
          </a:prstGeom>
        </p:spPr>
      </p:pic>
      <p:sp>
        <p:nvSpPr>
          <p:cNvPr id="18" name="TextBox 17">
            <a:extLst xmlns:a="http://schemas.openxmlformats.org/drawingml/2006/main">
              <a:ext uri="{FF2B5EF4-FFF2-40B4-BE49-F238E27FC236}">
                <a16:creationId xmlns:a16="http://schemas.microsoft.com/office/drawing/2014/main" id="{8C8E6E25-C579-42B4-905B-43442D648746}"/>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19" name="TextBox 18">
            <a:extLst xmlns:a="http://schemas.openxmlformats.org/drawingml/2006/main">
              <a:ext uri="{FF2B5EF4-FFF2-40B4-BE49-F238E27FC236}">
                <a16:creationId xmlns:a16="http://schemas.microsoft.com/office/drawing/2014/main" id="{A33DC56F-DDCC-4D6B-B91E-89408C894BED}"/>
              </a:ext>
            </a:extLst>
          </p:cNvPr>
          <p:cNvSpPr>
            <a:spLocks xmlns:a="http://schemas.openxmlformats.org/drawingml/2006/main" noGrp="1"/>
          </p:cNvSpPr>
          <p:nvPr/>
        </p:nvSpPr>
        <p:spPr>
          <a:xfrm xmlns:a="http://schemas.openxmlformats.org/drawingml/2006/main">
            <a:off x="533400" y="381000"/>
            <a:ext cx="8572500"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ONE-MINUTE DASHBOARD</a:t>
            </a:r>
          </a:p>
        </p:txBody>
      </p:sp>
      <p:sp>
        <p:nvSpPr>
          <p:cNvPr id="20" name="TextBox 19">
            <a:extLst xmlns:a="http://schemas.openxmlformats.org/drawingml/2006/main">
              <a:ext uri="{FF2B5EF4-FFF2-40B4-BE49-F238E27FC236}">
                <a16:creationId xmlns:a16="http://schemas.microsoft.com/office/drawing/2014/main" id="{71EDE373-4D7D-4972-82B4-AAC3525E7924}"/>
              </a:ext>
            </a:extLst>
          </p:cNvPr>
          <p:cNvSpPr>
            <a:spLocks xmlns:a="http://schemas.openxmlformats.org/drawingml/2006/main" noGrp="1"/>
          </p:cNvSpPr>
          <p:nvPr/>
        </p:nvSpPr>
        <p:spPr>
          <a:xfrm xmlns:a="http://schemas.openxmlformats.org/drawingml/2006/main">
            <a:off x="533400" y="609600"/>
            <a:ext cx="9001125"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Start With the Decision, Then Test the Rule Live</a:t>
            </a:r>
          </a:p>
        </p:txBody>
      </p:sp>
      <p:sp>
        <p:nvSpPr>
          <p:cNvPr id="21" name="TextBox 20">
            <a:extLst xmlns:a="http://schemas.openxmlformats.org/drawingml/2006/main">
              <a:ext uri="{FF2B5EF4-FFF2-40B4-BE49-F238E27FC236}">
                <a16:creationId xmlns:a16="http://schemas.microsoft.com/office/drawing/2014/main" id="{57591A20-150C-4CFD-AEFC-4FB2F82AA7C2}"/>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22" name="TextBox 21">
            <a:extLst xmlns:a="http://schemas.openxmlformats.org/drawingml/2006/main">
              <a:ext uri="{FF2B5EF4-FFF2-40B4-BE49-F238E27FC236}">
                <a16:creationId xmlns:a16="http://schemas.microsoft.com/office/drawing/2014/main" id="{55859DEB-E477-4FCA-B554-7B88F8FDC8F7}"/>
              </a:ext>
            </a:extLst>
          </p:cNvPr>
          <p:cNvSpPr>
            <a:spLocks xmlns:a="http://schemas.openxmlformats.org/drawingml/2006/main" noGrp="1"/>
          </p:cNvSpPr>
          <p:nvPr/>
        </p:nvSpPr>
        <p:spPr>
          <a:xfrm xmlns:a="http://schemas.openxmlformats.org/drawingml/2006/main">
            <a:off x="933450" y="2765077"/>
            <a:ext cx="5368974" cy="14287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2250"/>
              </a:lnSpc>
              <a:buNone/>
            </a:pPr>
            <a:r>
              <a:rPr sz="1500" b="1" i="1" u="none">
                <a:solidFill>
                  <a:srgbClr val="0F172A"/>
                </a:solidFill>
                <a:latin typeface="Inter"/>
                <a:ea typeface="Inter"/>
                <a:cs typeface="Inter"/>
              </a:rPr>
              <a:t>"Select the problem. Change one assumption. Agree the owner, threshold, and next action."</a:t>
            </a:r>
          </a:p>
        </p:txBody>
      </p:sp>
      <p:sp>
        <p:nvSpPr>
          <p:cNvPr id="23" name="TextBox 22">
            <a:extLst xmlns:a="http://schemas.openxmlformats.org/drawingml/2006/main">
              <a:ext uri="{FF2B5EF4-FFF2-40B4-BE49-F238E27FC236}">
                <a16:creationId xmlns:a16="http://schemas.microsoft.com/office/drawing/2014/main" id="{D8BC7782-1C00-44FC-94AB-A78C293D3360}"/>
              </a:ext>
            </a:extLst>
          </p:cNvPr>
          <p:cNvSpPr>
            <a:spLocks xmlns:a="http://schemas.openxmlformats.org/drawingml/2006/main" noGrp="1"/>
          </p:cNvSpPr>
          <p:nvPr/>
        </p:nvSpPr>
        <p:spPr>
          <a:xfrm xmlns:a="http://schemas.openxmlformats.org/drawingml/2006/main">
            <a:off x="1123950" y="4574827"/>
            <a:ext cx="6115905"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334155"/>
                </a:solidFill>
                <a:latin typeface="Inter"/>
                <a:ea typeface="Inter"/>
                <a:cs typeface="Inter"/>
              </a:rPr>
              <a:t>Live working session</a:t>
            </a:r>
          </a:p>
        </p:txBody>
      </p:sp>
      <p:sp>
        <p:nvSpPr>
          <p:cNvPr id="24" name="TextBox 23">
            <a:extLst xmlns:a="http://schemas.openxmlformats.org/drawingml/2006/main">
              <a:ext uri="{FF2B5EF4-FFF2-40B4-BE49-F238E27FC236}">
                <a16:creationId xmlns:a16="http://schemas.microsoft.com/office/drawing/2014/main" id="{94C42B5E-4A66-4024-A163-B09B152C151C}"/>
              </a:ext>
            </a:extLst>
          </p:cNvPr>
          <p:cNvSpPr>
            <a:spLocks xmlns:a="http://schemas.openxmlformats.org/drawingml/2006/main" noGrp="1"/>
          </p:cNvSpPr>
          <p:nvPr/>
        </p:nvSpPr>
        <p:spPr>
          <a:xfrm xmlns:a="http://schemas.openxmlformats.org/drawingml/2006/main">
            <a:off x="1123950" y="4774852"/>
            <a:ext cx="4987974"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Use the dashboard during the pitch, then export the action plan.</a:t>
            </a:r>
          </a:p>
        </p:txBody>
      </p:sp>
      <p:sp>
        <p:nvSpPr>
          <p:cNvPr id="25" name="TextBox 24">
            <a:extLst xmlns:a="http://schemas.openxmlformats.org/drawingml/2006/main">
              <a:ext uri="{FF2B5EF4-FFF2-40B4-BE49-F238E27FC236}">
                <a16:creationId xmlns:a16="http://schemas.microsoft.com/office/drawing/2014/main" id="{0FF768E8-83F5-44BD-9CE9-0F09468D0640}"/>
              </a:ext>
            </a:extLst>
          </p:cNvPr>
          <p:cNvSpPr>
            <a:spLocks xmlns:a="http://schemas.openxmlformats.org/drawingml/2006/main" noGrp="1"/>
          </p:cNvSpPr>
          <p:nvPr/>
        </p:nvSpPr>
        <p:spPr>
          <a:xfrm xmlns:a="http://schemas.openxmlformats.org/drawingml/2006/main">
            <a:off x="6921549" y="2045940"/>
            <a:ext cx="628650" cy="3429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1200" b="1" i="0" u="none">
                <a:solidFill>
                  <a:srgbClr val="FFFFFF"/>
                </a:solidFill>
                <a:latin typeface="Plus Jakarta Sans"/>
                <a:ea typeface="Plus Jakarta Sans"/>
                <a:cs typeface="Plus Jakarta Sans"/>
              </a:rPr>
              <a:t>01</a:t>
            </a:r>
          </a:p>
        </p:txBody>
      </p:sp>
      <p:sp>
        <p:nvSpPr>
          <p:cNvPr id="26" name="TextBox 25">
            <a:extLst xmlns:a="http://schemas.openxmlformats.org/drawingml/2006/main">
              <a:ext uri="{FF2B5EF4-FFF2-40B4-BE49-F238E27FC236}">
                <a16:creationId xmlns:a16="http://schemas.microsoft.com/office/drawing/2014/main" id="{051C11F9-497C-400F-9B67-B3B1E479E54D}"/>
              </a:ext>
            </a:extLst>
          </p:cNvPr>
          <p:cNvSpPr>
            <a:spLocks xmlns:a="http://schemas.openxmlformats.org/drawingml/2006/main" noGrp="1"/>
          </p:cNvSpPr>
          <p:nvPr/>
        </p:nvSpPr>
        <p:spPr>
          <a:xfrm xmlns:a="http://schemas.openxmlformats.org/drawingml/2006/main">
            <a:off x="6921549" y="3112740"/>
            <a:ext cx="628650" cy="3429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1200" b="1" i="0" u="none">
                <a:solidFill>
                  <a:srgbClr val="FFFFFF"/>
                </a:solidFill>
                <a:latin typeface="Plus Jakarta Sans"/>
                <a:ea typeface="Plus Jakarta Sans"/>
                <a:cs typeface="Plus Jakarta Sans"/>
              </a:rPr>
              <a:t>02</a:t>
            </a:r>
          </a:p>
        </p:txBody>
      </p:sp>
      <p:sp>
        <p:nvSpPr>
          <p:cNvPr id="27" name="TextBox 26">
            <a:extLst xmlns:a="http://schemas.openxmlformats.org/drawingml/2006/main">
              <a:ext uri="{FF2B5EF4-FFF2-40B4-BE49-F238E27FC236}">
                <a16:creationId xmlns:a16="http://schemas.microsoft.com/office/drawing/2014/main" id="{FF10F889-BE16-4C9B-A8EC-4B208D75CD5F}"/>
              </a:ext>
            </a:extLst>
          </p:cNvPr>
          <p:cNvSpPr>
            <a:spLocks xmlns:a="http://schemas.openxmlformats.org/drawingml/2006/main" noGrp="1"/>
          </p:cNvSpPr>
          <p:nvPr/>
        </p:nvSpPr>
        <p:spPr>
          <a:xfrm xmlns:a="http://schemas.openxmlformats.org/drawingml/2006/main">
            <a:off x="6921549" y="4179540"/>
            <a:ext cx="628650" cy="3429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1200" b="1" i="0" u="none">
                <a:solidFill>
                  <a:srgbClr val="FFFFFF"/>
                </a:solidFill>
                <a:latin typeface="Plus Jakarta Sans"/>
                <a:ea typeface="Plus Jakarta Sans"/>
                <a:cs typeface="Plus Jakarta Sans"/>
              </a:rPr>
              <a:t>03</a:t>
            </a:r>
          </a:p>
        </p:txBody>
      </p:sp>
      <p:sp>
        <p:nvSpPr>
          <p:cNvPr id="28" name="TextBox 27">
            <a:extLst xmlns:a="http://schemas.openxmlformats.org/drawingml/2006/main">
              <a:ext uri="{FF2B5EF4-FFF2-40B4-BE49-F238E27FC236}">
                <a16:creationId xmlns:a16="http://schemas.microsoft.com/office/drawing/2014/main" id="{EFA55DF4-2018-45BE-A76F-873A51D66D08}"/>
              </a:ext>
            </a:extLst>
          </p:cNvPr>
          <p:cNvSpPr>
            <a:spLocks xmlns:a="http://schemas.openxmlformats.org/drawingml/2006/main" noGrp="1"/>
          </p:cNvSpPr>
          <p:nvPr/>
        </p:nvSpPr>
        <p:spPr>
          <a:xfrm xmlns:a="http://schemas.openxmlformats.org/drawingml/2006/main">
            <a:off x="6921549" y="5246340"/>
            <a:ext cx="628650" cy="3429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buNone/>
            </a:pPr>
            <a:r>
              <a:rPr sz="1200" b="1" i="0" u="none">
                <a:solidFill>
                  <a:srgbClr val="FFFFFF"/>
                </a:solidFill>
                <a:latin typeface="Plus Jakarta Sans"/>
                <a:ea typeface="Plus Jakarta Sans"/>
                <a:cs typeface="Plus Jakarta Sans"/>
              </a:rPr>
              <a:t>04</a:t>
            </a:r>
          </a:p>
        </p:txBody>
      </p:sp>
      <p:sp>
        <p:nvSpPr>
          <p:cNvPr id="29" name="TextBox 28">
            <a:extLst xmlns:a="http://schemas.openxmlformats.org/drawingml/2006/main">
              <a:ext uri="{FF2B5EF4-FFF2-40B4-BE49-F238E27FC236}">
                <a16:creationId xmlns:a16="http://schemas.microsoft.com/office/drawing/2014/main" id="{7C3FD1B2-B773-48AC-B2D9-97282D919699}"/>
              </a:ext>
            </a:extLst>
          </p:cNvPr>
          <p:cNvSpPr>
            <a:spLocks xmlns:a="http://schemas.openxmlformats.org/drawingml/2006/main" noGrp="1"/>
          </p:cNvSpPr>
          <p:nvPr/>
        </p:nvSpPr>
        <p:spPr>
          <a:xfrm xmlns:a="http://schemas.openxmlformats.org/drawingml/2006/main">
            <a:off x="1238250" y="2412652"/>
            <a:ext cx="2262187"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THE 60-SECOND DEMO</a:t>
            </a:r>
          </a:p>
        </p:txBody>
      </p:sp>
      <p:sp>
        <p:nvSpPr>
          <p:cNvPr id="30" name="TextBox 29">
            <a:extLst xmlns:a="http://schemas.openxmlformats.org/drawingml/2006/main">
              <a:ext uri="{FF2B5EF4-FFF2-40B4-BE49-F238E27FC236}">
                <a16:creationId xmlns:a16="http://schemas.microsoft.com/office/drawing/2014/main" id="{CBF4EBCC-6CCC-4AD5-9DE3-D507A4D64D74}"/>
              </a:ext>
            </a:extLst>
          </p:cNvPr>
          <p:cNvSpPr>
            <a:spLocks xmlns:a="http://schemas.openxmlformats.org/drawingml/2006/main" noGrp="1"/>
          </p:cNvSpPr>
          <p:nvPr/>
        </p:nvSpPr>
        <p:spPr>
          <a:xfrm xmlns:a="http://schemas.openxmlformats.org/drawingml/2006/main">
            <a:off x="7559724" y="1960215"/>
            <a:ext cx="463227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Choose the problem</a:t>
            </a:r>
          </a:p>
        </p:txBody>
      </p:sp>
      <p:sp>
        <p:nvSpPr>
          <p:cNvPr id="31" name="TextBox 30">
            <a:extLst xmlns:a="http://schemas.openxmlformats.org/drawingml/2006/main">
              <a:ext uri="{FF2B5EF4-FFF2-40B4-BE49-F238E27FC236}">
                <a16:creationId xmlns:a16="http://schemas.microsoft.com/office/drawing/2014/main" id="{5C33A1D9-AECA-4B2F-8034-46D416857756}"/>
              </a:ext>
            </a:extLst>
          </p:cNvPr>
          <p:cNvSpPr>
            <a:spLocks xmlns:a="http://schemas.openxmlformats.org/drawingml/2006/main" noGrp="1"/>
          </p:cNvSpPr>
          <p:nvPr/>
        </p:nvSpPr>
        <p:spPr>
          <a:xfrm xmlns:a="http://schemas.openxmlformats.org/drawingml/2006/main">
            <a:off x="7559724" y="2150715"/>
            <a:ext cx="399410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Promotion margin, loss-making sales, churn risk, or customer value.</a:t>
            </a:r>
          </a:p>
        </p:txBody>
      </p:sp>
      <p:sp>
        <p:nvSpPr>
          <p:cNvPr id="32" name="TextBox 31">
            <a:extLst xmlns:a="http://schemas.openxmlformats.org/drawingml/2006/main">
              <a:ext uri="{FF2B5EF4-FFF2-40B4-BE49-F238E27FC236}">
                <a16:creationId xmlns:a16="http://schemas.microsoft.com/office/drawing/2014/main" id="{2CBBA649-4FB9-4E96-83BF-FB1B7207DA1D}"/>
              </a:ext>
            </a:extLst>
          </p:cNvPr>
          <p:cNvSpPr>
            <a:spLocks xmlns:a="http://schemas.openxmlformats.org/drawingml/2006/main" noGrp="1"/>
          </p:cNvSpPr>
          <p:nvPr/>
        </p:nvSpPr>
        <p:spPr>
          <a:xfrm xmlns:a="http://schemas.openxmlformats.org/drawingml/2006/main">
            <a:off x="7559724" y="3027015"/>
            <a:ext cx="463227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Test the rule</a:t>
            </a:r>
          </a:p>
        </p:txBody>
      </p:sp>
      <p:sp>
        <p:nvSpPr>
          <p:cNvPr id="33" name="TextBox 32">
            <a:extLst xmlns:a="http://schemas.openxmlformats.org/drawingml/2006/main">
              <a:ext uri="{FF2B5EF4-FFF2-40B4-BE49-F238E27FC236}">
                <a16:creationId xmlns:a16="http://schemas.microsoft.com/office/drawing/2014/main" id="{F68A61C1-626F-424C-B6A3-87548A966558}"/>
              </a:ext>
            </a:extLst>
          </p:cNvPr>
          <p:cNvSpPr>
            <a:spLocks xmlns:a="http://schemas.openxmlformats.org/drawingml/2006/main" noGrp="1"/>
          </p:cNvSpPr>
          <p:nvPr/>
        </p:nvSpPr>
        <p:spPr>
          <a:xfrm xmlns:a="http://schemas.openxmlformats.org/drawingml/2006/main">
            <a:off x="7559724" y="3217515"/>
            <a:ext cx="399410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Change the region, offer depth, audience, or profit scenario.</a:t>
            </a:r>
          </a:p>
        </p:txBody>
      </p:sp>
      <p:sp>
        <p:nvSpPr>
          <p:cNvPr id="34" name="TextBox 33">
            <a:extLst xmlns:a="http://schemas.openxmlformats.org/drawingml/2006/main">
              <a:ext uri="{FF2B5EF4-FFF2-40B4-BE49-F238E27FC236}">
                <a16:creationId xmlns:a16="http://schemas.microsoft.com/office/drawing/2014/main" id="{254E417A-A2B0-4498-BD62-6F7757F0B606}"/>
              </a:ext>
            </a:extLst>
          </p:cNvPr>
          <p:cNvSpPr>
            <a:spLocks xmlns:a="http://schemas.openxmlformats.org/drawingml/2006/main" noGrp="1"/>
          </p:cNvSpPr>
          <p:nvPr/>
        </p:nvSpPr>
        <p:spPr>
          <a:xfrm xmlns:a="http://schemas.openxmlformats.org/drawingml/2006/main">
            <a:off x="7559724" y="4093815"/>
            <a:ext cx="463227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Build the action plan</a:t>
            </a:r>
          </a:p>
        </p:txBody>
      </p:sp>
      <p:sp>
        <p:nvSpPr>
          <p:cNvPr id="35" name="TextBox 34">
            <a:extLst xmlns:a="http://schemas.openxmlformats.org/drawingml/2006/main">
              <a:ext uri="{FF2B5EF4-FFF2-40B4-BE49-F238E27FC236}">
                <a16:creationId xmlns:a16="http://schemas.microsoft.com/office/drawing/2014/main" id="{BE2411B6-21A2-438D-A852-DF7A4CCD9309}"/>
              </a:ext>
            </a:extLst>
          </p:cNvPr>
          <p:cNvSpPr>
            <a:spLocks xmlns:a="http://schemas.openxmlformats.org/drawingml/2006/main" noGrp="1"/>
          </p:cNvSpPr>
          <p:nvPr/>
        </p:nvSpPr>
        <p:spPr>
          <a:xfrm xmlns:a="http://schemas.openxmlformats.org/drawingml/2006/main">
            <a:off x="7559724" y="4284315"/>
            <a:ext cx="399410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Select actions with an owner, deadline, and measurable threshold.</a:t>
            </a:r>
          </a:p>
        </p:txBody>
      </p:sp>
      <p:sp>
        <p:nvSpPr>
          <p:cNvPr id="36" name="TextBox 35">
            <a:extLst xmlns:a="http://schemas.openxmlformats.org/drawingml/2006/main">
              <a:ext uri="{FF2B5EF4-FFF2-40B4-BE49-F238E27FC236}">
                <a16:creationId xmlns:a16="http://schemas.microsoft.com/office/drawing/2014/main" id="{8997DC0A-9736-4596-AB24-A0D360399501}"/>
              </a:ext>
            </a:extLst>
          </p:cNvPr>
          <p:cNvSpPr>
            <a:spLocks xmlns:a="http://schemas.openxmlformats.org/drawingml/2006/main" noGrp="1"/>
          </p:cNvSpPr>
          <p:nvPr/>
        </p:nvSpPr>
        <p:spPr>
          <a:xfrm xmlns:a="http://schemas.openxmlformats.org/drawingml/2006/main">
            <a:off x="7559724" y="5160615"/>
            <a:ext cx="463227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Close on the decision</a:t>
            </a:r>
          </a:p>
        </p:txBody>
      </p:sp>
      <p:sp>
        <p:nvSpPr>
          <p:cNvPr id="37" name="TextBox 36">
            <a:extLst xmlns:a="http://schemas.openxmlformats.org/drawingml/2006/main">
              <a:ext uri="{FF2B5EF4-FFF2-40B4-BE49-F238E27FC236}">
                <a16:creationId xmlns:a16="http://schemas.microsoft.com/office/drawing/2014/main" id="{0955F134-2DF7-4442-9CD1-44D682C228D4}"/>
              </a:ext>
            </a:extLst>
          </p:cNvPr>
          <p:cNvSpPr>
            <a:spLocks xmlns:a="http://schemas.openxmlformats.org/drawingml/2006/main" noGrp="1"/>
          </p:cNvSpPr>
          <p:nvPr/>
        </p:nvSpPr>
        <p:spPr>
          <a:xfrm xmlns:a="http://schemas.openxmlformats.org/drawingml/2006/main">
            <a:off x="7559724" y="5351115"/>
            <a:ext cx="399410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Approve guardrails, name the value owner, and fund two pilots.</a:t>
            </a:r>
          </a:p>
        </p:txBody>
      </p:sp>
    </p:spTree>
    <p:extLst>
      <p:ext uri="{BB962C8B-B14F-4D97-AF65-F5344CB8AC3E}">
        <p14:creationId xmlns:p14="http://schemas.microsoft.com/office/powerpoint/2010/main" val="1320131497"/>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48EEBE2A-B67D-4257-8D7B-7108124CF1D9}"/>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ACE0FA4E-E6DC-412F-A506-0525F121D9E8}"/>
              </a:ext>
            </a:extLst>
          </p:cNvPr>
          <p:cNvSpPr>
            <a:spLocks xmlns:a="http://schemas.openxmlformats.org/drawingml/2006/main" noGrp="1"/>
          </p:cNvSpPr>
          <p:nvPr/>
        </p:nvSpPr>
        <p:spPr>
          <a:xfrm xmlns:a="http://schemas.openxmlformats.org/drawingml/2006/main">
            <a:off x="533400" y="2384077"/>
            <a:ext cx="5724525" cy="2867025"/>
          </a:xfrm>
          <a:prstGeom xmlns:a="http://schemas.openxmlformats.org/drawingml/2006/main" prst="roundRect">
            <a:avLst>
              <a:gd name="adj" fmla="val 3986"/>
            </a:avLst>
          </a:prstGeom>
          <a:solidFill xmlns:a="http://schemas.openxmlformats.org/drawingml/2006/main">
            <a:srgbClr val="FFFFFF"/>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ectangle 3">
            <a:extLst xmlns:a="http://schemas.openxmlformats.org/drawingml/2006/main">
              <a:ext uri="{FF2B5EF4-FFF2-40B4-BE49-F238E27FC236}">
                <a16:creationId xmlns:a16="http://schemas.microsoft.com/office/drawing/2014/main" id="{ABCC238F-513C-4557-B468-0BE89FF0450A}"/>
              </a:ext>
            </a:extLst>
          </p:cNvPr>
          <p:cNvSpPr>
            <a:spLocks xmlns:a="http://schemas.openxmlformats.org/drawingml/2006/main" noGrp="1"/>
          </p:cNvSpPr>
          <p:nvPr/>
        </p:nvSpPr>
        <p:spPr>
          <a:xfrm xmlns:a="http://schemas.openxmlformats.org/drawingml/2006/main">
            <a:off x="847725" y="4203352"/>
            <a:ext cx="5095875" cy="733425"/>
          </a:xfrm>
          <a:prstGeom xmlns:a="http://schemas.openxmlformats.org/drawingml/2006/main" prst="rect">
            <a:avLst/>
          </a:prstGeom>
          <a:solidFill xmlns:a="http://schemas.openxmlformats.org/drawingml/2006/main">
            <a:srgbClr val="FEF2F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9B1540FC-5050-49C7-ADD7-1D2CC17C0B5A}"/>
              </a:ext>
            </a:extLst>
          </p:cNvPr>
          <p:cNvSpPr>
            <a:spLocks xmlns:a="http://schemas.openxmlformats.org/drawingml/2006/main" noGrp="1"/>
          </p:cNvSpPr>
          <p:nvPr/>
        </p:nvSpPr>
        <p:spPr>
          <a:xfrm xmlns:a="http://schemas.openxmlformats.org/drawingml/2006/main">
            <a:off x="6562725" y="2360265"/>
            <a:ext cx="5095875" cy="809625"/>
          </a:xfrm>
          <a:prstGeom xmlns:a="http://schemas.openxmlformats.org/drawingml/2006/main" prst="roundRect">
            <a:avLst>
              <a:gd name="adj" fmla="val 11764"/>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EDBEB5B2-945C-4E72-8AE9-3B36B5EF5FA7}"/>
              </a:ext>
            </a:extLst>
          </p:cNvPr>
          <p:cNvSpPr>
            <a:spLocks xmlns:a="http://schemas.openxmlformats.org/drawingml/2006/main" noGrp="1"/>
          </p:cNvSpPr>
          <p:nvPr/>
        </p:nvSpPr>
        <p:spPr>
          <a:xfrm xmlns:a="http://schemas.openxmlformats.org/drawingml/2006/main">
            <a:off x="6562725" y="3322290"/>
            <a:ext cx="5095875" cy="990600"/>
          </a:xfrm>
          <a:prstGeom xmlns:a="http://schemas.openxmlformats.org/drawingml/2006/main" prst="roundRect">
            <a:avLst>
              <a:gd name="adj" fmla="val 9615"/>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92F1AC33-52FD-4B9D-9864-EE2C59DD00A1}"/>
              </a:ext>
            </a:extLst>
          </p:cNvPr>
          <p:cNvSpPr>
            <a:spLocks xmlns:a="http://schemas.openxmlformats.org/drawingml/2006/main" noGrp="1"/>
          </p:cNvSpPr>
          <p:nvPr/>
        </p:nvSpPr>
        <p:spPr>
          <a:xfrm xmlns:a="http://schemas.openxmlformats.org/drawingml/2006/main">
            <a:off x="6562725" y="4465290"/>
            <a:ext cx="5095875" cy="809625"/>
          </a:xfrm>
          <a:prstGeom xmlns:a="http://schemas.openxmlformats.org/drawingml/2006/main" prst="roundRect">
            <a:avLst>
              <a:gd name="adj" fmla="val 11764"/>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ectangle 7">
            <a:extLst xmlns:a="http://schemas.openxmlformats.org/drawingml/2006/main">
              <a:ext uri="{FF2B5EF4-FFF2-40B4-BE49-F238E27FC236}">
                <a16:creationId xmlns:a16="http://schemas.microsoft.com/office/drawing/2014/main" id="{F34FE111-51D8-4D39-B839-09CA57145B23}"/>
              </a:ext>
            </a:extLst>
          </p:cNvPr>
          <p:cNvSpPr>
            <a:spLocks xmlns:a="http://schemas.openxmlformats.org/drawingml/2006/main" noGrp="1"/>
          </p:cNvSpPr>
          <p:nvPr/>
        </p:nvSpPr>
        <p:spPr>
          <a:xfrm xmlns:a="http://schemas.openxmlformats.org/drawingml/2006/main">
            <a:off x="847725" y="4203352"/>
            <a:ext cx="38100" cy="733425"/>
          </a:xfrm>
          <a:prstGeom xmlns:a="http://schemas.openxmlformats.org/drawingml/2006/main" prst="rect">
            <a:avLst/>
          </a:prstGeom>
          <a:solidFill xmlns:a="http://schemas.openxmlformats.org/drawingml/2006/main">
            <a:srgbClr val="DC2626"/>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pic>
        <p:nvPicPr>
          <p:cNvPr id="39" name="Picture 8"/>
          <p:cNvPicPr>
            <a:picLocks xmlns:a="http://schemas.openxmlformats.org/drawingml/2006/main" noChangeAspect="1"/>
          </p:cNvPicPr>
          <p:nvPr/>
        </p:nvPicPr>
        <p:blipFill>
          <a:blip xmlns:r="http://schemas.openxmlformats.org/officeDocument/2006/relationships" xmlns:a="http://schemas.openxmlformats.org/drawingml/2006/main" r:embed="R76fd34a6029a4f88"/>
          <a:stretch xmlns:a="http://schemas.openxmlformats.org/drawingml/2006/main">
            <a:fillRect l="0" t="0" r="0" b="0"/>
          </a:stretch>
        </p:blipFill>
        <p:spPr>
          <a:xfrm xmlns:a="http://schemas.openxmlformats.org/drawingml/2006/main">
            <a:off x="6762750" y="2579340"/>
            <a:ext cx="209550" cy="209550"/>
          </a:xfrm>
          <a:prstGeom xmlns:a="http://schemas.openxmlformats.org/drawingml/2006/main" prst="rect">
            <a:avLst/>
          </a:prstGeom>
        </p:spPr>
      </p:pic>
      <p:pic>
        <p:nvPicPr>
          <p:cNvPr id="40" name="Picture 9"/>
          <p:cNvPicPr>
            <a:picLocks xmlns:a="http://schemas.openxmlformats.org/drawingml/2006/main" noChangeAspect="1"/>
          </p:cNvPicPr>
          <p:nvPr/>
        </p:nvPicPr>
        <p:blipFill>
          <a:blip xmlns:r="http://schemas.openxmlformats.org/officeDocument/2006/relationships" xmlns:a="http://schemas.openxmlformats.org/drawingml/2006/main" r:embed="R76fd34a6029a4f88"/>
          <a:stretch xmlns:a="http://schemas.openxmlformats.org/drawingml/2006/main">
            <a:fillRect l="0" t="0" r="0" b="0"/>
          </a:stretch>
        </p:blipFill>
        <p:spPr>
          <a:xfrm xmlns:a="http://schemas.openxmlformats.org/drawingml/2006/main">
            <a:off x="6762750" y="3541365"/>
            <a:ext cx="209550" cy="209550"/>
          </a:xfrm>
          <a:prstGeom xmlns:a="http://schemas.openxmlformats.org/drawingml/2006/main" prst="rect">
            <a:avLst/>
          </a:prstGeom>
        </p:spPr>
      </p:pic>
      <p:pic>
        <p:nvPicPr>
          <p:cNvPr id="41" name="Picture 10"/>
          <p:cNvPicPr>
            <a:picLocks xmlns:a="http://schemas.openxmlformats.org/drawingml/2006/main" noChangeAspect="1"/>
          </p:cNvPicPr>
          <p:nvPr/>
        </p:nvPicPr>
        <p:blipFill>
          <a:blip xmlns:r="http://schemas.openxmlformats.org/officeDocument/2006/relationships" xmlns:a="http://schemas.openxmlformats.org/drawingml/2006/main" r:embed="R76fd34a6029a4f88"/>
          <a:stretch xmlns:a="http://schemas.openxmlformats.org/drawingml/2006/main">
            <a:fillRect l="0" t="0" r="0" b="0"/>
          </a:stretch>
        </p:blipFill>
        <p:spPr>
          <a:xfrm xmlns:a="http://schemas.openxmlformats.org/drawingml/2006/main">
            <a:off x="6762750" y="4684365"/>
            <a:ext cx="209550" cy="209550"/>
          </a:xfrm>
          <a:prstGeom xmlns:a="http://schemas.openxmlformats.org/drawingml/2006/main" prst="rect">
            <a:avLst/>
          </a:prstGeom>
        </p:spPr>
      </p:pic>
      <p:sp>
        <p:nvSpPr>
          <p:cNvPr id="12" name="TextBox 11">
            <a:extLst xmlns:a="http://schemas.openxmlformats.org/drawingml/2006/main">
              <a:ext uri="{FF2B5EF4-FFF2-40B4-BE49-F238E27FC236}">
                <a16:creationId xmlns:a16="http://schemas.microsoft.com/office/drawing/2014/main" id="{D97E29DA-A839-4889-8109-F968036D3B7C}"/>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13" name="TextBox 12">
            <a:extLst xmlns:a="http://schemas.openxmlformats.org/drawingml/2006/main">
              <a:ext uri="{FF2B5EF4-FFF2-40B4-BE49-F238E27FC236}">
                <a16:creationId xmlns:a16="http://schemas.microsoft.com/office/drawing/2014/main" id="{B080C2E9-0584-44FF-9C81-8255A03413DB}"/>
              </a:ext>
            </a:extLst>
          </p:cNvPr>
          <p:cNvSpPr>
            <a:spLocks xmlns:a="http://schemas.openxmlformats.org/drawingml/2006/main" noGrp="1"/>
          </p:cNvSpPr>
          <p:nvPr/>
        </p:nvSpPr>
        <p:spPr>
          <a:xfrm xmlns:a="http://schemas.openxmlformats.org/drawingml/2006/main">
            <a:off x="533400" y="381000"/>
            <a:ext cx="8024812"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WHY THIS MATTERS</a:t>
            </a:r>
          </a:p>
        </p:txBody>
      </p:sp>
      <p:sp>
        <p:nvSpPr>
          <p:cNvPr id="14" name="TextBox 13">
            <a:extLst xmlns:a="http://schemas.openxmlformats.org/drawingml/2006/main">
              <a:ext uri="{FF2B5EF4-FFF2-40B4-BE49-F238E27FC236}">
                <a16:creationId xmlns:a16="http://schemas.microsoft.com/office/drawing/2014/main" id="{FFB57697-7530-4153-9864-38E23617E246}"/>
              </a:ext>
            </a:extLst>
          </p:cNvPr>
          <p:cNvSpPr>
            <a:spLocks xmlns:a="http://schemas.openxmlformats.org/drawingml/2006/main" noGrp="1"/>
          </p:cNvSpPr>
          <p:nvPr/>
        </p:nvSpPr>
        <p:spPr>
          <a:xfrm xmlns:a="http://schemas.openxmlformats.org/drawingml/2006/main">
            <a:off x="533400" y="609600"/>
            <a:ext cx="8426053"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Revenue Grew. Profit Moved the Other Way.</a:t>
            </a:r>
          </a:p>
        </p:txBody>
      </p:sp>
      <p:sp>
        <p:nvSpPr>
          <p:cNvPr id="15" name="TextBox 14">
            <a:extLst xmlns:a="http://schemas.openxmlformats.org/drawingml/2006/main">
              <a:ext uri="{FF2B5EF4-FFF2-40B4-BE49-F238E27FC236}">
                <a16:creationId xmlns:a16="http://schemas.microsoft.com/office/drawing/2014/main" id="{C3BC4B6B-5DA8-4C72-86E6-22B0DB65A77D}"/>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16" name="TextBox 15">
            <a:extLst xmlns:a="http://schemas.openxmlformats.org/drawingml/2006/main">
              <a:ext uri="{FF2B5EF4-FFF2-40B4-BE49-F238E27FC236}">
                <a16:creationId xmlns:a16="http://schemas.microsoft.com/office/drawing/2014/main" id="{C68F9E5D-D0F4-4743-B58B-746753557F34}"/>
              </a:ext>
            </a:extLst>
          </p:cNvPr>
          <p:cNvSpPr>
            <a:spLocks xmlns:a="http://schemas.openxmlformats.org/drawingml/2006/main" noGrp="1"/>
          </p:cNvSpPr>
          <p:nvPr/>
        </p:nvSpPr>
        <p:spPr>
          <a:xfrm xmlns:a="http://schemas.openxmlformats.org/drawingml/2006/main">
            <a:off x="847725" y="2698402"/>
            <a:ext cx="6369843"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Inter"/>
                <a:ea typeface="Inter"/>
                <a:cs typeface="Inter"/>
              </a:rPr>
              <a:t>ANNUAL PERFORMANCE DIVERGENCE</a:t>
            </a:r>
          </a:p>
        </p:txBody>
      </p:sp>
      <p:sp>
        <p:nvSpPr>
          <p:cNvPr id="17" name="TextBox 16">
            <a:extLst xmlns:a="http://schemas.openxmlformats.org/drawingml/2006/main">
              <a:ext uri="{FF2B5EF4-FFF2-40B4-BE49-F238E27FC236}">
                <a16:creationId xmlns:a16="http://schemas.microsoft.com/office/drawing/2014/main" id="{F44FAF02-37E8-46FE-94F4-36DB0A20576F}"/>
              </a:ext>
            </a:extLst>
          </p:cNvPr>
          <p:cNvSpPr>
            <a:spLocks xmlns:a="http://schemas.openxmlformats.org/drawingml/2006/main" noGrp="1"/>
          </p:cNvSpPr>
          <p:nvPr/>
        </p:nvSpPr>
        <p:spPr>
          <a:xfrm xmlns:a="http://schemas.openxmlformats.org/drawingml/2006/main">
            <a:off x="847725" y="3127027"/>
            <a:ext cx="2333625"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334155"/>
                </a:solidFill>
                <a:latin typeface="Inter"/>
                <a:ea typeface="Inter"/>
                <a:cs typeface="Inter"/>
              </a:rPr>
              <a:t>2025 Revenue Growth</a:t>
            </a:r>
          </a:p>
        </p:txBody>
      </p:sp>
      <p:sp>
        <p:nvSpPr>
          <p:cNvPr id="18" name="TextBox 17">
            <a:extLst xmlns:a="http://schemas.openxmlformats.org/drawingml/2006/main">
              <a:ext uri="{FF2B5EF4-FFF2-40B4-BE49-F238E27FC236}">
                <a16:creationId xmlns:a16="http://schemas.microsoft.com/office/drawing/2014/main" id="{C8BC95E5-8C93-404D-8F40-F3AF22B907F8}"/>
              </a:ext>
            </a:extLst>
          </p:cNvPr>
          <p:cNvSpPr>
            <a:spLocks xmlns:a="http://schemas.openxmlformats.org/drawingml/2006/main" noGrp="1"/>
          </p:cNvSpPr>
          <p:nvPr/>
        </p:nvSpPr>
        <p:spPr>
          <a:xfrm xmlns:a="http://schemas.openxmlformats.org/drawingml/2006/main">
            <a:off x="4810125" y="2974627"/>
            <a:ext cx="1419225" cy="3810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400" b="1" i="0" u="none">
                <a:solidFill>
                  <a:srgbClr val="0F172A"/>
                </a:solidFill>
                <a:latin typeface="Plus Jakarta Sans"/>
                <a:ea typeface="Plus Jakarta Sans"/>
                <a:cs typeface="Plus Jakarta Sans"/>
              </a:rPr>
              <a:t>+12.7%</a:t>
            </a:r>
          </a:p>
        </p:txBody>
      </p:sp>
      <p:sp>
        <p:nvSpPr>
          <p:cNvPr id="19" name="TextBox 18">
            <a:extLst xmlns:a="http://schemas.openxmlformats.org/drawingml/2006/main">
              <a:ext uri="{FF2B5EF4-FFF2-40B4-BE49-F238E27FC236}">
                <a16:creationId xmlns:a16="http://schemas.microsoft.com/office/drawing/2014/main" id="{4C2DD786-EF19-468A-A9AA-360DD4214F49}"/>
              </a:ext>
            </a:extLst>
          </p:cNvPr>
          <p:cNvSpPr>
            <a:spLocks xmlns:a="http://schemas.openxmlformats.org/drawingml/2006/main" noGrp="1"/>
          </p:cNvSpPr>
          <p:nvPr/>
        </p:nvSpPr>
        <p:spPr>
          <a:xfrm xmlns:a="http://schemas.openxmlformats.org/drawingml/2006/main">
            <a:off x="847725" y="3784252"/>
            <a:ext cx="1976437"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334155"/>
                </a:solidFill>
                <a:latin typeface="Inter"/>
                <a:ea typeface="Inter"/>
                <a:cs typeface="Inter"/>
              </a:rPr>
              <a:t>2025 Profit Growth</a:t>
            </a:r>
          </a:p>
        </p:txBody>
      </p:sp>
      <p:sp>
        <p:nvSpPr>
          <p:cNvPr id="20" name="TextBox 19">
            <a:extLst xmlns:a="http://schemas.openxmlformats.org/drawingml/2006/main">
              <a:ext uri="{FF2B5EF4-FFF2-40B4-BE49-F238E27FC236}">
                <a16:creationId xmlns:a16="http://schemas.microsoft.com/office/drawing/2014/main" id="{14587EEF-B8A5-487C-B652-2EC77C7D4EF3}"/>
              </a:ext>
            </a:extLst>
          </p:cNvPr>
          <p:cNvSpPr>
            <a:spLocks xmlns:a="http://schemas.openxmlformats.org/drawingml/2006/main" noGrp="1"/>
          </p:cNvSpPr>
          <p:nvPr/>
        </p:nvSpPr>
        <p:spPr>
          <a:xfrm xmlns:a="http://schemas.openxmlformats.org/drawingml/2006/main">
            <a:off x="4895850" y="3631852"/>
            <a:ext cx="1333500" cy="3810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400" b="1" i="0" u="none">
                <a:solidFill>
                  <a:srgbClr val="DC2626"/>
                </a:solidFill>
                <a:latin typeface="Plus Jakarta Sans"/>
                <a:ea typeface="Plus Jakarta Sans"/>
                <a:cs typeface="Plus Jakarta Sans"/>
              </a:rPr>
              <a:t>−4.8%</a:t>
            </a:r>
          </a:p>
        </p:txBody>
      </p:sp>
      <p:sp>
        <p:nvSpPr>
          <p:cNvPr id="21" name="TextBox 20">
            <a:extLst xmlns:a="http://schemas.openxmlformats.org/drawingml/2006/main">
              <a:ext uri="{FF2B5EF4-FFF2-40B4-BE49-F238E27FC236}">
                <a16:creationId xmlns:a16="http://schemas.microsoft.com/office/drawing/2014/main" id="{0277F8B0-9F3D-4F4C-A5FB-7E36F29A0605}"/>
              </a:ext>
            </a:extLst>
          </p:cNvPr>
          <p:cNvSpPr>
            <a:spLocks xmlns:a="http://schemas.openxmlformats.org/drawingml/2006/main" noGrp="1"/>
          </p:cNvSpPr>
          <p:nvPr/>
        </p:nvSpPr>
        <p:spPr>
          <a:xfrm xmlns:a="http://schemas.openxmlformats.org/drawingml/2006/main">
            <a:off x="1057275" y="4374802"/>
            <a:ext cx="5893593"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i="0" u="none">
                <a:solidFill>
                  <a:srgbClr val="991B1B"/>
                </a:solidFill>
                <a:latin typeface="Inter"/>
                <a:ea typeface="Inter"/>
                <a:cs typeface="Inter"/>
              </a:rPr>
              <a:t>$18M – $25M Annual Leakage</a:t>
            </a:r>
          </a:p>
        </p:txBody>
      </p:sp>
      <p:sp>
        <p:nvSpPr>
          <p:cNvPr id="22" name="TextBox 21">
            <a:extLst xmlns:a="http://schemas.openxmlformats.org/drawingml/2006/main">
              <a:ext uri="{FF2B5EF4-FFF2-40B4-BE49-F238E27FC236}">
                <a16:creationId xmlns:a16="http://schemas.microsoft.com/office/drawing/2014/main" id="{2EE6F42F-F023-4ACA-813E-4199593BEE42}"/>
              </a:ext>
            </a:extLst>
          </p:cNvPr>
          <p:cNvSpPr>
            <a:spLocks xmlns:a="http://schemas.openxmlformats.org/drawingml/2006/main" noGrp="1"/>
          </p:cNvSpPr>
          <p:nvPr/>
        </p:nvSpPr>
        <p:spPr>
          <a:xfrm xmlns:a="http://schemas.openxmlformats.org/drawingml/2006/main">
            <a:off x="1057275" y="4603402"/>
            <a:ext cx="5893593"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7F1D1D"/>
                </a:solidFill>
                <a:latin typeface="Inter"/>
                <a:ea typeface="Inter"/>
                <a:cs typeface="Inter"/>
              </a:rPr>
              <a:t>Profit per revenue dollar dropped 33% since 2021.</a:t>
            </a:r>
          </a:p>
        </p:txBody>
      </p:sp>
      <p:sp>
        <p:nvSpPr>
          <p:cNvPr id="23" name="TextBox 22">
            <a:extLst xmlns:a="http://schemas.openxmlformats.org/drawingml/2006/main">
              <a:ext uri="{FF2B5EF4-FFF2-40B4-BE49-F238E27FC236}">
                <a16:creationId xmlns:a16="http://schemas.microsoft.com/office/drawing/2014/main" id="{D3180612-3192-4B3A-9ACD-3B0DC6417734}"/>
              </a:ext>
            </a:extLst>
          </p:cNvPr>
          <p:cNvSpPr>
            <a:spLocks xmlns:a="http://schemas.openxmlformats.org/drawingml/2006/main" noGrp="1"/>
          </p:cNvSpPr>
          <p:nvPr/>
        </p:nvSpPr>
        <p:spPr>
          <a:xfrm xmlns:a="http://schemas.openxmlformats.org/drawingml/2006/main">
            <a:off x="7124700" y="2560290"/>
            <a:ext cx="5067300"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Promotion Margin Leakage</a:t>
            </a:r>
          </a:p>
        </p:txBody>
      </p:sp>
      <p:sp>
        <p:nvSpPr>
          <p:cNvPr id="24" name="TextBox 23">
            <a:extLst xmlns:a="http://schemas.openxmlformats.org/drawingml/2006/main">
              <a:ext uri="{FF2B5EF4-FFF2-40B4-BE49-F238E27FC236}">
                <a16:creationId xmlns:a16="http://schemas.microsoft.com/office/drawing/2014/main" id="{07F9F3C2-941B-4F8E-95CC-E62876B765F1}"/>
              </a:ext>
            </a:extLst>
          </p:cNvPr>
          <p:cNvSpPr>
            <a:spLocks xmlns:a="http://schemas.openxmlformats.org/drawingml/2006/main" noGrp="1"/>
          </p:cNvSpPr>
          <p:nvPr/>
        </p:nvSpPr>
        <p:spPr>
          <a:xfrm xmlns:a="http://schemas.openxmlformats.org/drawingml/2006/main">
            <a:off x="7124700" y="2788890"/>
            <a:ext cx="506730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0" i="0" u="none">
                <a:solidFill>
                  <a:srgbClr val="475569"/>
                </a:solidFill>
                <a:latin typeface="Inter"/>
                <a:ea typeface="Inter"/>
                <a:cs typeface="Inter"/>
              </a:rPr>
              <a:t>BOGO and Clearance lose money without a measurable unit lift.</a:t>
            </a:r>
          </a:p>
        </p:txBody>
      </p:sp>
      <p:sp>
        <p:nvSpPr>
          <p:cNvPr id="25" name="TextBox 24">
            <a:extLst xmlns:a="http://schemas.openxmlformats.org/drawingml/2006/main">
              <a:ext uri="{FF2B5EF4-FFF2-40B4-BE49-F238E27FC236}">
                <a16:creationId xmlns:a16="http://schemas.microsoft.com/office/drawing/2014/main" id="{035D602F-736A-498F-AAFC-32E1934B126C}"/>
              </a:ext>
            </a:extLst>
          </p:cNvPr>
          <p:cNvSpPr>
            <a:spLocks xmlns:a="http://schemas.openxmlformats.org/drawingml/2006/main" noGrp="1"/>
          </p:cNvSpPr>
          <p:nvPr/>
        </p:nvSpPr>
        <p:spPr>
          <a:xfrm xmlns:a="http://schemas.openxmlformats.org/drawingml/2006/main">
            <a:off x="7124700" y="3522315"/>
            <a:ext cx="5067300"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Sub-Cost Pricing Leaks</a:t>
            </a:r>
          </a:p>
        </p:txBody>
      </p:sp>
      <p:sp>
        <p:nvSpPr>
          <p:cNvPr id="26" name="TextBox 25">
            <a:extLst xmlns:a="http://schemas.openxmlformats.org/drawingml/2006/main">
              <a:ext uri="{FF2B5EF4-FFF2-40B4-BE49-F238E27FC236}">
                <a16:creationId xmlns:a16="http://schemas.microsoft.com/office/drawing/2014/main" id="{FECD08CD-1AD5-467D-A0FD-4B84C1046F1A}"/>
              </a:ext>
            </a:extLst>
          </p:cNvPr>
          <p:cNvSpPr>
            <a:spLocks xmlns:a="http://schemas.openxmlformats.org/drawingml/2006/main" noGrp="1"/>
          </p:cNvSpPr>
          <p:nvPr/>
        </p:nvSpPr>
        <p:spPr>
          <a:xfrm xmlns:a="http://schemas.openxmlformats.org/drawingml/2006/main">
            <a:off x="7124700" y="3750915"/>
            <a:ext cx="4429125" cy="3619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125" b="0" i="0" u="none">
                <a:solidFill>
                  <a:srgbClr val="475569"/>
                </a:solidFill>
                <a:latin typeface="Inter"/>
                <a:ea typeface="Inter"/>
                <a:cs typeface="Inter"/>
              </a:rPr>
              <a:t>9.5% of transactions ($14.1M) sell below COGS after offer stacking.</a:t>
            </a:r>
          </a:p>
        </p:txBody>
      </p:sp>
      <p:sp>
        <p:nvSpPr>
          <p:cNvPr id="27" name="TextBox 26">
            <a:extLst xmlns:a="http://schemas.openxmlformats.org/drawingml/2006/main">
              <a:ext uri="{FF2B5EF4-FFF2-40B4-BE49-F238E27FC236}">
                <a16:creationId xmlns:a16="http://schemas.microsoft.com/office/drawing/2014/main" id="{CE24655F-0A22-4D29-8500-AF56CB17A4EE}"/>
              </a:ext>
            </a:extLst>
          </p:cNvPr>
          <p:cNvSpPr>
            <a:spLocks xmlns:a="http://schemas.openxmlformats.org/drawingml/2006/main" noGrp="1"/>
          </p:cNvSpPr>
          <p:nvPr/>
        </p:nvSpPr>
        <p:spPr>
          <a:xfrm xmlns:a="http://schemas.openxmlformats.org/drawingml/2006/main">
            <a:off x="7124700" y="4665315"/>
            <a:ext cx="5067300"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Loss Pockets Lack Owners</a:t>
            </a:r>
          </a:p>
        </p:txBody>
      </p:sp>
      <p:sp>
        <p:nvSpPr>
          <p:cNvPr id="28" name="TextBox 27">
            <a:extLst xmlns:a="http://schemas.openxmlformats.org/drawingml/2006/main">
              <a:ext uri="{FF2B5EF4-FFF2-40B4-BE49-F238E27FC236}">
                <a16:creationId xmlns:a16="http://schemas.microsoft.com/office/drawing/2014/main" id="{4E15A382-7F0A-40EF-8392-A54001BC7FA5}"/>
              </a:ext>
            </a:extLst>
          </p:cNvPr>
          <p:cNvSpPr>
            <a:spLocks xmlns:a="http://schemas.openxmlformats.org/drawingml/2006/main" noGrp="1"/>
          </p:cNvSpPr>
          <p:nvPr/>
        </p:nvSpPr>
        <p:spPr>
          <a:xfrm xmlns:a="http://schemas.openxmlformats.org/drawingml/2006/main">
            <a:off x="7124700" y="4893915"/>
            <a:ext cx="506730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0" i="0" u="none">
                <a:solidFill>
                  <a:srgbClr val="475569"/>
                </a:solidFill>
                <a:latin typeface="Inter"/>
                <a:ea typeface="Inter"/>
                <a:cs typeface="Inter"/>
              </a:rPr>
              <a:t>Recurring losses stay hidden inside profitable regions and categories.</a:t>
            </a:r>
          </a:p>
        </p:txBody>
      </p:sp>
    </p:spTree>
    <p:extLst>
      <p:ext uri="{BB962C8B-B14F-4D97-AF65-F5344CB8AC3E}">
        <p14:creationId xmlns:p14="http://schemas.microsoft.com/office/powerpoint/2010/main" val="1889287029"/>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005DB408-9AAC-4ECB-86F6-C5F8DCB9EFEA}"/>
              </a:ext>
            </a:extLst>
          </p:cNvPr>
          <p:cNvSpPr>
            <a:spLocks xmlns:a="http://schemas.openxmlformats.org/drawingml/2006/main" noGrp="1"/>
          </p:cNvSpPr>
          <p:nvPr/>
        </p:nvSpPr>
        <p:spPr>
          <a:xfrm xmlns:a="http://schemas.openxmlformats.org/drawingml/2006/main">
            <a:off x="533400" y="4727227"/>
            <a:ext cx="11125200" cy="504825"/>
          </a:xfrm>
          <a:prstGeom xmlns:a="http://schemas.openxmlformats.org/drawingml/2006/main" prst="roundRect">
            <a:avLst>
              <a:gd name="adj" fmla="val 15094"/>
            </a:avLst>
          </a:prstGeom>
          <a:solidFill xmlns:a="http://schemas.openxmlformats.org/drawingml/2006/main">
            <a:srgbClr val="FEF2F2"/>
          </a:solidFill>
          <a:ln xmlns:a="http://schemas.openxmlformats.org/drawingml/2006/main" w="9525">
            <a:solidFill>
              <a:srgbClr val="FECA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BC734DAD-8A92-4C4C-91CB-B1CE48BE60F4}"/>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90D8451E-2BEC-4068-9F91-F87DCECD5870}"/>
              </a:ext>
            </a:extLst>
          </p:cNvPr>
          <p:cNvSpPr>
            <a:spLocks xmlns:a="http://schemas.openxmlformats.org/drawingml/2006/main" noGrp="1"/>
          </p:cNvSpPr>
          <p:nvPr/>
        </p:nvSpPr>
        <p:spPr>
          <a:xfrm xmlns:a="http://schemas.openxmlformats.org/drawingml/2006/main">
            <a:off x="533400" y="2403127"/>
            <a:ext cx="5495925" cy="628650"/>
          </a:xfrm>
          <a:prstGeom xmlns:a="http://schemas.openxmlformats.org/drawingml/2006/main" prst="roundRect">
            <a:avLst>
              <a:gd name="adj" fmla="val 9090"/>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80CCE5B1-477B-4157-8397-128ACAB23BE0}"/>
              </a:ext>
            </a:extLst>
          </p:cNvPr>
          <p:cNvSpPr>
            <a:spLocks xmlns:a="http://schemas.openxmlformats.org/drawingml/2006/main" noGrp="1"/>
          </p:cNvSpPr>
          <p:nvPr/>
        </p:nvSpPr>
        <p:spPr>
          <a:xfrm xmlns:a="http://schemas.openxmlformats.org/drawingml/2006/main">
            <a:off x="6162675" y="2403127"/>
            <a:ext cx="5495925" cy="628650"/>
          </a:xfrm>
          <a:prstGeom xmlns:a="http://schemas.openxmlformats.org/drawingml/2006/main" prst="roundRect">
            <a:avLst>
              <a:gd name="adj" fmla="val 9090"/>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BDAB3CA4-89AE-49D5-BCC7-8375F4E1F7F0}"/>
              </a:ext>
            </a:extLst>
          </p:cNvPr>
          <p:cNvSpPr>
            <a:spLocks xmlns:a="http://schemas.openxmlformats.org/drawingml/2006/main" noGrp="1"/>
          </p:cNvSpPr>
          <p:nvPr/>
        </p:nvSpPr>
        <p:spPr>
          <a:xfrm xmlns:a="http://schemas.openxmlformats.org/drawingml/2006/main">
            <a:off x="533400" y="3165127"/>
            <a:ext cx="5495925" cy="628650"/>
          </a:xfrm>
          <a:prstGeom xmlns:a="http://schemas.openxmlformats.org/drawingml/2006/main" prst="roundRect">
            <a:avLst>
              <a:gd name="adj" fmla="val 9090"/>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093E12CD-0B2E-4F4D-A9EF-2624CEF7B23E}"/>
              </a:ext>
            </a:extLst>
          </p:cNvPr>
          <p:cNvSpPr>
            <a:spLocks xmlns:a="http://schemas.openxmlformats.org/drawingml/2006/main" noGrp="1"/>
          </p:cNvSpPr>
          <p:nvPr/>
        </p:nvSpPr>
        <p:spPr>
          <a:xfrm xmlns:a="http://schemas.openxmlformats.org/drawingml/2006/main">
            <a:off x="6162675" y="3165127"/>
            <a:ext cx="5495925" cy="628650"/>
          </a:xfrm>
          <a:prstGeom xmlns:a="http://schemas.openxmlformats.org/drawingml/2006/main" prst="roundRect">
            <a:avLst>
              <a:gd name="adj" fmla="val 9090"/>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34C5DE93-AB1F-4BD4-83F5-A6ABEE7D26CA}"/>
              </a:ext>
            </a:extLst>
          </p:cNvPr>
          <p:cNvSpPr>
            <a:spLocks xmlns:a="http://schemas.openxmlformats.org/drawingml/2006/main" noGrp="1"/>
          </p:cNvSpPr>
          <p:nvPr/>
        </p:nvSpPr>
        <p:spPr>
          <a:xfrm xmlns:a="http://schemas.openxmlformats.org/drawingml/2006/main">
            <a:off x="533400" y="3927127"/>
            <a:ext cx="5495925" cy="628650"/>
          </a:xfrm>
          <a:prstGeom xmlns:a="http://schemas.openxmlformats.org/drawingml/2006/main" prst="roundRect">
            <a:avLst>
              <a:gd name="adj" fmla="val 9090"/>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ounded Rectangle 8">
            <a:extLst xmlns:a="http://schemas.openxmlformats.org/drawingml/2006/main">
              <a:ext uri="{FF2B5EF4-FFF2-40B4-BE49-F238E27FC236}">
                <a16:creationId xmlns:a16="http://schemas.microsoft.com/office/drawing/2014/main" id="{5E16E211-4E95-480E-898B-4A17769B400A}"/>
              </a:ext>
            </a:extLst>
          </p:cNvPr>
          <p:cNvSpPr>
            <a:spLocks xmlns:a="http://schemas.openxmlformats.org/drawingml/2006/main" noGrp="1"/>
          </p:cNvSpPr>
          <p:nvPr/>
        </p:nvSpPr>
        <p:spPr>
          <a:xfrm xmlns:a="http://schemas.openxmlformats.org/drawingml/2006/main">
            <a:off x="6162675" y="3927127"/>
            <a:ext cx="5495925" cy="628650"/>
          </a:xfrm>
          <a:prstGeom xmlns:a="http://schemas.openxmlformats.org/drawingml/2006/main" prst="roundRect">
            <a:avLst>
              <a:gd name="adj" fmla="val 9090"/>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ounded Rectangle 9">
            <a:extLst xmlns:a="http://schemas.openxmlformats.org/drawingml/2006/main">
              <a:ext uri="{FF2B5EF4-FFF2-40B4-BE49-F238E27FC236}">
                <a16:creationId xmlns:a16="http://schemas.microsoft.com/office/drawing/2014/main" id="{61E1FA86-DC3F-4094-8467-9857B9945D1E}"/>
              </a:ext>
            </a:extLst>
          </p:cNvPr>
          <p:cNvSpPr>
            <a:spLocks xmlns:a="http://schemas.openxmlformats.org/drawingml/2006/main" noGrp="1"/>
          </p:cNvSpPr>
          <p:nvPr/>
        </p:nvSpPr>
        <p:spPr>
          <a:xfrm xmlns:a="http://schemas.openxmlformats.org/drawingml/2006/main">
            <a:off x="742950" y="2598390"/>
            <a:ext cx="209550" cy="238125"/>
          </a:xfrm>
          <a:prstGeom xmlns:a="http://schemas.openxmlformats.org/drawingml/2006/main" prst="roundRect">
            <a:avLst>
              <a:gd name="adj" fmla="val 18181"/>
            </a:avLst>
          </a:prstGeom>
          <a:solidFill xmlns:a="http://schemas.openxmlformats.org/drawingml/2006/main">
            <a:srgbClr val="FEF2F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ectangle 10">
            <a:extLst xmlns:a="http://schemas.openxmlformats.org/drawingml/2006/main">
              <a:ext uri="{FF2B5EF4-FFF2-40B4-BE49-F238E27FC236}">
                <a16:creationId xmlns:a16="http://schemas.microsoft.com/office/drawing/2014/main" id="{ABC1134C-F383-4C9F-B205-F3DD0F2D9F58}"/>
              </a:ext>
            </a:extLst>
          </p:cNvPr>
          <p:cNvSpPr>
            <a:spLocks xmlns:a="http://schemas.openxmlformats.org/drawingml/2006/main" noGrp="1"/>
          </p:cNvSpPr>
          <p:nvPr/>
        </p:nvSpPr>
        <p:spPr>
          <a:xfrm xmlns:a="http://schemas.openxmlformats.org/drawingml/2006/main">
            <a:off x="533400" y="3022252"/>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ectangle 11">
            <a:extLst xmlns:a="http://schemas.openxmlformats.org/drawingml/2006/main">
              <a:ext uri="{FF2B5EF4-FFF2-40B4-BE49-F238E27FC236}">
                <a16:creationId xmlns:a16="http://schemas.microsoft.com/office/drawing/2014/main" id="{F3008614-5B6D-4811-BDC5-78E5107BEA9C}"/>
              </a:ext>
            </a:extLst>
          </p:cNvPr>
          <p:cNvSpPr>
            <a:spLocks xmlns:a="http://schemas.openxmlformats.org/drawingml/2006/main" noGrp="1"/>
          </p:cNvSpPr>
          <p:nvPr/>
        </p:nvSpPr>
        <p:spPr>
          <a:xfrm xmlns:a="http://schemas.openxmlformats.org/drawingml/2006/main">
            <a:off x="533400" y="2403127"/>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Rectangle 12">
            <a:extLst xmlns:a="http://schemas.openxmlformats.org/drawingml/2006/main">
              <a:ext uri="{FF2B5EF4-FFF2-40B4-BE49-F238E27FC236}">
                <a16:creationId xmlns:a16="http://schemas.microsoft.com/office/drawing/2014/main" id="{8B91EC6B-EE78-4A89-8FD6-E972BB41519C}"/>
              </a:ext>
            </a:extLst>
          </p:cNvPr>
          <p:cNvSpPr>
            <a:spLocks xmlns:a="http://schemas.openxmlformats.org/drawingml/2006/main" noGrp="1"/>
          </p:cNvSpPr>
          <p:nvPr/>
        </p:nvSpPr>
        <p:spPr>
          <a:xfrm xmlns:a="http://schemas.openxmlformats.org/drawingml/2006/main">
            <a:off x="533400" y="2403127"/>
            <a:ext cx="38100" cy="628650"/>
          </a:xfrm>
          <a:prstGeom xmlns:a="http://schemas.openxmlformats.org/drawingml/2006/main" prst="rect">
            <a:avLst/>
          </a:prstGeom>
          <a:solidFill xmlns:a="http://schemas.openxmlformats.org/drawingml/2006/main">
            <a:srgbClr val="DC2626"/>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Rectangle 13">
            <a:extLst xmlns:a="http://schemas.openxmlformats.org/drawingml/2006/main">
              <a:ext uri="{FF2B5EF4-FFF2-40B4-BE49-F238E27FC236}">
                <a16:creationId xmlns:a16="http://schemas.microsoft.com/office/drawing/2014/main" id="{537FC8AE-AEE7-4560-B108-9E2A55CAF856}"/>
              </a:ext>
            </a:extLst>
          </p:cNvPr>
          <p:cNvSpPr>
            <a:spLocks xmlns:a="http://schemas.openxmlformats.org/drawingml/2006/main" noGrp="1"/>
          </p:cNvSpPr>
          <p:nvPr/>
        </p:nvSpPr>
        <p:spPr>
          <a:xfrm xmlns:a="http://schemas.openxmlformats.org/drawingml/2006/main">
            <a:off x="6019800" y="2403127"/>
            <a:ext cx="9525" cy="628650"/>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Rounded Rectangle 14">
            <a:extLst xmlns:a="http://schemas.openxmlformats.org/drawingml/2006/main">
              <a:ext uri="{FF2B5EF4-FFF2-40B4-BE49-F238E27FC236}">
                <a16:creationId xmlns:a16="http://schemas.microsoft.com/office/drawing/2014/main" id="{9D109947-C582-4A4B-B8D1-FF3722487C4E}"/>
              </a:ext>
            </a:extLst>
          </p:cNvPr>
          <p:cNvSpPr>
            <a:spLocks xmlns:a="http://schemas.openxmlformats.org/drawingml/2006/main" noGrp="1"/>
          </p:cNvSpPr>
          <p:nvPr/>
        </p:nvSpPr>
        <p:spPr>
          <a:xfrm xmlns:a="http://schemas.openxmlformats.org/drawingml/2006/main">
            <a:off x="6372225" y="2598390"/>
            <a:ext cx="238125" cy="238125"/>
          </a:xfrm>
          <a:prstGeom xmlns:a="http://schemas.openxmlformats.org/drawingml/2006/main" prst="roundRect">
            <a:avLst>
              <a:gd name="adj" fmla="val 16000"/>
            </a:avLst>
          </a:prstGeom>
          <a:solidFill xmlns:a="http://schemas.openxmlformats.org/drawingml/2006/main">
            <a:srgbClr val="FEF2F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 name="Rectangle 15">
            <a:extLst xmlns:a="http://schemas.openxmlformats.org/drawingml/2006/main">
              <a:ext uri="{FF2B5EF4-FFF2-40B4-BE49-F238E27FC236}">
                <a16:creationId xmlns:a16="http://schemas.microsoft.com/office/drawing/2014/main" id="{2B0F860B-77BD-4224-A987-7AC75E34F8A2}"/>
              </a:ext>
            </a:extLst>
          </p:cNvPr>
          <p:cNvSpPr>
            <a:spLocks xmlns:a="http://schemas.openxmlformats.org/drawingml/2006/main" noGrp="1"/>
          </p:cNvSpPr>
          <p:nvPr/>
        </p:nvSpPr>
        <p:spPr>
          <a:xfrm xmlns:a="http://schemas.openxmlformats.org/drawingml/2006/main">
            <a:off x="6162675" y="3022252"/>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Rectangle 16">
            <a:extLst xmlns:a="http://schemas.openxmlformats.org/drawingml/2006/main">
              <a:ext uri="{FF2B5EF4-FFF2-40B4-BE49-F238E27FC236}">
                <a16:creationId xmlns:a16="http://schemas.microsoft.com/office/drawing/2014/main" id="{7CE8E593-24C8-468E-8874-6CA50FB7F7D6}"/>
              </a:ext>
            </a:extLst>
          </p:cNvPr>
          <p:cNvSpPr>
            <a:spLocks xmlns:a="http://schemas.openxmlformats.org/drawingml/2006/main" noGrp="1"/>
          </p:cNvSpPr>
          <p:nvPr/>
        </p:nvSpPr>
        <p:spPr>
          <a:xfrm xmlns:a="http://schemas.openxmlformats.org/drawingml/2006/main">
            <a:off x="6162675" y="2403127"/>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Rectangle 17">
            <a:extLst xmlns:a="http://schemas.openxmlformats.org/drawingml/2006/main">
              <a:ext uri="{FF2B5EF4-FFF2-40B4-BE49-F238E27FC236}">
                <a16:creationId xmlns:a16="http://schemas.microsoft.com/office/drawing/2014/main" id="{7297B269-AEBD-4E95-A516-FCBE6F6DDE1B}"/>
              </a:ext>
            </a:extLst>
          </p:cNvPr>
          <p:cNvSpPr>
            <a:spLocks xmlns:a="http://schemas.openxmlformats.org/drawingml/2006/main" noGrp="1"/>
          </p:cNvSpPr>
          <p:nvPr/>
        </p:nvSpPr>
        <p:spPr>
          <a:xfrm xmlns:a="http://schemas.openxmlformats.org/drawingml/2006/main">
            <a:off x="6162675" y="2403127"/>
            <a:ext cx="38100" cy="628650"/>
          </a:xfrm>
          <a:prstGeom xmlns:a="http://schemas.openxmlformats.org/drawingml/2006/main" prst="rect">
            <a:avLst/>
          </a:prstGeom>
          <a:solidFill xmlns:a="http://schemas.openxmlformats.org/drawingml/2006/main">
            <a:srgbClr val="DC2626"/>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9" name="Rectangle 18">
            <a:extLst xmlns:a="http://schemas.openxmlformats.org/drawingml/2006/main">
              <a:ext uri="{FF2B5EF4-FFF2-40B4-BE49-F238E27FC236}">
                <a16:creationId xmlns:a16="http://schemas.microsoft.com/office/drawing/2014/main" id="{50A65EB9-3F0A-487A-8144-7C8DA466668B}"/>
              </a:ext>
            </a:extLst>
          </p:cNvPr>
          <p:cNvSpPr>
            <a:spLocks xmlns:a="http://schemas.openxmlformats.org/drawingml/2006/main" noGrp="1"/>
          </p:cNvSpPr>
          <p:nvPr/>
        </p:nvSpPr>
        <p:spPr>
          <a:xfrm xmlns:a="http://schemas.openxmlformats.org/drawingml/2006/main">
            <a:off x="11649075" y="2403127"/>
            <a:ext cx="9525" cy="628650"/>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0" name="Rounded Rectangle 19">
            <a:extLst xmlns:a="http://schemas.openxmlformats.org/drawingml/2006/main">
              <a:ext uri="{FF2B5EF4-FFF2-40B4-BE49-F238E27FC236}">
                <a16:creationId xmlns:a16="http://schemas.microsoft.com/office/drawing/2014/main" id="{CD13A38D-94D9-4937-BE26-08EC27E67D74}"/>
              </a:ext>
            </a:extLst>
          </p:cNvPr>
          <p:cNvSpPr>
            <a:spLocks xmlns:a="http://schemas.openxmlformats.org/drawingml/2006/main" noGrp="1"/>
          </p:cNvSpPr>
          <p:nvPr/>
        </p:nvSpPr>
        <p:spPr>
          <a:xfrm xmlns:a="http://schemas.openxmlformats.org/drawingml/2006/main">
            <a:off x="742950" y="3360390"/>
            <a:ext cx="238125" cy="238125"/>
          </a:xfrm>
          <a:prstGeom xmlns:a="http://schemas.openxmlformats.org/drawingml/2006/main" prst="roundRect">
            <a:avLst>
              <a:gd name="adj" fmla="val 16000"/>
            </a:avLst>
          </a:prstGeom>
          <a:solidFill xmlns:a="http://schemas.openxmlformats.org/drawingml/2006/main">
            <a:srgbClr val="FFF7E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Rectangle 20">
            <a:extLst xmlns:a="http://schemas.openxmlformats.org/drawingml/2006/main">
              <a:ext uri="{FF2B5EF4-FFF2-40B4-BE49-F238E27FC236}">
                <a16:creationId xmlns:a16="http://schemas.microsoft.com/office/drawing/2014/main" id="{56895CD4-7B76-46E2-A951-633B3441763D}"/>
              </a:ext>
            </a:extLst>
          </p:cNvPr>
          <p:cNvSpPr>
            <a:spLocks xmlns:a="http://schemas.openxmlformats.org/drawingml/2006/main" noGrp="1"/>
          </p:cNvSpPr>
          <p:nvPr/>
        </p:nvSpPr>
        <p:spPr>
          <a:xfrm xmlns:a="http://schemas.openxmlformats.org/drawingml/2006/main">
            <a:off x="533400" y="3784252"/>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2" name="Rectangle 21">
            <a:extLst xmlns:a="http://schemas.openxmlformats.org/drawingml/2006/main">
              <a:ext uri="{FF2B5EF4-FFF2-40B4-BE49-F238E27FC236}">
                <a16:creationId xmlns:a16="http://schemas.microsoft.com/office/drawing/2014/main" id="{A205623C-2E2A-48B1-B5E6-32F84A49AAD5}"/>
              </a:ext>
            </a:extLst>
          </p:cNvPr>
          <p:cNvSpPr>
            <a:spLocks xmlns:a="http://schemas.openxmlformats.org/drawingml/2006/main" noGrp="1"/>
          </p:cNvSpPr>
          <p:nvPr/>
        </p:nvSpPr>
        <p:spPr>
          <a:xfrm xmlns:a="http://schemas.openxmlformats.org/drawingml/2006/main">
            <a:off x="533400" y="3165127"/>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Rectangle 22">
            <a:extLst xmlns:a="http://schemas.openxmlformats.org/drawingml/2006/main">
              <a:ext uri="{FF2B5EF4-FFF2-40B4-BE49-F238E27FC236}">
                <a16:creationId xmlns:a16="http://schemas.microsoft.com/office/drawing/2014/main" id="{E86C074A-CBB1-45F1-B615-F3A1C44BDBCA}"/>
              </a:ext>
            </a:extLst>
          </p:cNvPr>
          <p:cNvSpPr>
            <a:spLocks xmlns:a="http://schemas.openxmlformats.org/drawingml/2006/main" noGrp="1"/>
          </p:cNvSpPr>
          <p:nvPr/>
        </p:nvSpPr>
        <p:spPr>
          <a:xfrm xmlns:a="http://schemas.openxmlformats.org/drawingml/2006/main">
            <a:off x="533400" y="3165127"/>
            <a:ext cx="38100" cy="628650"/>
          </a:xfrm>
          <a:prstGeom xmlns:a="http://schemas.openxmlformats.org/drawingml/2006/main" prst="rect">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4" name="Rectangle 23">
            <a:extLst xmlns:a="http://schemas.openxmlformats.org/drawingml/2006/main">
              <a:ext uri="{FF2B5EF4-FFF2-40B4-BE49-F238E27FC236}">
                <a16:creationId xmlns:a16="http://schemas.microsoft.com/office/drawing/2014/main" id="{2C904052-6C94-449D-9CD2-8FDB2E6A6C8B}"/>
              </a:ext>
            </a:extLst>
          </p:cNvPr>
          <p:cNvSpPr>
            <a:spLocks xmlns:a="http://schemas.openxmlformats.org/drawingml/2006/main" noGrp="1"/>
          </p:cNvSpPr>
          <p:nvPr/>
        </p:nvSpPr>
        <p:spPr>
          <a:xfrm xmlns:a="http://schemas.openxmlformats.org/drawingml/2006/main">
            <a:off x="6019800" y="3165127"/>
            <a:ext cx="9525" cy="628650"/>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Rounded Rectangle 24">
            <a:extLst xmlns:a="http://schemas.openxmlformats.org/drawingml/2006/main">
              <a:ext uri="{FF2B5EF4-FFF2-40B4-BE49-F238E27FC236}">
                <a16:creationId xmlns:a16="http://schemas.microsoft.com/office/drawing/2014/main" id="{9F1B87F5-C153-4CE4-8C6E-55F658CAB81F}"/>
              </a:ext>
            </a:extLst>
          </p:cNvPr>
          <p:cNvSpPr>
            <a:spLocks xmlns:a="http://schemas.openxmlformats.org/drawingml/2006/main" noGrp="1"/>
          </p:cNvSpPr>
          <p:nvPr/>
        </p:nvSpPr>
        <p:spPr>
          <a:xfrm xmlns:a="http://schemas.openxmlformats.org/drawingml/2006/main">
            <a:off x="6372225" y="3360390"/>
            <a:ext cx="238125" cy="238125"/>
          </a:xfrm>
          <a:prstGeom xmlns:a="http://schemas.openxmlformats.org/drawingml/2006/main" prst="roundRect">
            <a:avLst>
              <a:gd name="adj" fmla="val 16000"/>
            </a:avLst>
          </a:prstGeom>
          <a:solidFill xmlns:a="http://schemas.openxmlformats.org/drawingml/2006/main">
            <a:srgbClr val="FFF7E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6" name="Rectangle 25">
            <a:extLst xmlns:a="http://schemas.openxmlformats.org/drawingml/2006/main">
              <a:ext uri="{FF2B5EF4-FFF2-40B4-BE49-F238E27FC236}">
                <a16:creationId xmlns:a16="http://schemas.microsoft.com/office/drawing/2014/main" id="{08A697CA-4671-49BB-B377-E5E73EB46BF2}"/>
              </a:ext>
            </a:extLst>
          </p:cNvPr>
          <p:cNvSpPr>
            <a:spLocks xmlns:a="http://schemas.openxmlformats.org/drawingml/2006/main" noGrp="1"/>
          </p:cNvSpPr>
          <p:nvPr/>
        </p:nvSpPr>
        <p:spPr>
          <a:xfrm xmlns:a="http://schemas.openxmlformats.org/drawingml/2006/main">
            <a:off x="6162675" y="3784252"/>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7" name="Rectangle 26">
            <a:extLst xmlns:a="http://schemas.openxmlformats.org/drawingml/2006/main">
              <a:ext uri="{FF2B5EF4-FFF2-40B4-BE49-F238E27FC236}">
                <a16:creationId xmlns:a16="http://schemas.microsoft.com/office/drawing/2014/main" id="{3AEFF11E-998A-44B6-BB7B-D723392BD235}"/>
              </a:ext>
            </a:extLst>
          </p:cNvPr>
          <p:cNvSpPr>
            <a:spLocks xmlns:a="http://schemas.openxmlformats.org/drawingml/2006/main" noGrp="1"/>
          </p:cNvSpPr>
          <p:nvPr/>
        </p:nvSpPr>
        <p:spPr>
          <a:xfrm xmlns:a="http://schemas.openxmlformats.org/drawingml/2006/main">
            <a:off x="6162675" y="3165127"/>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8" name="Rectangle 27">
            <a:extLst xmlns:a="http://schemas.openxmlformats.org/drawingml/2006/main">
              <a:ext uri="{FF2B5EF4-FFF2-40B4-BE49-F238E27FC236}">
                <a16:creationId xmlns:a16="http://schemas.microsoft.com/office/drawing/2014/main" id="{AA431D03-B518-4D27-92CC-07029CB69B93}"/>
              </a:ext>
            </a:extLst>
          </p:cNvPr>
          <p:cNvSpPr>
            <a:spLocks xmlns:a="http://schemas.openxmlformats.org/drawingml/2006/main" noGrp="1"/>
          </p:cNvSpPr>
          <p:nvPr/>
        </p:nvSpPr>
        <p:spPr>
          <a:xfrm xmlns:a="http://schemas.openxmlformats.org/drawingml/2006/main">
            <a:off x="6162675" y="3165127"/>
            <a:ext cx="38100" cy="628650"/>
          </a:xfrm>
          <a:prstGeom xmlns:a="http://schemas.openxmlformats.org/drawingml/2006/main" prst="rect">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Rectangle 28">
            <a:extLst xmlns:a="http://schemas.openxmlformats.org/drawingml/2006/main">
              <a:ext uri="{FF2B5EF4-FFF2-40B4-BE49-F238E27FC236}">
                <a16:creationId xmlns:a16="http://schemas.microsoft.com/office/drawing/2014/main" id="{C1649C59-33BE-47BB-918E-6BE68DC7D529}"/>
              </a:ext>
            </a:extLst>
          </p:cNvPr>
          <p:cNvSpPr>
            <a:spLocks xmlns:a="http://schemas.openxmlformats.org/drawingml/2006/main" noGrp="1"/>
          </p:cNvSpPr>
          <p:nvPr/>
        </p:nvSpPr>
        <p:spPr>
          <a:xfrm xmlns:a="http://schemas.openxmlformats.org/drawingml/2006/main">
            <a:off x="11649075" y="3165127"/>
            <a:ext cx="9525" cy="628650"/>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0" name="Rounded Rectangle 29">
            <a:extLst xmlns:a="http://schemas.openxmlformats.org/drawingml/2006/main">
              <a:ext uri="{FF2B5EF4-FFF2-40B4-BE49-F238E27FC236}">
                <a16:creationId xmlns:a16="http://schemas.microsoft.com/office/drawing/2014/main" id="{369F091A-738E-4CA0-92B0-4260354993CC}"/>
              </a:ext>
            </a:extLst>
          </p:cNvPr>
          <p:cNvSpPr>
            <a:spLocks xmlns:a="http://schemas.openxmlformats.org/drawingml/2006/main" noGrp="1"/>
          </p:cNvSpPr>
          <p:nvPr/>
        </p:nvSpPr>
        <p:spPr>
          <a:xfrm xmlns:a="http://schemas.openxmlformats.org/drawingml/2006/main">
            <a:off x="742950" y="4122390"/>
            <a:ext cx="238125" cy="238125"/>
          </a:xfrm>
          <a:prstGeom xmlns:a="http://schemas.openxmlformats.org/drawingml/2006/main" prst="roundRect">
            <a:avLst>
              <a:gd name="adj" fmla="val 16000"/>
            </a:avLst>
          </a:prstGeom>
          <a:solidFill xmlns:a="http://schemas.openxmlformats.org/drawingml/2006/main">
            <a:srgbClr val="EFF6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1" name="Rectangle 30">
            <a:extLst xmlns:a="http://schemas.openxmlformats.org/drawingml/2006/main">
              <a:ext uri="{FF2B5EF4-FFF2-40B4-BE49-F238E27FC236}">
                <a16:creationId xmlns:a16="http://schemas.microsoft.com/office/drawing/2014/main" id="{C4F1EC79-5831-4770-90C8-EE39456DDA9A}"/>
              </a:ext>
            </a:extLst>
          </p:cNvPr>
          <p:cNvSpPr>
            <a:spLocks xmlns:a="http://schemas.openxmlformats.org/drawingml/2006/main" noGrp="1"/>
          </p:cNvSpPr>
          <p:nvPr/>
        </p:nvSpPr>
        <p:spPr>
          <a:xfrm xmlns:a="http://schemas.openxmlformats.org/drawingml/2006/main">
            <a:off x="533400" y="4546252"/>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2" name="Rectangle 31">
            <a:extLst xmlns:a="http://schemas.openxmlformats.org/drawingml/2006/main">
              <a:ext uri="{FF2B5EF4-FFF2-40B4-BE49-F238E27FC236}">
                <a16:creationId xmlns:a16="http://schemas.microsoft.com/office/drawing/2014/main" id="{7DF6DAED-EC1B-424E-9D52-13FB06571399}"/>
              </a:ext>
            </a:extLst>
          </p:cNvPr>
          <p:cNvSpPr>
            <a:spLocks xmlns:a="http://schemas.openxmlformats.org/drawingml/2006/main" noGrp="1"/>
          </p:cNvSpPr>
          <p:nvPr/>
        </p:nvSpPr>
        <p:spPr>
          <a:xfrm xmlns:a="http://schemas.openxmlformats.org/drawingml/2006/main">
            <a:off x="533400" y="3927127"/>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3" name="Rectangle 32">
            <a:extLst xmlns:a="http://schemas.openxmlformats.org/drawingml/2006/main">
              <a:ext uri="{FF2B5EF4-FFF2-40B4-BE49-F238E27FC236}">
                <a16:creationId xmlns:a16="http://schemas.microsoft.com/office/drawing/2014/main" id="{80C32452-27C0-416D-B954-65DF2637B26F}"/>
              </a:ext>
            </a:extLst>
          </p:cNvPr>
          <p:cNvSpPr>
            <a:spLocks xmlns:a="http://schemas.openxmlformats.org/drawingml/2006/main" noGrp="1"/>
          </p:cNvSpPr>
          <p:nvPr/>
        </p:nvSpPr>
        <p:spPr>
          <a:xfrm xmlns:a="http://schemas.openxmlformats.org/drawingml/2006/main">
            <a:off x="533400" y="3927127"/>
            <a:ext cx="38100" cy="628650"/>
          </a:xfrm>
          <a:prstGeom xmlns:a="http://schemas.openxmlformats.org/drawingml/2006/main" prst="rect">
            <a:avLst/>
          </a:prstGeom>
          <a:solidFill xmlns:a="http://schemas.openxmlformats.org/drawingml/2006/main">
            <a:srgbClr val="2563E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4" name="Rectangle 33">
            <a:extLst xmlns:a="http://schemas.openxmlformats.org/drawingml/2006/main">
              <a:ext uri="{FF2B5EF4-FFF2-40B4-BE49-F238E27FC236}">
                <a16:creationId xmlns:a16="http://schemas.microsoft.com/office/drawing/2014/main" id="{11068D9A-A9B9-42B8-B6A9-7BAC3E29A1BC}"/>
              </a:ext>
            </a:extLst>
          </p:cNvPr>
          <p:cNvSpPr>
            <a:spLocks xmlns:a="http://schemas.openxmlformats.org/drawingml/2006/main" noGrp="1"/>
          </p:cNvSpPr>
          <p:nvPr/>
        </p:nvSpPr>
        <p:spPr>
          <a:xfrm xmlns:a="http://schemas.openxmlformats.org/drawingml/2006/main">
            <a:off x="6019800" y="3927127"/>
            <a:ext cx="9525" cy="628650"/>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5" name="Rounded Rectangle 34">
            <a:extLst xmlns:a="http://schemas.openxmlformats.org/drawingml/2006/main">
              <a:ext uri="{FF2B5EF4-FFF2-40B4-BE49-F238E27FC236}">
                <a16:creationId xmlns:a16="http://schemas.microsoft.com/office/drawing/2014/main" id="{97E7D3D4-F9FA-4FB4-A8B1-C69F1D3BE889}"/>
              </a:ext>
            </a:extLst>
          </p:cNvPr>
          <p:cNvSpPr>
            <a:spLocks xmlns:a="http://schemas.openxmlformats.org/drawingml/2006/main" noGrp="1"/>
          </p:cNvSpPr>
          <p:nvPr/>
        </p:nvSpPr>
        <p:spPr>
          <a:xfrm xmlns:a="http://schemas.openxmlformats.org/drawingml/2006/main">
            <a:off x="6372225" y="4122390"/>
            <a:ext cx="238125" cy="238125"/>
          </a:xfrm>
          <a:prstGeom xmlns:a="http://schemas.openxmlformats.org/drawingml/2006/main" prst="roundRect">
            <a:avLst>
              <a:gd name="adj" fmla="val 16000"/>
            </a:avLst>
          </a:prstGeom>
          <a:solidFill xmlns:a="http://schemas.openxmlformats.org/drawingml/2006/main">
            <a:srgbClr val="EFF6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6" name="Rectangle 35">
            <a:extLst xmlns:a="http://schemas.openxmlformats.org/drawingml/2006/main">
              <a:ext uri="{FF2B5EF4-FFF2-40B4-BE49-F238E27FC236}">
                <a16:creationId xmlns:a16="http://schemas.microsoft.com/office/drawing/2014/main" id="{CD6B0EDE-FC8D-43F9-9C9F-2AF317DEF812}"/>
              </a:ext>
            </a:extLst>
          </p:cNvPr>
          <p:cNvSpPr>
            <a:spLocks xmlns:a="http://schemas.openxmlformats.org/drawingml/2006/main" noGrp="1"/>
          </p:cNvSpPr>
          <p:nvPr/>
        </p:nvSpPr>
        <p:spPr>
          <a:xfrm xmlns:a="http://schemas.openxmlformats.org/drawingml/2006/main">
            <a:off x="6162675" y="4546252"/>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7" name="Rectangle 36">
            <a:extLst xmlns:a="http://schemas.openxmlformats.org/drawingml/2006/main">
              <a:ext uri="{FF2B5EF4-FFF2-40B4-BE49-F238E27FC236}">
                <a16:creationId xmlns:a16="http://schemas.microsoft.com/office/drawing/2014/main" id="{DED724F7-6E11-4FA8-9627-86AA6E3FA133}"/>
              </a:ext>
            </a:extLst>
          </p:cNvPr>
          <p:cNvSpPr>
            <a:spLocks xmlns:a="http://schemas.openxmlformats.org/drawingml/2006/main" noGrp="1"/>
          </p:cNvSpPr>
          <p:nvPr/>
        </p:nvSpPr>
        <p:spPr>
          <a:xfrm xmlns:a="http://schemas.openxmlformats.org/drawingml/2006/main">
            <a:off x="6162675" y="3927127"/>
            <a:ext cx="5495925"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Rectangle 37">
            <a:extLst xmlns:a="http://schemas.openxmlformats.org/drawingml/2006/main">
              <a:ext uri="{FF2B5EF4-FFF2-40B4-BE49-F238E27FC236}">
                <a16:creationId xmlns:a16="http://schemas.microsoft.com/office/drawing/2014/main" id="{E51B64AE-1BFA-4819-82E3-04CBB45CB698}"/>
              </a:ext>
            </a:extLst>
          </p:cNvPr>
          <p:cNvSpPr>
            <a:spLocks xmlns:a="http://schemas.openxmlformats.org/drawingml/2006/main" noGrp="1"/>
          </p:cNvSpPr>
          <p:nvPr/>
        </p:nvSpPr>
        <p:spPr>
          <a:xfrm xmlns:a="http://schemas.openxmlformats.org/drawingml/2006/main">
            <a:off x="6162675" y="3927127"/>
            <a:ext cx="38100" cy="628650"/>
          </a:xfrm>
          <a:prstGeom xmlns:a="http://schemas.openxmlformats.org/drawingml/2006/main" prst="rect">
            <a:avLst/>
          </a:prstGeom>
          <a:solidFill xmlns:a="http://schemas.openxmlformats.org/drawingml/2006/main">
            <a:srgbClr val="2563E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9" name="Rectangle 38">
            <a:extLst xmlns:a="http://schemas.openxmlformats.org/drawingml/2006/main">
              <a:ext uri="{FF2B5EF4-FFF2-40B4-BE49-F238E27FC236}">
                <a16:creationId xmlns:a16="http://schemas.microsoft.com/office/drawing/2014/main" id="{F185018D-986B-4FC1-8360-4B60DD2A3C30}"/>
              </a:ext>
            </a:extLst>
          </p:cNvPr>
          <p:cNvSpPr>
            <a:spLocks xmlns:a="http://schemas.openxmlformats.org/drawingml/2006/main" noGrp="1"/>
          </p:cNvSpPr>
          <p:nvPr/>
        </p:nvSpPr>
        <p:spPr>
          <a:xfrm xmlns:a="http://schemas.openxmlformats.org/drawingml/2006/main">
            <a:off x="11649075" y="3927127"/>
            <a:ext cx="9525" cy="628650"/>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0" name="TextBox 39">
            <a:extLst xmlns:a="http://schemas.openxmlformats.org/drawingml/2006/main">
              <a:ext uri="{FF2B5EF4-FFF2-40B4-BE49-F238E27FC236}">
                <a16:creationId xmlns:a16="http://schemas.microsoft.com/office/drawing/2014/main" id="{A03E2172-3A83-4908-AED3-87057F9F9ACA}"/>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41" name="TextBox 40">
            <a:extLst xmlns:a="http://schemas.openxmlformats.org/drawingml/2006/main">
              <a:ext uri="{FF2B5EF4-FFF2-40B4-BE49-F238E27FC236}">
                <a16:creationId xmlns:a16="http://schemas.microsoft.com/office/drawing/2014/main" id="{6C812F3D-65C2-4F3E-9FF0-21B55F76A81E}"/>
              </a:ext>
            </a:extLst>
          </p:cNvPr>
          <p:cNvSpPr>
            <a:spLocks xmlns:a="http://schemas.openxmlformats.org/drawingml/2006/main" noGrp="1"/>
          </p:cNvSpPr>
          <p:nvPr/>
        </p:nvSpPr>
        <p:spPr>
          <a:xfrm xmlns:a="http://schemas.openxmlformats.org/drawingml/2006/main">
            <a:off x="533400" y="381000"/>
            <a:ext cx="8298656"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PRIORITY CHOICE</a:t>
            </a:r>
          </a:p>
        </p:txBody>
      </p:sp>
      <p:sp>
        <p:nvSpPr>
          <p:cNvPr id="42" name="TextBox 41">
            <a:extLst xmlns:a="http://schemas.openxmlformats.org/drawingml/2006/main">
              <a:ext uri="{FF2B5EF4-FFF2-40B4-BE49-F238E27FC236}">
                <a16:creationId xmlns:a16="http://schemas.microsoft.com/office/drawing/2014/main" id="{44CC3011-5146-4CCA-B730-6517E34F0403}"/>
              </a:ext>
            </a:extLst>
          </p:cNvPr>
          <p:cNvSpPr>
            <a:spLocks xmlns:a="http://schemas.openxmlformats.org/drawingml/2006/main" noGrp="1"/>
          </p:cNvSpPr>
          <p:nvPr/>
        </p:nvSpPr>
        <p:spPr>
          <a:xfrm xmlns:a="http://schemas.openxmlformats.org/drawingml/2006/main">
            <a:off x="533400" y="609600"/>
            <a:ext cx="8713589"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Seven Problems Exist. Q1–Q2 Concentrates on the First Four.</a:t>
            </a:r>
          </a:p>
        </p:txBody>
      </p:sp>
      <p:sp>
        <p:nvSpPr>
          <p:cNvPr id="43" name="TextBox 42">
            <a:extLst xmlns:a="http://schemas.openxmlformats.org/drawingml/2006/main">
              <a:ext uri="{FF2B5EF4-FFF2-40B4-BE49-F238E27FC236}">
                <a16:creationId xmlns:a16="http://schemas.microsoft.com/office/drawing/2014/main" id="{A79D95FE-3D34-4AC9-9FBE-166C0302BB20}"/>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44" name="TextBox 43">
            <a:extLst xmlns:a="http://schemas.openxmlformats.org/drawingml/2006/main">
              <a:ext uri="{FF2B5EF4-FFF2-40B4-BE49-F238E27FC236}">
                <a16:creationId xmlns:a16="http://schemas.microsoft.com/office/drawing/2014/main" id="{09DA6CA3-3E21-4724-AA06-EF149A1B7CD5}"/>
              </a:ext>
            </a:extLst>
          </p:cNvPr>
          <p:cNvSpPr>
            <a:spLocks xmlns:a="http://schemas.openxmlformats.org/drawingml/2006/main" noGrp="1"/>
          </p:cNvSpPr>
          <p:nvPr/>
        </p:nvSpPr>
        <p:spPr>
          <a:xfrm xmlns:a="http://schemas.openxmlformats.org/drawingml/2006/main">
            <a:off x="733425" y="4889152"/>
            <a:ext cx="561975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991B1B"/>
                </a:solidFill>
                <a:latin typeface="Inter"/>
                <a:ea typeface="Inter"/>
                <a:cs typeface="Inter"/>
              </a:rPr>
              <a:t>7. Fragmented Executive Reporting</a:t>
            </a:r>
          </a:p>
        </p:txBody>
      </p:sp>
      <p:sp>
        <p:nvSpPr>
          <p:cNvPr id="45" name="TextBox 44">
            <a:extLst xmlns:a="http://schemas.openxmlformats.org/drawingml/2006/main">
              <a:ext uri="{FF2B5EF4-FFF2-40B4-BE49-F238E27FC236}">
                <a16:creationId xmlns:a16="http://schemas.microsoft.com/office/drawing/2014/main" id="{29781802-AFCC-4BFA-A48D-39D09CC61E8D}"/>
              </a:ext>
            </a:extLst>
          </p:cNvPr>
          <p:cNvSpPr>
            <a:spLocks xmlns:a="http://schemas.openxmlformats.org/drawingml/2006/main" noGrp="1"/>
          </p:cNvSpPr>
          <p:nvPr/>
        </p:nvSpPr>
        <p:spPr>
          <a:xfrm xmlns:a="http://schemas.openxmlformats.org/drawingml/2006/main">
            <a:off x="7724775" y="4898677"/>
            <a:ext cx="4467225"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DC2626"/>
                </a:solidFill>
                <a:latin typeface="Inter"/>
                <a:ea typeface="Inter"/>
                <a:cs typeface="Inter"/>
              </a:rPr>
              <a:t>No shared view links the metric, owner, decision, and proof.</a:t>
            </a:r>
          </a:p>
        </p:txBody>
      </p:sp>
      <p:sp>
        <p:nvSpPr>
          <p:cNvPr id="46" name="TextBox 45">
            <a:extLst xmlns:a="http://schemas.openxmlformats.org/drawingml/2006/main">
              <a:ext uri="{FF2B5EF4-FFF2-40B4-BE49-F238E27FC236}">
                <a16:creationId xmlns:a16="http://schemas.microsoft.com/office/drawing/2014/main" id="{EB992E53-4185-4179-82B5-A986AAA9D822}"/>
              </a:ext>
            </a:extLst>
          </p:cNvPr>
          <p:cNvSpPr>
            <a:spLocks xmlns:a="http://schemas.openxmlformats.org/drawingml/2006/main" noGrp="1"/>
          </p:cNvSpPr>
          <p:nvPr/>
        </p:nvSpPr>
        <p:spPr>
          <a:xfrm xmlns:a="http://schemas.openxmlformats.org/drawingml/2006/main">
            <a:off x="819150" y="2636490"/>
            <a:ext cx="1524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DC2626"/>
                </a:solidFill>
                <a:latin typeface="Inter"/>
                <a:ea typeface="Inter"/>
                <a:cs typeface="Inter"/>
              </a:rPr>
              <a:t>1</a:t>
            </a:r>
          </a:p>
        </p:txBody>
      </p:sp>
      <p:sp>
        <p:nvSpPr>
          <p:cNvPr id="47" name="TextBox 46">
            <a:extLst xmlns:a="http://schemas.openxmlformats.org/drawingml/2006/main">
              <a:ext uri="{FF2B5EF4-FFF2-40B4-BE49-F238E27FC236}">
                <a16:creationId xmlns:a16="http://schemas.microsoft.com/office/drawing/2014/main" id="{53915B99-0D25-4FCB-BE0E-3F4D03736014}"/>
              </a:ext>
            </a:extLst>
          </p:cNvPr>
          <p:cNvSpPr>
            <a:spLocks xmlns:a="http://schemas.openxmlformats.org/drawingml/2006/main" noGrp="1"/>
          </p:cNvSpPr>
          <p:nvPr/>
        </p:nvSpPr>
        <p:spPr>
          <a:xfrm xmlns:a="http://schemas.openxmlformats.org/drawingml/2006/main">
            <a:off x="6448425" y="2636490"/>
            <a:ext cx="1809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DC2626"/>
                </a:solidFill>
                <a:latin typeface="Inter"/>
                <a:ea typeface="Inter"/>
                <a:cs typeface="Inter"/>
              </a:rPr>
              <a:t>2</a:t>
            </a:r>
          </a:p>
        </p:txBody>
      </p:sp>
      <p:sp>
        <p:nvSpPr>
          <p:cNvPr id="48" name="TextBox 47">
            <a:extLst xmlns:a="http://schemas.openxmlformats.org/drawingml/2006/main">
              <a:ext uri="{FF2B5EF4-FFF2-40B4-BE49-F238E27FC236}">
                <a16:creationId xmlns:a16="http://schemas.microsoft.com/office/drawing/2014/main" id="{81AA54DE-A436-4086-93FD-A224F9A4E83C}"/>
              </a:ext>
            </a:extLst>
          </p:cNvPr>
          <p:cNvSpPr>
            <a:spLocks xmlns:a="http://schemas.openxmlformats.org/drawingml/2006/main" noGrp="1"/>
          </p:cNvSpPr>
          <p:nvPr/>
        </p:nvSpPr>
        <p:spPr>
          <a:xfrm xmlns:a="http://schemas.openxmlformats.org/drawingml/2006/main">
            <a:off x="819150" y="3398490"/>
            <a:ext cx="1809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EA580C"/>
                </a:solidFill>
                <a:latin typeface="Inter"/>
                <a:ea typeface="Inter"/>
                <a:cs typeface="Inter"/>
              </a:rPr>
              <a:t>3</a:t>
            </a:r>
          </a:p>
        </p:txBody>
      </p:sp>
      <p:sp>
        <p:nvSpPr>
          <p:cNvPr id="49" name="TextBox 48">
            <a:extLst xmlns:a="http://schemas.openxmlformats.org/drawingml/2006/main">
              <a:ext uri="{FF2B5EF4-FFF2-40B4-BE49-F238E27FC236}">
                <a16:creationId xmlns:a16="http://schemas.microsoft.com/office/drawing/2014/main" id="{A66CB068-249D-4E3D-B67E-EE083D0F8EBA}"/>
              </a:ext>
            </a:extLst>
          </p:cNvPr>
          <p:cNvSpPr>
            <a:spLocks xmlns:a="http://schemas.openxmlformats.org/drawingml/2006/main" noGrp="1"/>
          </p:cNvSpPr>
          <p:nvPr/>
        </p:nvSpPr>
        <p:spPr>
          <a:xfrm xmlns:a="http://schemas.openxmlformats.org/drawingml/2006/main">
            <a:off x="6448425" y="3398490"/>
            <a:ext cx="1809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EA580C"/>
                </a:solidFill>
                <a:latin typeface="Inter"/>
                <a:ea typeface="Inter"/>
                <a:cs typeface="Inter"/>
              </a:rPr>
              <a:t>4</a:t>
            </a:r>
          </a:p>
        </p:txBody>
      </p:sp>
      <p:sp>
        <p:nvSpPr>
          <p:cNvPr id="50" name="TextBox 49">
            <a:extLst xmlns:a="http://schemas.openxmlformats.org/drawingml/2006/main">
              <a:ext uri="{FF2B5EF4-FFF2-40B4-BE49-F238E27FC236}">
                <a16:creationId xmlns:a16="http://schemas.microsoft.com/office/drawing/2014/main" id="{70CC1FD8-AACB-4D25-9EC1-449A7419E8B0}"/>
              </a:ext>
            </a:extLst>
          </p:cNvPr>
          <p:cNvSpPr>
            <a:spLocks xmlns:a="http://schemas.openxmlformats.org/drawingml/2006/main" noGrp="1"/>
          </p:cNvSpPr>
          <p:nvPr/>
        </p:nvSpPr>
        <p:spPr>
          <a:xfrm xmlns:a="http://schemas.openxmlformats.org/drawingml/2006/main">
            <a:off x="819150" y="4160490"/>
            <a:ext cx="1809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2563EB"/>
                </a:solidFill>
                <a:latin typeface="Inter"/>
                <a:ea typeface="Inter"/>
                <a:cs typeface="Inter"/>
              </a:rPr>
              <a:t>5</a:t>
            </a:r>
          </a:p>
        </p:txBody>
      </p:sp>
      <p:sp>
        <p:nvSpPr>
          <p:cNvPr id="51" name="TextBox 50">
            <a:extLst xmlns:a="http://schemas.openxmlformats.org/drawingml/2006/main">
              <a:ext uri="{FF2B5EF4-FFF2-40B4-BE49-F238E27FC236}">
                <a16:creationId xmlns:a16="http://schemas.microsoft.com/office/drawing/2014/main" id="{6B023A1D-3820-4407-AAC9-A671C7920BC0}"/>
              </a:ext>
            </a:extLst>
          </p:cNvPr>
          <p:cNvSpPr>
            <a:spLocks xmlns:a="http://schemas.openxmlformats.org/drawingml/2006/main" noGrp="1"/>
          </p:cNvSpPr>
          <p:nvPr/>
        </p:nvSpPr>
        <p:spPr>
          <a:xfrm xmlns:a="http://schemas.openxmlformats.org/drawingml/2006/main">
            <a:off x="6448425" y="4160490"/>
            <a:ext cx="1809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2563EB"/>
                </a:solidFill>
                <a:latin typeface="Inter"/>
                <a:ea typeface="Inter"/>
                <a:cs typeface="Inter"/>
              </a:rPr>
              <a:t>6</a:t>
            </a:r>
          </a:p>
        </p:txBody>
      </p:sp>
      <p:sp>
        <p:nvSpPr>
          <p:cNvPr id="52" name="TextBox 51">
            <a:extLst xmlns:a="http://schemas.openxmlformats.org/drawingml/2006/main">
              <a:ext uri="{FF2B5EF4-FFF2-40B4-BE49-F238E27FC236}">
                <a16:creationId xmlns:a16="http://schemas.microsoft.com/office/drawing/2014/main" id="{F88B030D-D789-4FF4-B3BA-8581B927F203}"/>
              </a:ext>
            </a:extLst>
          </p:cNvPr>
          <p:cNvSpPr>
            <a:spLocks xmlns:a="http://schemas.openxmlformats.org/drawingml/2006/main" noGrp="1"/>
          </p:cNvSpPr>
          <p:nvPr/>
        </p:nvSpPr>
        <p:spPr>
          <a:xfrm xmlns:a="http://schemas.openxmlformats.org/drawingml/2006/main">
            <a:off x="1066800" y="2546002"/>
            <a:ext cx="6200775"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1. Promotion Margin Leakage</a:t>
            </a:r>
          </a:p>
        </p:txBody>
      </p:sp>
      <p:sp>
        <p:nvSpPr>
          <p:cNvPr id="53" name="TextBox 52">
            <a:extLst xmlns:a="http://schemas.openxmlformats.org/drawingml/2006/main">
              <a:ext uri="{FF2B5EF4-FFF2-40B4-BE49-F238E27FC236}">
                <a16:creationId xmlns:a16="http://schemas.microsoft.com/office/drawing/2014/main" id="{30730FDF-8978-43AB-825A-303BE3EC7ACC}"/>
              </a:ext>
            </a:extLst>
          </p:cNvPr>
          <p:cNvSpPr>
            <a:spLocks xmlns:a="http://schemas.openxmlformats.org/drawingml/2006/main" noGrp="1"/>
          </p:cNvSpPr>
          <p:nvPr/>
        </p:nvSpPr>
        <p:spPr>
          <a:xfrm xmlns:a="http://schemas.openxmlformats.org/drawingml/2006/main">
            <a:off x="1066800" y="2726977"/>
            <a:ext cx="5905500"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BOGO and Clearance lose $18.5M with no measurable unit lift.</a:t>
            </a:r>
          </a:p>
        </p:txBody>
      </p:sp>
      <p:sp>
        <p:nvSpPr>
          <p:cNvPr id="54" name="TextBox 53">
            <a:extLst xmlns:a="http://schemas.openxmlformats.org/drawingml/2006/main">
              <a:ext uri="{FF2B5EF4-FFF2-40B4-BE49-F238E27FC236}">
                <a16:creationId xmlns:a16="http://schemas.microsoft.com/office/drawing/2014/main" id="{4E150936-6E3F-442D-BBF5-4E9425C1D019}"/>
              </a:ext>
            </a:extLst>
          </p:cNvPr>
          <p:cNvSpPr>
            <a:spLocks xmlns:a="http://schemas.openxmlformats.org/drawingml/2006/main" noGrp="1"/>
          </p:cNvSpPr>
          <p:nvPr/>
        </p:nvSpPr>
        <p:spPr>
          <a:xfrm xmlns:a="http://schemas.openxmlformats.org/drawingml/2006/main">
            <a:off x="6724650" y="2546002"/>
            <a:ext cx="546735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2. Loss-Making Sales</a:t>
            </a:r>
          </a:p>
        </p:txBody>
      </p:sp>
      <p:sp>
        <p:nvSpPr>
          <p:cNvPr id="55" name="TextBox 54">
            <a:extLst xmlns:a="http://schemas.openxmlformats.org/drawingml/2006/main">
              <a:ext uri="{FF2B5EF4-FFF2-40B4-BE49-F238E27FC236}">
                <a16:creationId xmlns:a16="http://schemas.microsoft.com/office/drawing/2014/main" id="{C030A3AE-D311-4EEC-8E20-7F14699722D5}"/>
              </a:ext>
            </a:extLst>
          </p:cNvPr>
          <p:cNvSpPr>
            <a:spLocks xmlns:a="http://schemas.openxmlformats.org/drawingml/2006/main" noGrp="1"/>
          </p:cNvSpPr>
          <p:nvPr/>
        </p:nvSpPr>
        <p:spPr>
          <a:xfrm xmlns:a="http://schemas.openxmlformats.org/drawingml/2006/main">
            <a:off x="6724650" y="2726977"/>
            <a:ext cx="5250656"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Rank the top 50 recurring loss pockets and assign one owner.</a:t>
            </a:r>
          </a:p>
        </p:txBody>
      </p:sp>
      <p:sp>
        <p:nvSpPr>
          <p:cNvPr id="56" name="TextBox 55">
            <a:extLst xmlns:a="http://schemas.openxmlformats.org/drawingml/2006/main">
              <a:ext uri="{FF2B5EF4-FFF2-40B4-BE49-F238E27FC236}">
                <a16:creationId xmlns:a16="http://schemas.microsoft.com/office/drawing/2014/main" id="{450F6308-6E04-4009-9774-4411C93984BB}"/>
              </a:ext>
            </a:extLst>
          </p:cNvPr>
          <p:cNvSpPr>
            <a:spLocks xmlns:a="http://schemas.openxmlformats.org/drawingml/2006/main" noGrp="1"/>
          </p:cNvSpPr>
          <p:nvPr/>
        </p:nvSpPr>
        <p:spPr>
          <a:xfrm xmlns:a="http://schemas.openxmlformats.org/drawingml/2006/main">
            <a:off x="1095375" y="3308002"/>
            <a:ext cx="568821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3. High-Value Churn Risk</a:t>
            </a:r>
          </a:p>
        </p:txBody>
      </p:sp>
      <p:sp>
        <p:nvSpPr>
          <p:cNvPr id="57" name="TextBox 56">
            <a:extLst xmlns:a="http://schemas.openxmlformats.org/drawingml/2006/main">
              <a:ext uri="{FF2B5EF4-FFF2-40B4-BE49-F238E27FC236}">
                <a16:creationId xmlns:a16="http://schemas.microsoft.com/office/drawing/2014/main" id="{220FC520-65D2-40C2-98CE-AAD5115A31DE}"/>
              </a:ext>
            </a:extLst>
          </p:cNvPr>
          <p:cNvSpPr>
            <a:spLocks xmlns:a="http://schemas.openxmlformats.org/drawingml/2006/main" noGrp="1"/>
          </p:cNvSpPr>
          <p:nvPr/>
        </p:nvSpPr>
        <p:spPr>
          <a:xfrm xmlns:a="http://schemas.openxmlformats.org/drawingml/2006/main">
            <a:off x="1095375" y="3488977"/>
            <a:ext cx="5417343"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1,408 high-value customers show the greatest modeled risk.</a:t>
            </a:r>
          </a:p>
        </p:txBody>
      </p:sp>
      <p:sp>
        <p:nvSpPr>
          <p:cNvPr id="58" name="TextBox 57">
            <a:extLst xmlns:a="http://schemas.openxmlformats.org/drawingml/2006/main">
              <a:ext uri="{FF2B5EF4-FFF2-40B4-BE49-F238E27FC236}">
                <a16:creationId xmlns:a16="http://schemas.microsoft.com/office/drawing/2014/main" id="{FA104749-3620-4B79-AB04-7EC737AF2DA3}"/>
              </a:ext>
            </a:extLst>
          </p:cNvPr>
          <p:cNvSpPr>
            <a:spLocks xmlns:a="http://schemas.openxmlformats.org/drawingml/2006/main" noGrp="1"/>
          </p:cNvSpPr>
          <p:nvPr/>
        </p:nvSpPr>
        <p:spPr>
          <a:xfrm xmlns:a="http://schemas.openxmlformats.org/drawingml/2006/main">
            <a:off x="6724650" y="3308002"/>
            <a:ext cx="546735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4. Customer Value Targeting</a:t>
            </a:r>
          </a:p>
        </p:txBody>
      </p:sp>
      <p:sp>
        <p:nvSpPr>
          <p:cNvPr id="59" name="TextBox 58">
            <a:extLst xmlns:a="http://schemas.openxmlformats.org/drawingml/2006/main">
              <a:ext uri="{FF2B5EF4-FFF2-40B4-BE49-F238E27FC236}">
                <a16:creationId xmlns:a16="http://schemas.microsoft.com/office/drawing/2014/main" id="{20A1ECE7-E0F0-4768-A032-7D020BCDB09E}"/>
              </a:ext>
            </a:extLst>
          </p:cNvPr>
          <p:cNvSpPr>
            <a:spLocks xmlns:a="http://schemas.openxmlformats.org/drawingml/2006/main" noGrp="1"/>
          </p:cNvSpPr>
          <p:nvPr/>
        </p:nvSpPr>
        <p:spPr>
          <a:xfrm xmlns:a="http://schemas.openxmlformats.org/drawingml/2006/main">
            <a:off x="6724650" y="3488977"/>
            <a:ext cx="5467350"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Loyalty tiers do not identify where HRG should spend the next dollar.</a:t>
            </a:r>
          </a:p>
        </p:txBody>
      </p:sp>
      <p:sp>
        <p:nvSpPr>
          <p:cNvPr id="60" name="TextBox 59">
            <a:extLst xmlns:a="http://schemas.openxmlformats.org/drawingml/2006/main">
              <a:ext uri="{FF2B5EF4-FFF2-40B4-BE49-F238E27FC236}">
                <a16:creationId xmlns:a16="http://schemas.microsoft.com/office/drawing/2014/main" id="{D3555268-235F-459F-A163-E35687EA3804}"/>
              </a:ext>
            </a:extLst>
          </p:cNvPr>
          <p:cNvSpPr>
            <a:spLocks xmlns:a="http://schemas.openxmlformats.org/drawingml/2006/main" noGrp="1"/>
          </p:cNvSpPr>
          <p:nvPr/>
        </p:nvSpPr>
        <p:spPr>
          <a:xfrm xmlns:a="http://schemas.openxmlformats.org/drawingml/2006/main">
            <a:off x="1095375" y="4070002"/>
            <a:ext cx="5338167"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5. Slow Inventory</a:t>
            </a:r>
          </a:p>
        </p:txBody>
      </p:sp>
      <p:sp>
        <p:nvSpPr>
          <p:cNvPr id="61" name="TextBox 60">
            <a:extLst xmlns:a="http://schemas.openxmlformats.org/drawingml/2006/main">
              <a:ext uri="{FF2B5EF4-FFF2-40B4-BE49-F238E27FC236}">
                <a16:creationId xmlns:a16="http://schemas.microsoft.com/office/drawing/2014/main" id="{D96ED8C0-6D72-4B1F-BA16-248A4F5063E5}"/>
              </a:ext>
            </a:extLst>
          </p:cNvPr>
          <p:cNvSpPr>
            <a:spLocks xmlns:a="http://schemas.openxmlformats.org/drawingml/2006/main" noGrp="1"/>
          </p:cNvSpPr>
          <p:nvPr/>
        </p:nvSpPr>
        <p:spPr>
          <a:xfrm xmlns:a="http://schemas.openxmlformats.org/drawingml/2006/main">
            <a:off x="1095375" y="4250977"/>
            <a:ext cx="5083968"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$81.5M sits in stock turning fewer than four times a year.</a:t>
            </a:r>
          </a:p>
        </p:txBody>
      </p:sp>
      <p:sp>
        <p:nvSpPr>
          <p:cNvPr id="62" name="TextBox 61">
            <a:extLst xmlns:a="http://schemas.openxmlformats.org/drawingml/2006/main">
              <a:ext uri="{FF2B5EF4-FFF2-40B4-BE49-F238E27FC236}">
                <a16:creationId xmlns:a16="http://schemas.microsoft.com/office/drawing/2014/main" id="{231C6BB4-5DCE-4715-9E80-93A770F84DE4}"/>
              </a:ext>
            </a:extLst>
          </p:cNvPr>
          <p:cNvSpPr>
            <a:spLocks xmlns:a="http://schemas.openxmlformats.org/drawingml/2006/main" noGrp="1"/>
          </p:cNvSpPr>
          <p:nvPr/>
        </p:nvSpPr>
        <p:spPr>
          <a:xfrm xmlns:a="http://schemas.openxmlformats.org/drawingml/2006/main">
            <a:off x="6724650" y="4070002"/>
            <a:ext cx="546735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6. Supply Chain and Logistics Risk</a:t>
            </a:r>
          </a:p>
        </p:txBody>
      </p:sp>
      <p:sp>
        <p:nvSpPr>
          <p:cNvPr id="63" name="TextBox 62">
            <a:extLst xmlns:a="http://schemas.openxmlformats.org/drawingml/2006/main">
              <a:ext uri="{FF2B5EF4-FFF2-40B4-BE49-F238E27FC236}">
                <a16:creationId xmlns:a16="http://schemas.microsoft.com/office/drawing/2014/main" id="{803BE788-E9AE-4C40-B197-329680CB8C53}"/>
              </a:ext>
            </a:extLst>
          </p:cNvPr>
          <p:cNvSpPr>
            <a:spLocks xmlns:a="http://schemas.openxmlformats.org/drawingml/2006/main" noGrp="1"/>
          </p:cNvSpPr>
          <p:nvPr/>
        </p:nvSpPr>
        <p:spPr>
          <a:xfrm xmlns:a="http://schemas.openxmlformats.org/drawingml/2006/main">
            <a:off x="6724650" y="4250977"/>
            <a:ext cx="5345906"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Finance reconciles the operating baseline in Q2; work starts in Q3.</a:t>
            </a:r>
          </a:p>
        </p:txBody>
      </p:sp>
    </p:spTree>
    <p:extLst>
      <p:ext uri="{BB962C8B-B14F-4D97-AF65-F5344CB8AC3E}">
        <p14:creationId xmlns:p14="http://schemas.microsoft.com/office/powerpoint/2010/main" val="152505081"/>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1F656CD2-701E-483D-AC05-32BB903524C9}"/>
              </a:ext>
            </a:extLst>
          </p:cNvPr>
          <p:cNvSpPr>
            <a:spLocks xmlns:a="http://schemas.openxmlformats.org/drawingml/2006/main" noGrp="1"/>
          </p:cNvSpPr>
          <p:nvPr/>
        </p:nvSpPr>
        <p:spPr>
          <a:xfrm xmlns:a="http://schemas.openxmlformats.org/drawingml/2006/main">
            <a:off x="533400" y="4707135"/>
            <a:ext cx="11125200" cy="685800"/>
          </a:xfrm>
          <a:prstGeom xmlns:a="http://schemas.openxmlformats.org/drawingml/2006/main" prst="roundRect">
            <a:avLst>
              <a:gd name="adj" fmla="val 11111"/>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5B9DFDD0-EEC0-4030-9CA9-DE3C46E7B8C7}"/>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6B34BE87-A752-4051-BD2D-E615DECE138D}"/>
              </a:ext>
            </a:extLst>
          </p:cNvPr>
          <p:cNvSpPr>
            <a:spLocks xmlns:a="http://schemas.openxmlformats.org/drawingml/2006/main" noGrp="1"/>
          </p:cNvSpPr>
          <p:nvPr/>
        </p:nvSpPr>
        <p:spPr>
          <a:xfrm xmlns:a="http://schemas.openxmlformats.org/drawingml/2006/main">
            <a:off x="533400" y="2242244"/>
            <a:ext cx="2667000" cy="2236291"/>
          </a:xfrm>
          <a:prstGeom xmlns:a="http://schemas.openxmlformats.org/drawingml/2006/main" prst="roundRect">
            <a:avLst>
              <a:gd name="adj" fmla="val 4259"/>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E39ED1EC-B2CA-48B9-8F27-BF57F2D8EA30}"/>
              </a:ext>
            </a:extLst>
          </p:cNvPr>
          <p:cNvSpPr>
            <a:spLocks xmlns:a="http://schemas.openxmlformats.org/drawingml/2006/main" noGrp="1"/>
          </p:cNvSpPr>
          <p:nvPr/>
        </p:nvSpPr>
        <p:spPr>
          <a:xfrm xmlns:a="http://schemas.openxmlformats.org/drawingml/2006/main">
            <a:off x="3352800" y="2242244"/>
            <a:ext cx="2667000" cy="2236291"/>
          </a:xfrm>
          <a:prstGeom xmlns:a="http://schemas.openxmlformats.org/drawingml/2006/main" prst="roundRect">
            <a:avLst>
              <a:gd name="adj" fmla="val 4259"/>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80CB2D0A-40E0-4010-B623-F1B0510D8744}"/>
              </a:ext>
            </a:extLst>
          </p:cNvPr>
          <p:cNvSpPr>
            <a:spLocks xmlns:a="http://schemas.openxmlformats.org/drawingml/2006/main" noGrp="1"/>
          </p:cNvSpPr>
          <p:nvPr/>
        </p:nvSpPr>
        <p:spPr>
          <a:xfrm xmlns:a="http://schemas.openxmlformats.org/drawingml/2006/main">
            <a:off x="6172200" y="2242244"/>
            <a:ext cx="2667000" cy="2236291"/>
          </a:xfrm>
          <a:prstGeom xmlns:a="http://schemas.openxmlformats.org/drawingml/2006/main" prst="roundRect">
            <a:avLst>
              <a:gd name="adj" fmla="val 4259"/>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B0D5D32D-7F74-454F-A99B-48C533FC65D0}"/>
              </a:ext>
            </a:extLst>
          </p:cNvPr>
          <p:cNvSpPr>
            <a:spLocks xmlns:a="http://schemas.openxmlformats.org/drawingml/2006/main" noGrp="1"/>
          </p:cNvSpPr>
          <p:nvPr/>
        </p:nvSpPr>
        <p:spPr>
          <a:xfrm xmlns:a="http://schemas.openxmlformats.org/drawingml/2006/main">
            <a:off x="8991600" y="2242244"/>
            <a:ext cx="2667000" cy="2236291"/>
          </a:xfrm>
          <a:prstGeom xmlns:a="http://schemas.openxmlformats.org/drawingml/2006/main" prst="roundRect">
            <a:avLst>
              <a:gd name="adj" fmla="val 4259"/>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023F5065-511D-4DD4-AE2E-6592E5C9E404}"/>
              </a:ext>
            </a:extLst>
          </p:cNvPr>
          <p:cNvSpPr>
            <a:spLocks xmlns:a="http://schemas.openxmlformats.org/drawingml/2006/main" noGrp="1"/>
          </p:cNvSpPr>
          <p:nvPr/>
        </p:nvSpPr>
        <p:spPr>
          <a:xfrm xmlns:a="http://schemas.openxmlformats.org/drawingml/2006/main">
            <a:off x="8782050" y="4888110"/>
            <a:ext cx="2647950" cy="323850"/>
          </a:xfrm>
          <a:prstGeom xmlns:a="http://schemas.openxmlformats.org/drawingml/2006/main" prst="roundRect">
            <a:avLst>
              <a:gd name="adj" fmla="val 17647"/>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ectangle 8">
            <a:extLst xmlns:a="http://schemas.openxmlformats.org/drawingml/2006/main">
              <a:ext uri="{FF2B5EF4-FFF2-40B4-BE49-F238E27FC236}">
                <a16:creationId xmlns:a16="http://schemas.microsoft.com/office/drawing/2014/main" id="{9D23000B-2CFE-4206-A149-D5BAB4061C53}"/>
              </a:ext>
            </a:extLst>
          </p:cNvPr>
          <p:cNvSpPr>
            <a:spLocks xmlns:a="http://schemas.openxmlformats.org/drawingml/2006/main" noGrp="1"/>
          </p:cNvSpPr>
          <p:nvPr/>
        </p:nvSpPr>
        <p:spPr>
          <a:xfrm xmlns:a="http://schemas.openxmlformats.org/drawingml/2006/main">
            <a:off x="533400" y="4469010"/>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ectangle 9">
            <a:extLst xmlns:a="http://schemas.openxmlformats.org/drawingml/2006/main">
              <a:ext uri="{FF2B5EF4-FFF2-40B4-BE49-F238E27FC236}">
                <a16:creationId xmlns:a16="http://schemas.microsoft.com/office/drawing/2014/main" id="{540BCFDC-0F87-4721-AC25-4CE0EA7081BE}"/>
              </a:ext>
            </a:extLst>
          </p:cNvPr>
          <p:cNvSpPr>
            <a:spLocks xmlns:a="http://schemas.openxmlformats.org/drawingml/2006/main" noGrp="1"/>
          </p:cNvSpPr>
          <p:nvPr/>
        </p:nvSpPr>
        <p:spPr>
          <a:xfrm xmlns:a="http://schemas.openxmlformats.org/drawingml/2006/main">
            <a:off x="533400" y="2242244"/>
            <a:ext cx="2667000" cy="47625"/>
          </a:xfrm>
          <a:prstGeom xmlns:a="http://schemas.openxmlformats.org/drawingml/2006/main" prst="rect">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ectangle 10">
            <a:extLst xmlns:a="http://schemas.openxmlformats.org/drawingml/2006/main">
              <a:ext uri="{FF2B5EF4-FFF2-40B4-BE49-F238E27FC236}">
                <a16:creationId xmlns:a16="http://schemas.microsoft.com/office/drawing/2014/main" id="{1CDE19E0-3035-4427-813F-564BD83D4EE3}"/>
              </a:ext>
            </a:extLst>
          </p:cNvPr>
          <p:cNvSpPr>
            <a:spLocks xmlns:a="http://schemas.openxmlformats.org/drawingml/2006/main" noGrp="1"/>
          </p:cNvSpPr>
          <p:nvPr/>
        </p:nvSpPr>
        <p:spPr>
          <a:xfrm xmlns:a="http://schemas.openxmlformats.org/drawingml/2006/main">
            <a:off x="533400"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ectangle 11">
            <a:extLst xmlns:a="http://schemas.openxmlformats.org/drawingml/2006/main">
              <a:ext uri="{FF2B5EF4-FFF2-40B4-BE49-F238E27FC236}">
                <a16:creationId xmlns:a16="http://schemas.microsoft.com/office/drawing/2014/main" id="{AEA34E30-B6AC-4847-8E8C-6F6E0F9C12BA}"/>
              </a:ext>
            </a:extLst>
          </p:cNvPr>
          <p:cNvSpPr>
            <a:spLocks xmlns:a="http://schemas.openxmlformats.org/drawingml/2006/main" noGrp="1"/>
          </p:cNvSpPr>
          <p:nvPr/>
        </p:nvSpPr>
        <p:spPr>
          <a:xfrm xmlns:a="http://schemas.openxmlformats.org/drawingml/2006/main">
            <a:off x="3190875"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Rectangle 12">
            <a:extLst xmlns:a="http://schemas.openxmlformats.org/drawingml/2006/main">
              <a:ext uri="{FF2B5EF4-FFF2-40B4-BE49-F238E27FC236}">
                <a16:creationId xmlns:a16="http://schemas.microsoft.com/office/drawing/2014/main" id="{1763AB3D-4FA8-4936-858D-BEDE8BB637A9}"/>
              </a:ext>
            </a:extLst>
          </p:cNvPr>
          <p:cNvSpPr>
            <a:spLocks xmlns:a="http://schemas.openxmlformats.org/drawingml/2006/main" noGrp="1"/>
          </p:cNvSpPr>
          <p:nvPr/>
        </p:nvSpPr>
        <p:spPr>
          <a:xfrm xmlns:a="http://schemas.openxmlformats.org/drawingml/2006/main">
            <a:off x="752475" y="3964185"/>
            <a:ext cx="22288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Rectangle 13">
            <a:extLst xmlns:a="http://schemas.openxmlformats.org/drawingml/2006/main">
              <a:ext uri="{FF2B5EF4-FFF2-40B4-BE49-F238E27FC236}">
                <a16:creationId xmlns:a16="http://schemas.microsoft.com/office/drawing/2014/main" id="{9014E6D8-6CA0-45E5-BAEB-767BF158F2E8}"/>
              </a:ext>
            </a:extLst>
          </p:cNvPr>
          <p:cNvSpPr>
            <a:spLocks xmlns:a="http://schemas.openxmlformats.org/drawingml/2006/main" noGrp="1"/>
          </p:cNvSpPr>
          <p:nvPr/>
        </p:nvSpPr>
        <p:spPr>
          <a:xfrm xmlns:a="http://schemas.openxmlformats.org/drawingml/2006/main">
            <a:off x="3352800" y="4469010"/>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Rectangle 14">
            <a:extLst xmlns:a="http://schemas.openxmlformats.org/drawingml/2006/main">
              <a:ext uri="{FF2B5EF4-FFF2-40B4-BE49-F238E27FC236}">
                <a16:creationId xmlns:a16="http://schemas.microsoft.com/office/drawing/2014/main" id="{58C5583F-ABEE-419C-95AD-D2EFC199272A}"/>
              </a:ext>
            </a:extLst>
          </p:cNvPr>
          <p:cNvSpPr>
            <a:spLocks xmlns:a="http://schemas.openxmlformats.org/drawingml/2006/main" noGrp="1"/>
          </p:cNvSpPr>
          <p:nvPr/>
        </p:nvSpPr>
        <p:spPr>
          <a:xfrm xmlns:a="http://schemas.openxmlformats.org/drawingml/2006/main">
            <a:off x="3352800" y="2242244"/>
            <a:ext cx="2667000" cy="47625"/>
          </a:xfrm>
          <a:prstGeom xmlns:a="http://schemas.openxmlformats.org/drawingml/2006/main" prst="rect">
            <a:avLst/>
          </a:prstGeom>
          <a:solidFill xmlns:a="http://schemas.openxmlformats.org/drawingml/2006/main">
            <a:srgbClr val="2563E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 name="Rectangle 15">
            <a:extLst xmlns:a="http://schemas.openxmlformats.org/drawingml/2006/main">
              <a:ext uri="{FF2B5EF4-FFF2-40B4-BE49-F238E27FC236}">
                <a16:creationId xmlns:a16="http://schemas.microsoft.com/office/drawing/2014/main" id="{8490452B-6477-4065-AAE7-21F82C5DAC39}"/>
              </a:ext>
            </a:extLst>
          </p:cNvPr>
          <p:cNvSpPr>
            <a:spLocks xmlns:a="http://schemas.openxmlformats.org/drawingml/2006/main" noGrp="1"/>
          </p:cNvSpPr>
          <p:nvPr/>
        </p:nvSpPr>
        <p:spPr>
          <a:xfrm xmlns:a="http://schemas.openxmlformats.org/drawingml/2006/main">
            <a:off x="3352800"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Rectangle 16">
            <a:extLst xmlns:a="http://schemas.openxmlformats.org/drawingml/2006/main">
              <a:ext uri="{FF2B5EF4-FFF2-40B4-BE49-F238E27FC236}">
                <a16:creationId xmlns:a16="http://schemas.microsoft.com/office/drawing/2014/main" id="{03ADFB24-60AC-40FF-A9EA-7761F8420EE6}"/>
              </a:ext>
            </a:extLst>
          </p:cNvPr>
          <p:cNvSpPr>
            <a:spLocks xmlns:a="http://schemas.openxmlformats.org/drawingml/2006/main" noGrp="1"/>
          </p:cNvSpPr>
          <p:nvPr/>
        </p:nvSpPr>
        <p:spPr>
          <a:xfrm xmlns:a="http://schemas.openxmlformats.org/drawingml/2006/main">
            <a:off x="6010275"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Rectangle 17">
            <a:extLst xmlns:a="http://schemas.openxmlformats.org/drawingml/2006/main">
              <a:ext uri="{FF2B5EF4-FFF2-40B4-BE49-F238E27FC236}">
                <a16:creationId xmlns:a16="http://schemas.microsoft.com/office/drawing/2014/main" id="{13B88B49-9308-479A-8EFC-6A7975C76C11}"/>
              </a:ext>
            </a:extLst>
          </p:cNvPr>
          <p:cNvSpPr>
            <a:spLocks xmlns:a="http://schemas.openxmlformats.org/drawingml/2006/main" noGrp="1"/>
          </p:cNvSpPr>
          <p:nvPr/>
        </p:nvSpPr>
        <p:spPr>
          <a:xfrm xmlns:a="http://schemas.openxmlformats.org/drawingml/2006/main">
            <a:off x="3571875" y="3964185"/>
            <a:ext cx="22288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9" name="Rectangle 18">
            <a:extLst xmlns:a="http://schemas.openxmlformats.org/drawingml/2006/main">
              <a:ext uri="{FF2B5EF4-FFF2-40B4-BE49-F238E27FC236}">
                <a16:creationId xmlns:a16="http://schemas.microsoft.com/office/drawing/2014/main" id="{7122FCEC-2BD5-4481-A4F7-DC55317B07AF}"/>
              </a:ext>
            </a:extLst>
          </p:cNvPr>
          <p:cNvSpPr>
            <a:spLocks xmlns:a="http://schemas.openxmlformats.org/drawingml/2006/main" noGrp="1"/>
          </p:cNvSpPr>
          <p:nvPr/>
        </p:nvSpPr>
        <p:spPr>
          <a:xfrm xmlns:a="http://schemas.openxmlformats.org/drawingml/2006/main">
            <a:off x="6172200" y="4469010"/>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0" name="Rectangle 19">
            <a:extLst xmlns:a="http://schemas.openxmlformats.org/drawingml/2006/main">
              <a:ext uri="{FF2B5EF4-FFF2-40B4-BE49-F238E27FC236}">
                <a16:creationId xmlns:a16="http://schemas.microsoft.com/office/drawing/2014/main" id="{3C764E30-C54F-43DB-A5C2-C4DA74775254}"/>
              </a:ext>
            </a:extLst>
          </p:cNvPr>
          <p:cNvSpPr>
            <a:spLocks xmlns:a="http://schemas.openxmlformats.org/drawingml/2006/main" noGrp="1"/>
          </p:cNvSpPr>
          <p:nvPr/>
        </p:nvSpPr>
        <p:spPr>
          <a:xfrm xmlns:a="http://schemas.openxmlformats.org/drawingml/2006/main">
            <a:off x="6172200" y="2242244"/>
            <a:ext cx="2667000" cy="47625"/>
          </a:xfrm>
          <a:prstGeom xmlns:a="http://schemas.openxmlformats.org/drawingml/2006/main" prst="rect">
            <a:avLst/>
          </a:prstGeom>
          <a:solidFill xmlns:a="http://schemas.openxmlformats.org/drawingml/2006/main">
            <a:srgbClr val="16A34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Rectangle 20">
            <a:extLst xmlns:a="http://schemas.openxmlformats.org/drawingml/2006/main">
              <a:ext uri="{FF2B5EF4-FFF2-40B4-BE49-F238E27FC236}">
                <a16:creationId xmlns:a16="http://schemas.microsoft.com/office/drawing/2014/main" id="{50888167-1D68-472B-839A-9A814C4DD0B1}"/>
              </a:ext>
            </a:extLst>
          </p:cNvPr>
          <p:cNvSpPr>
            <a:spLocks xmlns:a="http://schemas.openxmlformats.org/drawingml/2006/main" noGrp="1"/>
          </p:cNvSpPr>
          <p:nvPr/>
        </p:nvSpPr>
        <p:spPr>
          <a:xfrm xmlns:a="http://schemas.openxmlformats.org/drawingml/2006/main">
            <a:off x="6172200"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2" name="Rectangle 21">
            <a:extLst xmlns:a="http://schemas.openxmlformats.org/drawingml/2006/main">
              <a:ext uri="{FF2B5EF4-FFF2-40B4-BE49-F238E27FC236}">
                <a16:creationId xmlns:a16="http://schemas.microsoft.com/office/drawing/2014/main" id="{C3A6AF79-D909-413E-AE38-FF6880F1B6D6}"/>
              </a:ext>
            </a:extLst>
          </p:cNvPr>
          <p:cNvSpPr>
            <a:spLocks xmlns:a="http://schemas.openxmlformats.org/drawingml/2006/main" noGrp="1"/>
          </p:cNvSpPr>
          <p:nvPr/>
        </p:nvSpPr>
        <p:spPr>
          <a:xfrm xmlns:a="http://schemas.openxmlformats.org/drawingml/2006/main">
            <a:off x="8829675"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Rectangle 22">
            <a:extLst xmlns:a="http://schemas.openxmlformats.org/drawingml/2006/main">
              <a:ext uri="{FF2B5EF4-FFF2-40B4-BE49-F238E27FC236}">
                <a16:creationId xmlns:a16="http://schemas.microsoft.com/office/drawing/2014/main" id="{DBB8AC40-C9C9-4706-B21B-6550EEFA0134}"/>
              </a:ext>
            </a:extLst>
          </p:cNvPr>
          <p:cNvSpPr>
            <a:spLocks xmlns:a="http://schemas.openxmlformats.org/drawingml/2006/main" noGrp="1"/>
          </p:cNvSpPr>
          <p:nvPr/>
        </p:nvSpPr>
        <p:spPr>
          <a:xfrm xmlns:a="http://schemas.openxmlformats.org/drawingml/2006/main">
            <a:off x="6391275" y="3964185"/>
            <a:ext cx="22288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4" name="Rectangle 23">
            <a:extLst xmlns:a="http://schemas.openxmlformats.org/drawingml/2006/main">
              <a:ext uri="{FF2B5EF4-FFF2-40B4-BE49-F238E27FC236}">
                <a16:creationId xmlns:a16="http://schemas.microsoft.com/office/drawing/2014/main" id="{4DC61C2D-86A8-4FD0-9A31-1BC34BEE1A6E}"/>
              </a:ext>
            </a:extLst>
          </p:cNvPr>
          <p:cNvSpPr>
            <a:spLocks xmlns:a="http://schemas.openxmlformats.org/drawingml/2006/main" noGrp="1"/>
          </p:cNvSpPr>
          <p:nvPr/>
        </p:nvSpPr>
        <p:spPr>
          <a:xfrm xmlns:a="http://schemas.openxmlformats.org/drawingml/2006/main">
            <a:off x="8991600" y="4469010"/>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Rectangle 24">
            <a:extLst xmlns:a="http://schemas.openxmlformats.org/drawingml/2006/main">
              <a:ext uri="{FF2B5EF4-FFF2-40B4-BE49-F238E27FC236}">
                <a16:creationId xmlns:a16="http://schemas.microsoft.com/office/drawing/2014/main" id="{C4DE1127-1053-474E-A019-943D112A0C8F}"/>
              </a:ext>
            </a:extLst>
          </p:cNvPr>
          <p:cNvSpPr>
            <a:spLocks xmlns:a="http://schemas.openxmlformats.org/drawingml/2006/main" noGrp="1"/>
          </p:cNvSpPr>
          <p:nvPr/>
        </p:nvSpPr>
        <p:spPr>
          <a:xfrm xmlns:a="http://schemas.openxmlformats.org/drawingml/2006/main">
            <a:off x="8991600" y="2242244"/>
            <a:ext cx="2667000" cy="47625"/>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6" name="Rectangle 25">
            <a:extLst xmlns:a="http://schemas.openxmlformats.org/drawingml/2006/main">
              <a:ext uri="{FF2B5EF4-FFF2-40B4-BE49-F238E27FC236}">
                <a16:creationId xmlns:a16="http://schemas.microsoft.com/office/drawing/2014/main" id="{FF2BB64B-EB2F-40AC-BA9F-F355442C8CC4}"/>
              </a:ext>
            </a:extLst>
          </p:cNvPr>
          <p:cNvSpPr>
            <a:spLocks xmlns:a="http://schemas.openxmlformats.org/drawingml/2006/main" noGrp="1"/>
          </p:cNvSpPr>
          <p:nvPr/>
        </p:nvSpPr>
        <p:spPr>
          <a:xfrm xmlns:a="http://schemas.openxmlformats.org/drawingml/2006/main">
            <a:off x="8991600"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7" name="Rectangle 26">
            <a:extLst xmlns:a="http://schemas.openxmlformats.org/drawingml/2006/main">
              <a:ext uri="{FF2B5EF4-FFF2-40B4-BE49-F238E27FC236}">
                <a16:creationId xmlns:a16="http://schemas.microsoft.com/office/drawing/2014/main" id="{FA127E9A-3893-4497-8FB4-9F4FF4477785}"/>
              </a:ext>
            </a:extLst>
          </p:cNvPr>
          <p:cNvSpPr>
            <a:spLocks xmlns:a="http://schemas.openxmlformats.org/drawingml/2006/main" noGrp="1"/>
          </p:cNvSpPr>
          <p:nvPr/>
        </p:nvSpPr>
        <p:spPr>
          <a:xfrm xmlns:a="http://schemas.openxmlformats.org/drawingml/2006/main">
            <a:off x="11649075" y="2242244"/>
            <a:ext cx="9525" cy="223629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8" name="Rectangle 27">
            <a:extLst xmlns:a="http://schemas.openxmlformats.org/drawingml/2006/main">
              <a:ext uri="{FF2B5EF4-FFF2-40B4-BE49-F238E27FC236}">
                <a16:creationId xmlns:a16="http://schemas.microsoft.com/office/drawing/2014/main" id="{DEFEF06A-93BF-4A0A-AB4D-0266783E9579}"/>
              </a:ext>
            </a:extLst>
          </p:cNvPr>
          <p:cNvSpPr>
            <a:spLocks xmlns:a="http://schemas.openxmlformats.org/drawingml/2006/main" noGrp="1"/>
          </p:cNvSpPr>
          <p:nvPr/>
        </p:nvSpPr>
        <p:spPr>
          <a:xfrm xmlns:a="http://schemas.openxmlformats.org/drawingml/2006/main">
            <a:off x="9210675" y="3811785"/>
            <a:ext cx="22288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Rounded Rectangle 28">
            <a:extLst xmlns:a="http://schemas.openxmlformats.org/drawingml/2006/main">
              <a:ext uri="{FF2B5EF4-FFF2-40B4-BE49-F238E27FC236}">
                <a16:creationId xmlns:a16="http://schemas.microsoft.com/office/drawing/2014/main" id="{E8BB2A88-95D3-40CB-BD14-68A29C617FF5}"/>
              </a:ext>
            </a:extLst>
          </p:cNvPr>
          <p:cNvSpPr>
            <a:spLocks xmlns:a="http://schemas.openxmlformats.org/drawingml/2006/main" noGrp="1"/>
          </p:cNvSpPr>
          <p:nvPr/>
        </p:nvSpPr>
        <p:spPr>
          <a:xfrm xmlns:a="http://schemas.openxmlformats.org/drawingml/2006/main">
            <a:off x="2047875" y="2499419"/>
            <a:ext cx="933450" cy="200025"/>
          </a:xfrm>
          <a:prstGeom xmlns:a="http://schemas.openxmlformats.org/drawingml/2006/main" prst="roundRect">
            <a:avLst>
              <a:gd name="adj" fmla="val 19047"/>
            </a:avLst>
          </a:prstGeom>
          <a:solidFill xmlns:a="http://schemas.openxmlformats.org/drawingml/2006/main">
            <a:srgbClr val="FEF3C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0" name="Rounded Rectangle 29">
            <a:extLst xmlns:a="http://schemas.openxmlformats.org/drawingml/2006/main">
              <a:ext uri="{FF2B5EF4-FFF2-40B4-BE49-F238E27FC236}">
                <a16:creationId xmlns:a16="http://schemas.microsoft.com/office/drawing/2014/main" id="{C4DF4D7B-EEE8-4B1B-9C10-602F29C217ED}"/>
              </a:ext>
            </a:extLst>
          </p:cNvPr>
          <p:cNvSpPr>
            <a:spLocks xmlns:a="http://schemas.openxmlformats.org/drawingml/2006/main" noGrp="1"/>
          </p:cNvSpPr>
          <p:nvPr/>
        </p:nvSpPr>
        <p:spPr>
          <a:xfrm xmlns:a="http://schemas.openxmlformats.org/drawingml/2006/main">
            <a:off x="4867275" y="2499419"/>
            <a:ext cx="933450" cy="200025"/>
          </a:xfrm>
          <a:prstGeom xmlns:a="http://schemas.openxmlformats.org/drawingml/2006/main" prst="roundRect">
            <a:avLst>
              <a:gd name="adj" fmla="val 19047"/>
            </a:avLst>
          </a:prstGeom>
          <a:solidFill xmlns:a="http://schemas.openxmlformats.org/drawingml/2006/main">
            <a:srgbClr val="DBEAF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1" name="Rounded Rectangle 30">
            <a:extLst xmlns:a="http://schemas.openxmlformats.org/drawingml/2006/main">
              <a:ext uri="{FF2B5EF4-FFF2-40B4-BE49-F238E27FC236}">
                <a16:creationId xmlns:a16="http://schemas.microsoft.com/office/drawing/2014/main" id="{2ECC4077-FD99-4921-A541-6E6B2A1CB2A8}"/>
              </a:ext>
            </a:extLst>
          </p:cNvPr>
          <p:cNvSpPr>
            <a:spLocks xmlns:a="http://schemas.openxmlformats.org/drawingml/2006/main" noGrp="1"/>
          </p:cNvSpPr>
          <p:nvPr/>
        </p:nvSpPr>
        <p:spPr>
          <a:xfrm xmlns:a="http://schemas.openxmlformats.org/drawingml/2006/main">
            <a:off x="7696200" y="2499419"/>
            <a:ext cx="923925" cy="200025"/>
          </a:xfrm>
          <a:prstGeom xmlns:a="http://schemas.openxmlformats.org/drawingml/2006/main" prst="roundRect">
            <a:avLst>
              <a:gd name="adj" fmla="val 19047"/>
            </a:avLst>
          </a:prstGeom>
          <a:solidFill xmlns:a="http://schemas.openxmlformats.org/drawingml/2006/main">
            <a:srgbClr val="DCFC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2" name="Rounded Rectangle 31">
            <a:extLst xmlns:a="http://schemas.openxmlformats.org/drawingml/2006/main">
              <a:ext uri="{FF2B5EF4-FFF2-40B4-BE49-F238E27FC236}">
                <a16:creationId xmlns:a16="http://schemas.microsoft.com/office/drawing/2014/main" id="{F7B776A7-296C-4550-A4A1-B04006DC57BC}"/>
              </a:ext>
            </a:extLst>
          </p:cNvPr>
          <p:cNvSpPr>
            <a:spLocks xmlns:a="http://schemas.openxmlformats.org/drawingml/2006/main" noGrp="1"/>
          </p:cNvSpPr>
          <p:nvPr/>
        </p:nvSpPr>
        <p:spPr>
          <a:xfrm xmlns:a="http://schemas.openxmlformats.org/drawingml/2006/main">
            <a:off x="10544175" y="2499419"/>
            <a:ext cx="895350" cy="200025"/>
          </a:xfrm>
          <a:prstGeom xmlns:a="http://schemas.openxmlformats.org/drawingml/2006/main" prst="roundRect">
            <a:avLst>
              <a:gd name="adj" fmla="val 19047"/>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3" name="TextBox 32">
            <a:extLst xmlns:a="http://schemas.openxmlformats.org/drawingml/2006/main">
              <a:ext uri="{FF2B5EF4-FFF2-40B4-BE49-F238E27FC236}">
                <a16:creationId xmlns:a16="http://schemas.microsoft.com/office/drawing/2014/main" id="{326EC1CC-3EAC-4E4B-A5B6-472E96213960}"/>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34" name="TextBox 33">
            <a:extLst xmlns:a="http://schemas.openxmlformats.org/drawingml/2006/main">
              <a:ext uri="{FF2B5EF4-FFF2-40B4-BE49-F238E27FC236}">
                <a16:creationId xmlns:a16="http://schemas.microsoft.com/office/drawing/2014/main" id="{D46D4A42-02CF-4EFA-9463-0AD42340C39E}"/>
              </a:ext>
            </a:extLst>
          </p:cNvPr>
          <p:cNvSpPr>
            <a:spLocks xmlns:a="http://schemas.openxmlformats.org/drawingml/2006/main" noGrp="1"/>
          </p:cNvSpPr>
          <p:nvPr/>
        </p:nvSpPr>
        <p:spPr>
          <a:xfrm xmlns:a="http://schemas.openxmlformats.org/drawingml/2006/main">
            <a:off x="533400" y="381000"/>
            <a:ext cx="9965531"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THE Q1–Q2 SOLUTION</a:t>
            </a:r>
          </a:p>
        </p:txBody>
      </p:sp>
      <p:sp>
        <p:nvSpPr>
          <p:cNvPr id="35" name="TextBox 34">
            <a:extLst xmlns:a="http://schemas.openxmlformats.org/drawingml/2006/main">
              <a:ext uri="{FF2B5EF4-FFF2-40B4-BE49-F238E27FC236}">
                <a16:creationId xmlns:a16="http://schemas.microsoft.com/office/drawing/2014/main" id="{D923D56A-B80A-420B-B4AB-C7A6F8A18326}"/>
              </a:ext>
            </a:extLst>
          </p:cNvPr>
          <p:cNvSpPr>
            <a:spLocks xmlns:a="http://schemas.openxmlformats.org/drawingml/2006/main" noGrp="1"/>
          </p:cNvSpPr>
          <p:nvPr/>
        </p:nvSpPr>
        <p:spPr>
          <a:xfrm xmlns:a="http://schemas.openxmlformats.org/drawingml/2006/main">
            <a:off x="533400" y="609600"/>
            <a:ext cx="10463807"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Four Decisions Turn the Dashboard Into a Working Plan</a:t>
            </a:r>
          </a:p>
        </p:txBody>
      </p:sp>
      <p:sp>
        <p:nvSpPr>
          <p:cNvPr id="36" name="TextBox 35">
            <a:extLst xmlns:a="http://schemas.openxmlformats.org/drawingml/2006/main">
              <a:ext uri="{FF2B5EF4-FFF2-40B4-BE49-F238E27FC236}">
                <a16:creationId xmlns:a16="http://schemas.microsoft.com/office/drawing/2014/main" id="{209F0E70-4EFF-4823-AA7E-85A11EF6E5E2}"/>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37" name="TextBox 36">
            <a:extLst xmlns:a="http://schemas.openxmlformats.org/drawingml/2006/main">
              <a:ext uri="{FF2B5EF4-FFF2-40B4-BE49-F238E27FC236}">
                <a16:creationId xmlns:a16="http://schemas.microsoft.com/office/drawing/2014/main" id="{524D8395-3972-408B-94AB-57DA41E62246}"/>
              </a:ext>
            </a:extLst>
          </p:cNvPr>
          <p:cNvSpPr>
            <a:spLocks xmlns:a="http://schemas.openxmlformats.org/drawingml/2006/main" noGrp="1"/>
          </p:cNvSpPr>
          <p:nvPr/>
        </p:nvSpPr>
        <p:spPr>
          <a:xfrm xmlns:a="http://schemas.openxmlformats.org/drawingml/2006/main">
            <a:off x="8934450" y="4964310"/>
            <a:ext cx="2438400" cy="1714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FFFFFF"/>
                </a:solidFill>
                <a:latin typeface="Plus Jakarta Sans"/>
                <a:ea typeface="Plus Jakarta Sans"/>
                <a:cs typeface="Plus Jakarta Sans"/>
              </a:rPr>
              <a:t>Full Value Bridge: $38.4M → $50.4M</a:t>
            </a:r>
          </a:p>
        </p:txBody>
      </p:sp>
      <p:sp>
        <p:nvSpPr>
          <p:cNvPr id="38" name="TextBox 37">
            <a:extLst xmlns:a="http://schemas.openxmlformats.org/drawingml/2006/main">
              <a:ext uri="{FF2B5EF4-FFF2-40B4-BE49-F238E27FC236}">
                <a16:creationId xmlns:a16="http://schemas.microsoft.com/office/drawing/2014/main" id="{C1B34A60-4A35-46D0-BA90-A2D1E0F5FC74}"/>
              </a:ext>
            </a:extLst>
          </p:cNvPr>
          <p:cNvSpPr>
            <a:spLocks xmlns:a="http://schemas.openxmlformats.org/drawingml/2006/main" noGrp="1"/>
          </p:cNvSpPr>
          <p:nvPr/>
        </p:nvSpPr>
        <p:spPr>
          <a:xfrm xmlns:a="http://schemas.openxmlformats.org/drawingml/2006/main">
            <a:off x="752475" y="4097535"/>
            <a:ext cx="23241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0F172A"/>
                </a:solidFill>
                <a:latin typeface="Inter"/>
                <a:ea typeface="Inter"/>
                <a:cs typeface="Inter"/>
              </a:rPr>
              <a:t>Target: Stop $18.5M promo erosion</a:t>
            </a:r>
          </a:p>
        </p:txBody>
      </p:sp>
      <p:sp>
        <p:nvSpPr>
          <p:cNvPr id="39" name="TextBox 38">
            <a:extLst xmlns:a="http://schemas.openxmlformats.org/drawingml/2006/main">
              <a:ext uri="{FF2B5EF4-FFF2-40B4-BE49-F238E27FC236}">
                <a16:creationId xmlns:a16="http://schemas.microsoft.com/office/drawing/2014/main" id="{CBDC8EF3-F8AF-4A5C-880B-AAD2B7AC017F}"/>
              </a:ext>
            </a:extLst>
          </p:cNvPr>
          <p:cNvSpPr>
            <a:spLocks xmlns:a="http://schemas.openxmlformats.org/drawingml/2006/main" noGrp="1"/>
          </p:cNvSpPr>
          <p:nvPr/>
        </p:nvSpPr>
        <p:spPr>
          <a:xfrm xmlns:a="http://schemas.openxmlformats.org/drawingml/2006/main">
            <a:off x="3571875" y="4097535"/>
            <a:ext cx="23241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0F172A"/>
                </a:solidFill>
                <a:latin typeface="Inter"/>
                <a:ea typeface="Inter"/>
                <a:cs typeface="Inter"/>
              </a:rPr>
              <a:t>Target: Fix top-50 loss stores</a:t>
            </a:r>
          </a:p>
        </p:txBody>
      </p:sp>
      <p:sp>
        <p:nvSpPr>
          <p:cNvPr id="40" name="TextBox 39">
            <a:extLst xmlns:a="http://schemas.openxmlformats.org/drawingml/2006/main">
              <a:ext uri="{FF2B5EF4-FFF2-40B4-BE49-F238E27FC236}">
                <a16:creationId xmlns:a16="http://schemas.microsoft.com/office/drawing/2014/main" id="{F8D77758-44E8-48B8-BEA7-507504C8AD95}"/>
              </a:ext>
            </a:extLst>
          </p:cNvPr>
          <p:cNvSpPr>
            <a:spLocks xmlns:a="http://schemas.openxmlformats.org/drawingml/2006/main" noGrp="1"/>
          </p:cNvSpPr>
          <p:nvPr/>
        </p:nvSpPr>
        <p:spPr>
          <a:xfrm xmlns:a="http://schemas.openxmlformats.org/drawingml/2006/main">
            <a:off x="6391275" y="4097535"/>
            <a:ext cx="23241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0F172A"/>
                </a:solidFill>
                <a:latin typeface="Inter"/>
                <a:ea typeface="Inter"/>
                <a:cs typeface="Inter"/>
              </a:rPr>
              <a:t>Target: Protect $5,616 CLV cohort</a:t>
            </a:r>
          </a:p>
        </p:txBody>
      </p:sp>
      <p:sp>
        <p:nvSpPr>
          <p:cNvPr id="41" name="TextBox 40">
            <a:extLst xmlns:a="http://schemas.openxmlformats.org/drawingml/2006/main">
              <a:ext uri="{FF2B5EF4-FFF2-40B4-BE49-F238E27FC236}">
                <a16:creationId xmlns:a16="http://schemas.microsoft.com/office/drawing/2014/main" id="{D619711F-C765-46DE-86F1-946A8812B80E}"/>
              </a:ext>
            </a:extLst>
          </p:cNvPr>
          <p:cNvSpPr>
            <a:spLocks xmlns:a="http://schemas.openxmlformats.org/drawingml/2006/main" noGrp="1"/>
          </p:cNvSpPr>
          <p:nvPr/>
        </p:nvSpPr>
        <p:spPr>
          <a:xfrm xmlns:a="http://schemas.openxmlformats.org/drawingml/2006/main">
            <a:off x="9210675" y="3945135"/>
            <a:ext cx="2324100" cy="3143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0F172A"/>
                </a:solidFill>
                <a:latin typeface="Inter"/>
                <a:ea typeface="Inter"/>
                <a:cs typeface="Inter"/>
              </a:rPr>
              <a:t>Target: More retained CLV per incentive dollar</a:t>
            </a:r>
          </a:p>
        </p:txBody>
      </p:sp>
      <p:sp>
        <p:nvSpPr>
          <p:cNvPr id="42" name="TextBox 41">
            <a:extLst xmlns:a="http://schemas.openxmlformats.org/drawingml/2006/main">
              <a:ext uri="{FF2B5EF4-FFF2-40B4-BE49-F238E27FC236}">
                <a16:creationId xmlns:a16="http://schemas.microsoft.com/office/drawing/2014/main" id="{AD0E794A-9BAD-4BE9-A8DC-8A196F812FC6}"/>
              </a:ext>
            </a:extLst>
          </p:cNvPr>
          <p:cNvSpPr>
            <a:spLocks xmlns:a="http://schemas.openxmlformats.org/drawingml/2006/main" noGrp="1"/>
          </p:cNvSpPr>
          <p:nvPr/>
        </p:nvSpPr>
        <p:spPr>
          <a:xfrm xmlns:a="http://schemas.openxmlformats.org/drawingml/2006/main">
            <a:off x="762000" y="4878585"/>
            <a:ext cx="5595937"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FFFFFF"/>
                </a:solidFill>
                <a:latin typeface="Inter"/>
                <a:ea typeface="Inter"/>
                <a:cs typeface="Inter"/>
              </a:rPr>
              <a:t>Q1–Q2 Implementation Envelope: $6.0M Investment</a:t>
            </a:r>
          </a:p>
        </p:txBody>
      </p:sp>
      <p:sp>
        <p:nvSpPr>
          <p:cNvPr id="43" name="TextBox 42">
            <a:extLst xmlns:a="http://schemas.openxmlformats.org/drawingml/2006/main">
              <a:ext uri="{FF2B5EF4-FFF2-40B4-BE49-F238E27FC236}">
                <a16:creationId xmlns:a16="http://schemas.microsoft.com/office/drawing/2014/main" id="{863E8080-7BFF-4A12-97C6-731872FD6D7E}"/>
              </a:ext>
            </a:extLst>
          </p:cNvPr>
          <p:cNvSpPr>
            <a:spLocks xmlns:a="http://schemas.openxmlformats.org/drawingml/2006/main" noGrp="1"/>
          </p:cNvSpPr>
          <p:nvPr/>
        </p:nvSpPr>
        <p:spPr>
          <a:xfrm xmlns:a="http://schemas.openxmlformats.org/drawingml/2006/main">
            <a:off x="762000" y="5059560"/>
            <a:ext cx="5595937"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94A3B8"/>
                </a:solidFill>
                <a:latin typeface="Inter"/>
                <a:ea typeface="Inter"/>
                <a:cs typeface="Inter"/>
              </a:rPr>
              <a:t>Delivers +$12.0M Net Annual Profit Uplift | Payback Period: 4.0 Months</a:t>
            </a:r>
          </a:p>
        </p:txBody>
      </p:sp>
      <p:sp>
        <p:nvSpPr>
          <p:cNvPr id="44" name="TextBox 43">
            <a:extLst xmlns:a="http://schemas.openxmlformats.org/drawingml/2006/main">
              <a:ext uri="{FF2B5EF4-FFF2-40B4-BE49-F238E27FC236}">
                <a16:creationId xmlns:a16="http://schemas.microsoft.com/office/drawing/2014/main" id="{34AC20F8-9DB0-43D3-878E-EEFF21637534}"/>
              </a:ext>
            </a:extLst>
          </p:cNvPr>
          <p:cNvSpPr>
            <a:spLocks xmlns:a="http://schemas.openxmlformats.org/drawingml/2006/main" noGrp="1"/>
          </p:cNvSpPr>
          <p:nvPr/>
        </p:nvSpPr>
        <p:spPr>
          <a:xfrm xmlns:a="http://schemas.openxmlformats.org/drawingml/2006/main">
            <a:off x="752475" y="2813744"/>
            <a:ext cx="292536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Promotion Guardrails</a:t>
            </a:r>
          </a:p>
        </p:txBody>
      </p:sp>
      <p:sp>
        <p:nvSpPr>
          <p:cNvPr id="45" name="TextBox 44">
            <a:extLst xmlns:a="http://schemas.openxmlformats.org/drawingml/2006/main">
              <a:ext uri="{FF2B5EF4-FFF2-40B4-BE49-F238E27FC236}">
                <a16:creationId xmlns:a16="http://schemas.microsoft.com/office/drawing/2014/main" id="{DC9E98FC-20FB-45B6-85FE-255509DBE9B4}"/>
              </a:ext>
            </a:extLst>
          </p:cNvPr>
          <p:cNvSpPr>
            <a:spLocks xmlns:a="http://schemas.openxmlformats.org/drawingml/2006/main" noGrp="1"/>
          </p:cNvSpPr>
          <p:nvPr/>
        </p:nvSpPr>
        <p:spPr>
          <a:xfrm xmlns:a="http://schemas.openxmlformats.org/drawingml/2006/main">
            <a:off x="752475" y="3080444"/>
            <a:ext cx="2324100" cy="5598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470"/>
              </a:lnSpc>
              <a:buNone/>
            </a:pPr>
            <a:r>
              <a:rPr sz="1050" b="0" i="0" u="none">
                <a:solidFill>
                  <a:srgbClr val="475569"/>
                </a:solidFill>
                <a:latin typeface="Inter"/>
                <a:ea typeface="Inter"/>
                <a:cs typeface="Inter"/>
              </a:rPr>
              <a:t>Cap unapproved BOGO and clearance deals; enforce minimum 5% margin and 50% ROI gate.</a:t>
            </a:r>
          </a:p>
        </p:txBody>
      </p:sp>
      <p:sp>
        <p:nvSpPr>
          <p:cNvPr id="46" name="TextBox 45">
            <a:extLst xmlns:a="http://schemas.openxmlformats.org/drawingml/2006/main">
              <a:ext uri="{FF2B5EF4-FFF2-40B4-BE49-F238E27FC236}">
                <a16:creationId xmlns:a16="http://schemas.microsoft.com/office/drawing/2014/main" id="{1B7FBA58-AC7B-41A2-9E82-71B4E2502883}"/>
              </a:ext>
            </a:extLst>
          </p:cNvPr>
          <p:cNvSpPr>
            <a:spLocks xmlns:a="http://schemas.openxmlformats.org/drawingml/2006/main" noGrp="1"/>
          </p:cNvSpPr>
          <p:nvPr/>
        </p:nvSpPr>
        <p:spPr>
          <a:xfrm xmlns:a="http://schemas.openxmlformats.org/drawingml/2006/main">
            <a:off x="3571875" y="2813744"/>
            <a:ext cx="292536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Loss Pocket Ownership</a:t>
            </a:r>
          </a:p>
        </p:txBody>
      </p:sp>
      <p:sp>
        <p:nvSpPr>
          <p:cNvPr id="47" name="TextBox 46">
            <a:extLst xmlns:a="http://schemas.openxmlformats.org/drawingml/2006/main">
              <a:ext uri="{FF2B5EF4-FFF2-40B4-BE49-F238E27FC236}">
                <a16:creationId xmlns:a16="http://schemas.microsoft.com/office/drawing/2014/main" id="{63D21932-3F8F-4542-B7C8-87C33A2867F6}"/>
              </a:ext>
            </a:extLst>
          </p:cNvPr>
          <p:cNvSpPr>
            <a:spLocks xmlns:a="http://schemas.openxmlformats.org/drawingml/2006/main" noGrp="1"/>
          </p:cNvSpPr>
          <p:nvPr/>
        </p:nvSpPr>
        <p:spPr>
          <a:xfrm xmlns:a="http://schemas.openxmlformats.org/drawingml/2006/main">
            <a:off x="3571875" y="3080444"/>
            <a:ext cx="2324100" cy="5598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470"/>
              </a:lnSpc>
              <a:buNone/>
            </a:pPr>
            <a:r>
              <a:rPr sz="1050" b="0" i="0" u="none">
                <a:solidFill>
                  <a:srgbClr val="475569"/>
                </a:solidFill>
                <a:latin typeface="Inter"/>
                <a:ea typeface="Inter"/>
                <a:cs typeface="Inter"/>
              </a:rPr>
              <a:t>Publish the top 50 recurring pockets and assign one recovery lever to each.</a:t>
            </a:r>
          </a:p>
        </p:txBody>
      </p:sp>
      <p:sp>
        <p:nvSpPr>
          <p:cNvPr id="48" name="TextBox 47">
            <a:extLst xmlns:a="http://schemas.openxmlformats.org/drawingml/2006/main">
              <a:ext uri="{FF2B5EF4-FFF2-40B4-BE49-F238E27FC236}">
                <a16:creationId xmlns:a16="http://schemas.microsoft.com/office/drawing/2014/main" id="{49B42CDB-D750-4CBC-A1AF-52B65B0393DA}"/>
              </a:ext>
            </a:extLst>
          </p:cNvPr>
          <p:cNvSpPr>
            <a:spLocks xmlns:a="http://schemas.openxmlformats.org/drawingml/2006/main" noGrp="1"/>
          </p:cNvSpPr>
          <p:nvPr/>
        </p:nvSpPr>
        <p:spPr>
          <a:xfrm xmlns:a="http://schemas.openxmlformats.org/drawingml/2006/main">
            <a:off x="6391275" y="2813744"/>
            <a:ext cx="292536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Protect High-Value Risk</a:t>
            </a:r>
          </a:p>
        </p:txBody>
      </p:sp>
      <p:sp>
        <p:nvSpPr>
          <p:cNvPr id="49" name="TextBox 48">
            <a:extLst xmlns:a="http://schemas.openxmlformats.org/drawingml/2006/main">
              <a:ext uri="{FF2B5EF4-FFF2-40B4-BE49-F238E27FC236}">
                <a16:creationId xmlns:a16="http://schemas.microsoft.com/office/drawing/2014/main" id="{AF764BBC-0285-4F8A-AF61-5E3BD7E27055}"/>
              </a:ext>
            </a:extLst>
          </p:cNvPr>
          <p:cNvSpPr>
            <a:spLocks xmlns:a="http://schemas.openxmlformats.org/drawingml/2006/main" noGrp="1"/>
          </p:cNvSpPr>
          <p:nvPr/>
        </p:nvSpPr>
        <p:spPr>
          <a:xfrm xmlns:a="http://schemas.openxmlformats.org/drawingml/2006/main">
            <a:off x="6391275" y="3080444"/>
            <a:ext cx="2324100" cy="5598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470"/>
              </a:lnSpc>
              <a:buNone/>
            </a:pPr>
            <a:r>
              <a:rPr sz="1050" b="0" i="0" u="none">
                <a:solidFill>
                  <a:srgbClr val="475569"/>
                </a:solidFill>
                <a:latin typeface="Inter"/>
                <a:ea typeface="Inter"/>
                <a:cs typeface="Inter"/>
              </a:rPr>
              <a:t>Test service first, then a capped 10% offer with a 15% holdout.</a:t>
            </a:r>
          </a:p>
        </p:txBody>
      </p:sp>
      <p:sp>
        <p:nvSpPr>
          <p:cNvPr id="50" name="TextBox 49">
            <a:extLst xmlns:a="http://schemas.openxmlformats.org/drawingml/2006/main">
              <a:ext uri="{FF2B5EF4-FFF2-40B4-BE49-F238E27FC236}">
                <a16:creationId xmlns:a16="http://schemas.microsoft.com/office/drawing/2014/main" id="{AD3E6DA1-9C97-41F7-8E0C-7DE21C231906}"/>
              </a:ext>
            </a:extLst>
          </p:cNvPr>
          <p:cNvSpPr>
            <a:spLocks xmlns:a="http://schemas.openxmlformats.org/drawingml/2006/main" noGrp="1"/>
          </p:cNvSpPr>
          <p:nvPr/>
        </p:nvSpPr>
        <p:spPr>
          <a:xfrm xmlns:a="http://schemas.openxmlformats.org/drawingml/2006/main">
            <a:off x="9210675" y="2813744"/>
            <a:ext cx="2925365" cy="19431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Customer Value Targeting</a:t>
            </a:r>
          </a:p>
        </p:txBody>
      </p:sp>
      <p:sp>
        <p:nvSpPr>
          <p:cNvPr id="51" name="TextBox 50">
            <a:extLst xmlns:a="http://schemas.openxmlformats.org/drawingml/2006/main">
              <a:ext uri="{FF2B5EF4-FFF2-40B4-BE49-F238E27FC236}">
                <a16:creationId xmlns:a16="http://schemas.microsoft.com/office/drawing/2014/main" id="{29C9E265-7252-4A13-8C0A-8831001F9616}"/>
              </a:ext>
            </a:extLst>
          </p:cNvPr>
          <p:cNvSpPr>
            <a:spLocks xmlns:a="http://schemas.openxmlformats.org/drawingml/2006/main" noGrp="1"/>
          </p:cNvSpPr>
          <p:nvPr/>
        </p:nvSpPr>
        <p:spPr>
          <a:xfrm xmlns:a="http://schemas.openxmlformats.org/drawingml/2006/main">
            <a:off x="9210675" y="3080444"/>
            <a:ext cx="2324100" cy="55989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470"/>
              </a:lnSpc>
              <a:buNone/>
            </a:pPr>
            <a:r>
              <a:rPr sz="1050" b="0" i="0" u="none">
                <a:solidFill>
                  <a:srgbClr val="475569"/>
                </a:solidFill>
                <a:latin typeface="Inter"/>
                <a:ea typeface="Inter"/>
                <a:cs typeface="Inter"/>
              </a:rPr>
              <a:t>Replace loyalty-tier targeting with customer value and modeled risk.</a:t>
            </a:r>
          </a:p>
        </p:txBody>
      </p:sp>
      <p:sp>
        <p:nvSpPr>
          <p:cNvPr id="52" name="TextBox 51">
            <a:extLst xmlns:a="http://schemas.openxmlformats.org/drawingml/2006/main">
              <a:ext uri="{FF2B5EF4-FFF2-40B4-BE49-F238E27FC236}">
                <a16:creationId xmlns:a16="http://schemas.microsoft.com/office/drawing/2014/main" id="{0539F424-4AF6-4746-B860-57257F2AC613}"/>
              </a:ext>
            </a:extLst>
          </p:cNvPr>
          <p:cNvSpPr>
            <a:spLocks xmlns:a="http://schemas.openxmlformats.org/drawingml/2006/main" noGrp="1"/>
          </p:cNvSpPr>
          <p:nvPr/>
        </p:nvSpPr>
        <p:spPr>
          <a:xfrm xmlns:a="http://schemas.openxmlformats.org/drawingml/2006/main">
            <a:off x="752475" y="2523232"/>
            <a:ext cx="704850"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1" i="0" u="none">
                <a:solidFill>
                  <a:srgbClr val="EA580C"/>
                </a:solidFill>
                <a:latin typeface="Inter"/>
                <a:ea typeface="Inter"/>
                <a:cs typeface="Inter"/>
              </a:rPr>
              <a:t>PART 1</a:t>
            </a:r>
          </a:p>
        </p:txBody>
      </p:sp>
      <p:sp>
        <p:nvSpPr>
          <p:cNvPr id="53" name="TextBox 52">
            <a:extLst xmlns:a="http://schemas.openxmlformats.org/drawingml/2006/main">
              <a:ext uri="{FF2B5EF4-FFF2-40B4-BE49-F238E27FC236}">
                <a16:creationId xmlns:a16="http://schemas.microsoft.com/office/drawing/2014/main" id="{7088CC6D-7070-45FD-AEB5-B4FF8312503E}"/>
              </a:ext>
            </a:extLst>
          </p:cNvPr>
          <p:cNvSpPr>
            <a:spLocks xmlns:a="http://schemas.openxmlformats.org/drawingml/2006/main" noGrp="1"/>
          </p:cNvSpPr>
          <p:nvPr/>
        </p:nvSpPr>
        <p:spPr>
          <a:xfrm xmlns:a="http://schemas.openxmlformats.org/drawingml/2006/main">
            <a:off x="2124075" y="2527994"/>
            <a:ext cx="87630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B45309"/>
                </a:solidFill>
                <a:latin typeface="Inter"/>
                <a:ea typeface="Inter"/>
                <a:cs typeface="Inter"/>
              </a:rPr>
              <a:t>+$4.2M Profit</a:t>
            </a:r>
          </a:p>
        </p:txBody>
      </p:sp>
      <p:sp>
        <p:nvSpPr>
          <p:cNvPr id="54" name="TextBox 53">
            <a:extLst xmlns:a="http://schemas.openxmlformats.org/drawingml/2006/main">
              <a:ext uri="{FF2B5EF4-FFF2-40B4-BE49-F238E27FC236}">
                <a16:creationId xmlns:a16="http://schemas.microsoft.com/office/drawing/2014/main" id="{C8614A95-8A4D-4CCC-B9F8-434CD1AD500C}"/>
              </a:ext>
            </a:extLst>
          </p:cNvPr>
          <p:cNvSpPr>
            <a:spLocks xmlns:a="http://schemas.openxmlformats.org/drawingml/2006/main" noGrp="1"/>
          </p:cNvSpPr>
          <p:nvPr/>
        </p:nvSpPr>
        <p:spPr>
          <a:xfrm xmlns:a="http://schemas.openxmlformats.org/drawingml/2006/main">
            <a:off x="3571875" y="2523232"/>
            <a:ext cx="723900"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1" i="0" u="none">
                <a:solidFill>
                  <a:srgbClr val="2563EB"/>
                </a:solidFill>
                <a:latin typeface="Inter"/>
                <a:ea typeface="Inter"/>
                <a:cs typeface="Inter"/>
              </a:rPr>
              <a:t>PART 2</a:t>
            </a:r>
          </a:p>
        </p:txBody>
      </p:sp>
      <p:sp>
        <p:nvSpPr>
          <p:cNvPr id="55" name="TextBox 54">
            <a:extLst xmlns:a="http://schemas.openxmlformats.org/drawingml/2006/main">
              <a:ext uri="{FF2B5EF4-FFF2-40B4-BE49-F238E27FC236}">
                <a16:creationId xmlns:a16="http://schemas.microsoft.com/office/drawing/2014/main" id="{7ACF0854-435D-4817-B4B5-B5EAB4BAEC7B}"/>
              </a:ext>
            </a:extLst>
          </p:cNvPr>
          <p:cNvSpPr>
            <a:spLocks xmlns:a="http://schemas.openxmlformats.org/drawingml/2006/main" noGrp="1"/>
          </p:cNvSpPr>
          <p:nvPr/>
        </p:nvSpPr>
        <p:spPr>
          <a:xfrm xmlns:a="http://schemas.openxmlformats.org/drawingml/2006/main">
            <a:off x="4943475" y="2527994"/>
            <a:ext cx="87630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1E40AF"/>
                </a:solidFill>
                <a:latin typeface="Inter"/>
                <a:ea typeface="Inter"/>
                <a:cs typeface="Inter"/>
              </a:rPr>
              <a:t>+$3.8M Profit</a:t>
            </a:r>
          </a:p>
        </p:txBody>
      </p:sp>
      <p:sp>
        <p:nvSpPr>
          <p:cNvPr id="56" name="TextBox 55">
            <a:extLst xmlns:a="http://schemas.openxmlformats.org/drawingml/2006/main">
              <a:ext uri="{FF2B5EF4-FFF2-40B4-BE49-F238E27FC236}">
                <a16:creationId xmlns:a16="http://schemas.microsoft.com/office/drawing/2014/main" id="{F220F172-FD85-43B5-9757-CC1AF384C194}"/>
              </a:ext>
            </a:extLst>
          </p:cNvPr>
          <p:cNvSpPr>
            <a:spLocks xmlns:a="http://schemas.openxmlformats.org/drawingml/2006/main" noGrp="1"/>
          </p:cNvSpPr>
          <p:nvPr/>
        </p:nvSpPr>
        <p:spPr>
          <a:xfrm xmlns:a="http://schemas.openxmlformats.org/drawingml/2006/main">
            <a:off x="6391275" y="2523232"/>
            <a:ext cx="723900"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1" i="0" u="none">
                <a:solidFill>
                  <a:srgbClr val="16A34A"/>
                </a:solidFill>
                <a:latin typeface="Inter"/>
                <a:ea typeface="Inter"/>
                <a:cs typeface="Inter"/>
              </a:rPr>
              <a:t>PART 3</a:t>
            </a:r>
          </a:p>
        </p:txBody>
      </p:sp>
      <p:sp>
        <p:nvSpPr>
          <p:cNvPr id="57" name="TextBox 56">
            <a:extLst xmlns:a="http://schemas.openxmlformats.org/drawingml/2006/main">
              <a:ext uri="{FF2B5EF4-FFF2-40B4-BE49-F238E27FC236}">
                <a16:creationId xmlns:a16="http://schemas.microsoft.com/office/drawing/2014/main" id="{4548B0F5-F4CF-44AC-815C-D6786486A120}"/>
              </a:ext>
            </a:extLst>
          </p:cNvPr>
          <p:cNvSpPr>
            <a:spLocks xmlns:a="http://schemas.openxmlformats.org/drawingml/2006/main" noGrp="1"/>
          </p:cNvSpPr>
          <p:nvPr/>
        </p:nvSpPr>
        <p:spPr>
          <a:xfrm xmlns:a="http://schemas.openxmlformats.org/drawingml/2006/main">
            <a:off x="7772400" y="2527994"/>
            <a:ext cx="866775"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15803D"/>
                </a:solidFill>
                <a:latin typeface="Inter"/>
                <a:ea typeface="Inter"/>
                <a:cs typeface="Inter"/>
              </a:rPr>
              <a:t>+$2.5M Profit</a:t>
            </a:r>
          </a:p>
        </p:txBody>
      </p:sp>
      <p:sp>
        <p:nvSpPr>
          <p:cNvPr id="58" name="TextBox 57">
            <a:extLst xmlns:a="http://schemas.openxmlformats.org/drawingml/2006/main">
              <a:ext uri="{FF2B5EF4-FFF2-40B4-BE49-F238E27FC236}">
                <a16:creationId xmlns:a16="http://schemas.microsoft.com/office/drawing/2014/main" id="{32275AC6-AB4F-43F5-943B-4D1E398B0310}"/>
              </a:ext>
            </a:extLst>
          </p:cNvPr>
          <p:cNvSpPr>
            <a:spLocks xmlns:a="http://schemas.openxmlformats.org/drawingml/2006/main" noGrp="1"/>
          </p:cNvSpPr>
          <p:nvPr/>
        </p:nvSpPr>
        <p:spPr>
          <a:xfrm xmlns:a="http://schemas.openxmlformats.org/drawingml/2006/main">
            <a:off x="9210675" y="2523232"/>
            <a:ext cx="733425"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1" i="0" u="none">
                <a:solidFill>
                  <a:srgbClr val="0F172A"/>
                </a:solidFill>
                <a:latin typeface="Inter"/>
                <a:ea typeface="Inter"/>
                <a:cs typeface="Inter"/>
              </a:rPr>
              <a:t>PART 4</a:t>
            </a:r>
          </a:p>
        </p:txBody>
      </p:sp>
      <p:sp>
        <p:nvSpPr>
          <p:cNvPr id="59" name="TextBox 58">
            <a:extLst xmlns:a="http://schemas.openxmlformats.org/drawingml/2006/main">
              <a:ext uri="{FF2B5EF4-FFF2-40B4-BE49-F238E27FC236}">
                <a16:creationId xmlns:a16="http://schemas.microsoft.com/office/drawing/2014/main" id="{E787809C-3CD2-4864-BB66-3718F27EF41D}"/>
              </a:ext>
            </a:extLst>
          </p:cNvPr>
          <p:cNvSpPr>
            <a:spLocks xmlns:a="http://schemas.openxmlformats.org/drawingml/2006/main" noGrp="1"/>
          </p:cNvSpPr>
          <p:nvPr/>
        </p:nvSpPr>
        <p:spPr>
          <a:xfrm xmlns:a="http://schemas.openxmlformats.org/drawingml/2006/main">
            <a:off x="10620375" y="2527994"/>
            <a:ext cx="83820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334155"/>
                </a:solidFill>
                <a:latin typeface="Inter"/>
                <a:ea typeface="Inter"/>
                <a:cs typeface="Inter"/>
              </a:rPr>
              <a:t>+$1.5M Profit</a:t>
            </a:r>
          </a:p>
        </p:txBody>
      </p:sp>
    </p:spTree>
    <p:extLst>
      <p:ext uri="{BB962C8B-B14F-4D97-AF65-F5344CB8AC3E}">
        <p14:creationId xmlns:p14="http://schemas.microsoft.com/office/powerpoint/2010/main" val="131554110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B8D8F8FC-4F1F-448D-A966-127115BBDFA3}"/>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C955177C-BFB3-4798-8030-B9A266DE3D6A}"/>
              </a:ext>
            </a:extLst>
          </p:cNvPr>
          <p:cNvSpPr>
            <a:spLocks xmlns:a="http://schemas.openxmlformats.org/drawingml/2006/main" noGrp="1"/>
          </p:cNvSpPr>
          <p:nvPr/>
        </p:nvSpPr>
        <p:spPr>
          <a:xfrm xmlns:a="http://schemas.openxmlformats.org/drawingml/2006/main">
            <a:off x="533400" y="2350740"/>
            <a:ext cx="6153150" cy="2933700"/>
          </a:xfrm>
          <a:prstGeom xmlns:a="http://schemas.openxmlformats.org/drawingml/2006/main" prst="roundRect">
            <a:avLst>
              <a:gd name="adj" fmla="val 3896"/>
            </a:avLst>
          </a:prstGeom>
          <a:solidFill xmlns:a="http://schemas.openxmlformats.org/drawingml/2006/main">
            <a:srgbClr val="FFFFFF"/>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FB002896-39FA-43A6-8FFB-A0F297ACE7A2}"/>
              </a:ext>
            </a:extLst>
          </p:cNvPr>
          <p:cNvSpPr>
            <a:spLocks xmlns:a="http://schemas.openxmlformats.org/drawingml/2006/main" noGrp="1"/>
          </p:cNvSpPr>
          <p:nvPr/>
        </p:nvSpPr>
        <p:spPr>
          <a:xfrm xmlns:a="http://schemas.openxmlformats.org/drawingml/2006/main">
            <a:off x="6991350" y="2250727"/>
            <a:ext cx="4667250" cy="1390650"/>
          </a:xfrm>
          <a:prstGeom xmlns:a="http://schemas.openxmlformats.org/drawingml/2006/main" prst="roundRect">
            <a:avLst>
              <a:gd name="adj" fmla="val 6849"/>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B5BF8633-812C-44BE-BDE4-61450E021DBB}"/>
              </a:ext>
            </a:extLst>
          </p:cNvPr>
          <p:cNvSpPr>
            <a:spLocks xmlns:a="http://schemas.openxmlformats.org/drawingml/2006/main" noGrp="1"/>
          </p:cNvSpPr>
          <p:nvPr/>
        </p:nvSpPr>
        <p:spPr>
          <a:xfrm xmlns:a="http://schemas.openxmlformats.org/drawingml/2006/main">
            <a:off x="6991350" y="3831877"/>
            <a:ext cx="4667250" cy="1552575"/>
          </a:xfrm>
          <a:prstGeom xmlns:a="http://schemas.openxmlformats.org/drawingml/2006/main" prst="roundRect">
            <a:avLst>
              <a:gd name="adj" fmla="val 6134"/>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1356EE1C-E9BC-4CE6-B419-D9DB7850D5EB}"/>
              </a:ext>
            </a:extLst>
          </p:cNvPr>
          <p:cNvSpPr>
            <a:spLocks xmlns:a="http://schemas.openxmlformats.org/drawingml/2006/main" noGrp="1"/>
          </p:cNvSpPr>
          <p:nvPr/>
        </p:nvSpPr>
        <p:spPr>
          <a:xfrm xmlns:a="http://schemas.openxmlformats.org/drawingml/2006/main">
            <a:off x="809625" y="3246090"/>
            <a:ext cx="5600700" cy="133350"/>
          </a:xfrm>
          <a:prstGeom xmlns:a="http://schemas.openxmlformats.org/drawingml/2006/main" prst="roundRect">
            <a:avLst>
              <a:gd name="adj" fmla="val 42857"/>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AC3C810A-0E81-491F-9656-90D762E17F40}"/>
              </a:ext>
            </a:extLst>
          </p:cNvPr>
          <p:cNvSpPr>
            <a:spLocks xmlns:a="http://schemas.openxmlformats.org/drawingml/2006/main" noGrp="1"/>
          </p:cNvSpPr>
          <p:nvPr/>
        </p:nvSpPr>
        <p:spPr>
          <a:xfrm xmlns:a="http://schemas.openxmlformats.org/drawingml/2006/main">
            <a:off x="809625" y="3789015"/>
            <a:ext cx="5600700" cy="133350"/>
          </a:xfrm>
          <a:prstGeom xmlns:a="http://schemas.openxmlformats.org/drawingml/2006/main" prst="roundRect">
            <a:avLst>
              <a:gd name="adj" fmla="val 42857"/>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255E45EB-F88D-4410-8876-0223AFBA6C46}"/>
              </a:ext>
            </a:extLst>
          </p:cNvPr>
          <p:cNvSpPr>
            <a:spLocks xmlns:a="http://schemas.openxmlformats.org/drawingml/2006/main" noGrp="1"/>
          </p:cNvSpPr>
          <p:nvPr/>
        </p:nvSpPr>
        <p:spPr>
          <a:xfrm xmlns:a="http://schemas.openxmlformats.org/drawingml/2006/main">
            <a:off x="809625" y="4331940"/>
            <a:ext cx="5600700" cy="133350"/>
          </a:xfrm>
          <a:prstGeom xmlns:a="http://schemas.openxmlformats.org/drawingml/2006/main" prst="roundRect">
            <a:avLst>
              <a:gd name="adj" fmla="val 42857"/>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ounded Rectangle 8">
            <a:extLst xmlns:a="http://schemas.openxmlformats.org/drawingml/2006/main">
              <a:ext uri="{FF2B5EF4-FFF2-40B4-BE49-F238E27FC236}">
                <a16:creationId xmlns:a16="http://schemas.microsoft.com/office/drawing/2014/main" id="{AD3E23A7-53F3-4166-B774-481B958B5BDC}"/>
              </a:ext>
            </a:extLst>
          </p:cNvPr>
          <p:cNvSpPr>
            <a:spLocks xmlns:a="http://schemas.openxmlformats.org/drawingml/2006/main" noGrp="1"/>
          </p:cNvSpPr>
          <p:nvPr/>
        </p:nvSpPr>
        <p:spPr>
          <a:xfrm xmlns:a="http://schemas.openxmlformats.org/drawingml/2006/main">
            <a:off x="809625" y="4874865"/>
            <a:ext cx="5600700" cy="133350"/>
          </a:xfrm>
          <a:prstGeom xmlns:a="http://schemas.openxmlformats.org/drawingml/2006/main" prst="roundRect">
            <a:avLst>
              <a:gd name="adj" fmla="val 42857"/>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ounded Rectangle 9">
            <a:extLst xmlns:a="http://schemas.openxmlformats.org/drawingml/2006/main">
              <a:ext uri="{FF2B5EF4-FFF2-40B4-BE49-F238E27FC236}">
                <a16:creationId xmlns:a16="http://schemas.microsoft.com/office/drawing/2014/main" id="{25EC80F3-948D-4968-AFDF-639F66E0D079}"/>
              </a:ext>
            </a:extLst>
          </p:cNvPr>
          <p:cNvSpPr>
            <a:spLocks xmlns:a="http://schemas.openxmlformats.org/drawingml/2006/main" noGrp="1"/>
          </p:cNvSpPr>
          <p:nvPr/>
        </p:nvSpPr>
        <p:spPr>
          <a:xfrm xmlns:a="http://schemas.openxmlformats.org/drawingml/2006/main">
            <a:off x="809625" y="3246090"/>
            <a:ext cx="4760565" cy="133350"/>
          </a:xfrm>
          <a:prstGeom xmlns:a="http://schemas.openxmlformats.org/drawingml/2006/main" prst="roundRect">
            <a:avLst>
              <a:gd name="adj" fmla="val 42857"/>
            </a:avLst>
          </a:prstGeom>
          <a:solidFill xmlns:a="http://schemas.openxmlformats.org/drawingml/2006/main">
            <a:srgbClr val="16A34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ounded Rectangle 10">
            <a:extLst xmlns:a="http://schemas.openxmlformats.org/drawingml/2006/main">
              <a:ext uri="{FF2B5EF4-FFF2-40B4-BE49-F238E27FC236}">
                <a16:creationId xmlns:a16="http://schemas.microsoft.com/office/drawing/2014/main" id="{B1AC74D9-FB26-4D1D-935C-12914241F1BB}"/>
              </a:ext>
            </a:extLst>
          </p:cNvPr>
          <p:cNvSpPr>
            <a:spLocks xmlns:a="http://schemas.openxmlformats.org/drawingml/2006/main" noGrp="1"/>
          </p:cNvSpPr>
          <p:nvPr/>
        </p:nvSpPr>
        <p:spPr>
          <a:xfrm xmlns:a="http://schemas.openxmlformats.org/drawingml/2006/main">
            <a:off x="809625" y="3789015"/>
            <a:ext cx="3360390" cy="133350"/>
          </a:xfrm>
          <a:prstGeom xmlns:a="http://schemas.openxmlformats.org/drawingml/2006/main" prst="roundRect">
            <a:avLst>
              <a:gd name="adj" fmla="val 42857"/>
            </a:avLst>
          </a:prstGeom>
          <a:solidFill xmlns:a="http://schemas.openxmlformats.org/drawingml/2006/main">
            <a:srgbClr val="2563E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ounded Rectangle 11">
            <a:extLst xmlns:a="http://schemas.openxmlformats.org/drawingml/2006/main">
              <a:ext uri="{FF2B5EF4-FFF2-40B4-BE49-F238E27FC236}">
                <a16:creationId xmlns:a16="http://schemas.microsoft.com/office/drawing/2014/main" id="{E1BEBB9E-0B56-4C51-AE10-6FD74F066664}"/>
              </a:ext>
            </a:extLst>
          </p:cNvPr>
          <p:cNvSpPr>
            <a:spLocks xmlns:a="http://schemas.openxmlformats.org/drawingml/2006/main" noGrp="1"/>
          </p:cNvSpPr>
          <p:nvPr/>
        </p:nvSpPr>
        <p:spPr>
          <a:xfrm xmlns:a="http://schemas.openxmlformats.org/drawingml/2006/main">
            <a:off x="809625" y="4331940"/>
            <a:ext cx="1680120" cy="133350"/>
          </a:xfrm>
          <a:prstGeom xmlns:a="http://schemas.openxmlformats.org/drawingml/2006/main" prst="roundRect">
            <a:avLst>
              <a:gd name="adj" fmla="val 42857"/>
            </a:avLst>
          </a:prstGeom>
          <a:solidFill xmlns:a="http://schemas.openxmlformats.org/drawingml/2006/main">
            <a:srgbClr val="DC2626"/>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Rounded Rectangle 12">
            <a:extLst xmlns:a="http://schemas.openxmlformats.org/drawingml/2006/main">
              <a:ext uri="{FF2B5EF4-FFF2-40B4-BE49-F238E27FC236}">
                <a16:creationId xmlns:a16="http://schemas.microsoft.com/office/drawing/2014/main" id="{5FD580E3-CF3A-44E5-A0E6-64C11AEAF96D}"/>
              </a:ext>
            </a:extLst>
          </p:cNvPr>
          <p:cNvSpPr>
            <a:spLocks xmlns:a="http://schemas.openxmlformats.org/drawingml/2006/main" noGrp="1"/>
          </p:cNvSpPr>
          <p:nvPr/>
        </p:nvSpPr>
        <p:spPr>
          <a:xfrm xmlns:a="http://schemas.openxmlformats.org/drawingml/2006/main">
            <a:off x="809625" y="4874865"/>
            <a:ext cx="2520255" cy="133350"/>
          </a:xfrm>
          <a:prstGeom xmlns:a="http://schemas.openxmlformats.org/drawingml/2006/main" prst="roundRect">
            <a:avLst>
              <a:gd name="adj" fmla="val 42857"/>
            </a:avLst>
          </a:prstGeom>
          <a:solidFill xmlns:a="http://schemas.openxmlformats.org/drawingml/2006/main">
            <a:srgbClr val="DC2626"/>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TextBox 13">
            <a:extLst xmlns:a="http://schemas.openxmlformats.org/drawingml/2006/main">
              <a:ext uri="{FF2B5EF4-FFF2-40B4-BE49-F238E27FC236}">
                <a16:creationId xmlns:a16="http://schemas.microsoft.com/office/drawing/2014/main" id="{970E5974-68C3-4C33-8CA5-C8BEA2195B51}"/>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15" name="TextBox 14">
            <a:extLst xmlns:a="http://schemas.openxmlformats.org/drawingml/2006/main">
              <a:ext uri="{FF2B5EF4-FFF2-40B4-BE49-F238E27FC236}">
                <a16:creationId xmlns:a16="http://schemas.microsoft.com/office/drawing/2014/main" id="{F5DEC71F-954E-45EE-BCEA-18899F1E535A}"/>
              </a:ext>
            </a:extLst>
          </p:cNvPr>
          <p:cNvSpPr>
            <a:spLocks xmlns:a="http://schemas.openxmlformats.org/drawingml/2006/main" noGrp="1"/>
          </p:cNvSpPr>
          <p:nvPr/>
        </p:nvSpPr>
        <p:spPr>
          <a:xfrm xmlns:a="http://schemas.openxmlformats.org/drawingml/2006/main">
            <a:off x="533400" y="381000"/>
            <a:ext cx="8989218"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FINANCIAL ANALYSIS</a:t>
            </a:r>
          </a:p>
        </p:txBody>
      </p:sp>
      <p:sp>
        <p:nvSpPr>
          <p:cNvPr id="16" name="TextBox 15">
            <a:extLst xmlns:a="http://schemas.openxmlformats.org/drawingml/2006/main">
              <a:ext uri="{FF2B5EF4-FFF2-40B4-BE49-F238E27FC236}">
                <a16:creationId xmlns:a16="http://schemas.microsoft.com/office/drawing/2014/main" id="{50C7D6C6-9C89-4FDD-BCB2-3ED47351B409}"/>
              </a:ext>
            </a:extLst>
          </p:cNvPr>
          <p:cNvSpPr>
            <a:spLocks xmlns:a="http://schemas.openxmlformats.org/drawingml/2006/main" noGrp="1"/>
          </p:cNvSpPr>
          <p:nvPr/>
        </p:nvSpPr>
        <p:spPr>
          <a:xfrm xmlns:a="http://schemas.openxmlformats.org/drawingml/2006/main">
            <a:off x="533400" y="609600"/>
            <a:ext cx="9438679"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BOGO and Clearance Lose $18.5M Without Adding Units</a:t>
            </a:r>
          </a:p>
        </p:txBody>
      </p:sp>
      <p:sp>
        <p:nvSpPr>
          <p:cNvPr id="17" name="TextBox 16">
            <a:extLst xmlns:a="http://schemas.openxmlformats.org/drawingml/2006/main">
              <a:ext uri="{FF2B5EF4-FFF2-40B4-BE49-F238E27FC236}">
                <a16:creationId xmlns:a16="http://schemas.microsoft.com/office/drawing/2014/main" id="{CD9D54ED-CC76-4BA1-A27D-ED7FF957156E}"/>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18" name="TextBox 17">
            <a:extLst xmlns:a="http://schemas.openxmlformats.org/drawingml/2006/main">
              <a:ext uri="{FF2B5EF4-FFF2-40B4-BE49-F238E27FC236}">
                <a16:creationId xmlns:a16="http://schemas.microsoft.com/office/drawing/2014/main" id="{7B7C8EBF-BD75-4FE4-8E51-9AE26708278D}"/>
              </a:ext>
            </a:extLst>
          </p:cNvPr>
          <p:cNvSpPr>
            <a:spLocks xmlns:a="http://schemas.openxmlformats.org/drawingml/2006/main" noGrp="1"/>
          </p:cNvSpPr>
          <p:nvPr/>
        </p:nvSpPr>
        <p:spPr>
          <a:xfrm xmlns:a="http://schemas.openxmlformats.org/drawingml/2006/main">
            <a:off x="809625" y="2626965"/>
            <a:ext cx="7350918"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Profitability by Promotion Type</a:t>
            </a:r>
          </a:p>
        </p:txBody>
      </p:sp>
      <p:sp>
        <p:nvSpPr>
          <p:cNvPr id="19" name="TextBox 18">
            <a:extLst xmlns:a="http://schemas.openxmlformats.org/drawingml/2006/main">
              <a:ext uri="{FF2B5EF4-FFF2-40B4-BE49-F238E27FC236}">
                <a16:creationId xmlns:a16="http://schemas.microsoft.com/office/drawing/2014/main" id="{17F7BDE1-2CD5-43A8-B5E0-3CAD4032C420}"/>
              </a:ext>
            </a:extLst>
          </p:cNvPr>
          <p:cNvSpPr>
            <a:spLocks xmlns:a="http://schemas.openxmlformats.org/drawingml/2006/main" noGrp="1"/>
          </p:cNvSpPr>
          <p:nvPr/>
        </p:nvSpPr>
        <p:spPr>
          <a:xfrm xmlns:a="http://schemas.openxmlformats.org/drawingml/2006/main">
            <a:off x="7229475" y="2488852"/>
            <a:ext cx="4962525" cy="4857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i="0" u="none">
                <a:solidFill>
                  <a:srgbClr val="DC2626"/>
                </a:solidFill>
                <a:latin typeface="Plus Jakarta Sans"/>
                <a:ea typeface="Plus Jakarta Sans"/>
                <a:cs typeface="Plus Jakarta Sans"/>
              </a:rPr>
              <a:t>$18.5M Lost</a:t>
            </a:r>
          </a:p>
        </p:txBody>
      </p:sp>
      <p:sp>
        <p:nvSpPr>
          <p:cNvPr id="20" name="TextBox 19">
            <a:extLst xmlns:a="http://schemas.openxmlformats.org/drawingml/2006/main">
              <a:ext uri="{FF2B5EF4-FFF2-40B4-BE49-F238E27FC236}">
                <a16:creationId xmlns:a16="http://schemas.microsoft.com/office/drawing/2014/main" id="{8CE5B308-9D8E-42D6-9F78-DDD77E5A00BB}"/>
              </a:ext>
            </a:extLst>
          </p:cNvPr>
          <p:cNvSpPr>
            <a:spLocks xmlns:a="http://schemas.openxmlformats.org/drawingml/2006/main" noGrp="1"/>
          </p:cNvSpPr>
          <p:nvPr/>
        </p:nvSpPr>
        <p:spPr>
          <a:xfrm xmlns:a="http://schemas.openxmlformats.org/drawingml/2006/main">
            <a:off x="7229475" y="3012727"/>
            <a:ext cx="4962525"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i="0" u="none">
                <a:solidFill>
                  <a:srgbClr val="0F172A"/>
                </a:solidFill>
                <a:latin typeface="Inter"/>
                <a:ea typeface="Inter"/>
                <a:cs typeface="Inter"/>
              </a:rPr>
              <a:t>Combined loss from BOGO &amp; Clearance</a:t>
            </a:r>
          </a:p>
        </p:txBody>
      </p:sp>
      <p:sp>
        <p:nvSpPr>
          <p:cNvPr id="21" name="TextBox 20">
            <a:extLst xmlns:a="http://schemas.openxmlformats.org/drawingml/2006/main">
              <a:ext uri="{FF2B5EF4-FFF2-40B4-BE49-F238E27FC236}">
                <a16:creationId xmlns:a16="http://schemas.microsoft.com/office/drawing/2014/main" id="{2E8CA9CD-8116-4149-AADE-A312699FDAEE}"/>
              </a:ext>
            </a:extLst>
          </p:cNvPr>
          <p:cNvSpPr>
            <a:spLocks xmlns:a="http://schemas.openxmlformats.org/drawingml/2006/main" noGrp="1"/>
          </p:cNvSpPr>
          <p:nvPr/>
        </p:nvSpPr>
        <p:spPr>
          <a:xfrm xmlns:a="http://schemas.openxmlformats.org/drawingml/2006/main">
            <a:off x="7229475" y="3241327"/>
            <a:ext cx="4962525"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64748B"/>
                </a:solidFill>
                <a:latin typeface="Inter"/>
                <a:ea typeface="Inter"/>
                <a:cs typeface="Inter"/>
              </a:rPr>
              <a:t>These two promotions account for 30% of total sales records.</a:t>
            </a:r>
          </a:p>
        </p:txBody>
      </p:sp>
      <p:sp>
        <p:nvSpPr>
          <p:cNvPr id="22" name="TextBox 21">
            <a:extLst xmlns:a="http://schemas.openxmlformats.org/drawingml/2006/main">
              <a:ext uri="{FF2B5EF4-FFF2-40B4-BE49-F238E27FC236}">
                <a16:creationId xmlns:a16="http://schemas.microsoft.com/office/drawing/2014/main" id="{DE8A381B-53D4-459C-B4D6-A3D93B622A5F}"/>
              </a:ext>
            </a:extLst>
          </p:cNvPr>
          <p:cNvSpPr>
            <a:spLocks xmlns:a="http://schemas.openxmlformats.org/drawingml/2006/main" noGrp="1"/>
          </p:cNvSpPr>
          <p:nvPr/>
        </p:nvSpPr>
        <p:spPr>
          <a:xfrm xmlns:a="http://schemas.openxmlformats.org/drawingml/2006/main">
            <a:off x="7229475" y="4070002"/>
            <a:ext cx="4962525" cy="4857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000" b="1" i="0" u="none">
                <a:solidFill>
                  <a:srgbClr val="0F172A"/>
                </a:solidFill>
                <a:latin typeface="Plus Jakarta Sans"/>
                <a:ea typeface="Plus Jakarta Sans"/>
                <a:cs typeface="Plus Jakarta Sans"/>
              </a:rPr>
              <a:t>Zero Lift</a:t>
            </a:r>
          </a:p>
        </p:txBody>
      </p:sp>
      <p:sp>
        <p:nvSpPr>
          <p:cNvPr id="23" name="TextBox 22">
            <a:extLst xmlns:a="http://schemas.openxmlformats.org/drawingml/2006/main">
              <a:ext uri="{FF2B5EF4-FFF2-40B4-BE49-F238E27FC236}">
                <a16:creationId xmlns:a16="http://schemas.microsoft.com/office/drawing/2014/main" id="{FCE4ECFD-65B1-4A14-B53D-C4B6250CEC20}"/>
              </a:ext>
            </a:extLst>
          </p:cNvPr>
          <p:cNvSpPr>
            <a:spLocks xmlns:a="http://schemas.openxmlformats.org/drawingml/2006/main" noGrp="1"/>
          </p:cNvSpPr>
          <p:nvPr/>
        </p:nvSpPr>
        <p:spPr>
          <a:xfrm xmlns:a="http://schemas.openxmlformats.org/drawingml/2006/main">
            <a:off x="7229475" y="4593877"/>
            <a:ext cx="4962525"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i="0" u="none">
                <a:solidFill>
                  <a:srgbClr val="0F172A"/>
                </a:solidFill>
                <a:latin typeface="Inter"/>
                <a:ea typeface="Inter"/>
                <a:cs typeface="Inter"/>
              </a:rPr>
              <a:t>No statistical unit volume gain</a:t>
            </a:r>
          </a:p>
        </p:txBody>
      </p:sp>
      <p:sp>
        <p:nvSpPr>
          <p:cNvPr id="24" name="TextBox 23">
            <a:extLst xmlns:a="http://schemas.openxmlformats.org/drawingml/2006/main">
              <a:ext uri="{FF2B5EF4-FFF2-40B4-BE49-F238E27FC236}">
                <a16:creationId xmlns:a16="http://schemas.microsoft.com/office/drawing/2014/main" id="{F3C55ED4-4960-4CF6-A726-4C877EBC1812}"/>
              </a:ext>
            </a:extLst>
          </p:cNvPr>
          <p:cNvSpPr>
            <a:spLocks xmlns:a="http://schemas.openxmlformats.org/drawingml/2006/main" noGrp="1"/>
          </p:cNvSpPr>
          <p:nvPr/>
        </p:nvSpPr>
        <p:spPr>
          <a:xfrm xmlns:a="http://schemas.openxmlformats.org/drawingml/2006/main">
            <a:off x="7229475" y="4822477"/>
            <a:ext cx="4286250" cy="3238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0" i="0" u="none">
                <a:solidFill>
                  <a:srgbClr val="64748B"/>
                </a:solidFill>
                <a:latin typeface="Inter"/>
                <a:ea typeface="Inter"/>
                <a:cs typeface="Inter"/>
              </a:rPr>
              <a:t>Units sold under BOGO/Clearance match non-promoted sales (p &gt; 0.2).</a:t>
            </a:r>
          </a:p>
        </p:txBody>
      </p:sp>
      <p:sp>
        <p:nvSpPr>
          <p:cNvPr id="25" name="TextBox 24">
            <a:extLst xmlns:a="http://schemas.openxmlformats.org/drawingml/2006/main">
              <a:ext uri="{FF2B5EF4-FFF2-40B4-BE49-F238E27FC236}">
                <a16:creationId xmlns:a16="http://schemas.microsoft.com/office/drawing/2014/main" id="{2C8679F0-2B7C-4BAD-B26B-BD6F078920CC}"/>
              </a:ext>
            </a:extLst>
          </p:cNvPr>
          <p:cNvSpPr>
            <a:spLocks xmlns:a="http://schemas.openxmlformats.org/drawingml/2006/main" noGrp="1"/>
          </p:cNvSpPr>
          <p:nvPr/>
        </p:nvSpPr>
        <p:spPr>
          <a:xfrm xmlns:a="http://schemas.openxmlformats.org/drawingml/2006/main">
            <a:off x="809625" y="3007965"/>
            <a:ext cx="1228725"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No Promotion</a:t>
            </a:r>
          </a:p>
        </p:txBody>
      </p:sp>
      <p:sp>
        <p:nvSpPr>
          <p:cNvPr id="26" name="TextBox 25">
            <a:extLst xmlns:a="http://schemas.openxmlformats.org/drawingml/2006/main">
              <a:ext uri="{FF2B5EF4-FFF2-40B4-BE49-F238E27FC236}">
                <a16:creationId xmlns:a16="http://schemas.microsoft.com/office/drawing/2014/main" id="{0F43B940-DEFE-4440-96BC-0B396CF26F83}"/>
              </a:ext>
            </a:extLst>
          </p:cNvPr>
          <p:cNvSpPr>
            <a:spLocks xmlns:a="http://schemas.openxmlformats.org/drawingml/2006/main" noGrp="1"/>
          </p:cNvSpPr>
          <p:nvPr/>
        </p:nvSpPr>
        <p:spPr>
          <a:xfrm xmlns:a="http://schemas.openxmlformats.org/drawingml/2006/main">
            <a:off x="5362575" y="3007965"/>
            <a:ext cx="133350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16A34A"/>
                </a:solidFill>
                <a:latin typeface="Inter"/>
                <a:ea typeface="Inter"/>
                <a:cs typeface="Inter"/>
              </a:rPr>
              <a:t>+18.2% Margin</a:t>
            </a:r>
          </a:p>
        </p:txBody>
      </p:sp>
      <p:sp>
        <p:nvSpPr>
          <p:cNvPr id="27" name="TextBox 26">
            <a:extLst xmlns:a="http://schemas.openxmlformats.org/drawingml/2006/main">
              <a:ext uri="{FF2B5EF4-FFF2-40B4-BE49-F238E27FC236}">
                <a16:creationId xmlns:a16="http://schemas.microsoft.com/office/drawing/2014/main" id="{C3ECAEAE-0E62-4513-AAC6-BEB2164063B4}"/>
              </a:ext>
            </a:extLst>
          </p:cNvPr>
          <p:cNvSpPr>
            <a:spLocks xmlns:a="http://schemas.openxmlformats.org/drawingml/2006/main" noGrp="1"/>
          </p:cNvSpPr>
          <p:nvPr/>
        </p:nvSpPr>
        <p:spPr>
          <a:xfrm xmlns:a="http://schemas.openxmlformats.org/drawingml/2006/main">
            <a:off x="809625" y="3550890"/>
            <a:ext cx="1595437"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Standard Discount</a:t>
            </a:r>
          </a:p>
        </p:txBody>
      </p:sp>
      <p:sp>
        <p:nvSpPr>
          <p:cNvPr id="28" name="TextBox 27">
            <a:extLst xmlns:a="http://schemas.openxmlformats.org/drawingml/2006/main">
              <a:ext uri="{FF2B5EF4-FFF2-40B4-BE49-F238E27FC236}">
                <a16:creationId xmlns:a16="http://schemas.microsoft.com/office/drawing/2014/main" id="{B7167871-AFCB-40F8-AB24-53F539E6EDC0}"/>
              </a:ext>
            </a:extLst>
          </p:cNvPr>
          <p:cNvSpPr>
            <a:spLocks xmlns:a="http://schemas.openxmlformats.org/drawingml/2006/main" noGrp="1"/>
          </p:cNvSpPr>
          <p:nvPr/>
        </p:nvSpPr>
        <p:spPr>
          <a:xfrm xmlns:a="http://schemas.openxmlformats.org/drawingml/2006/main">
            <a:off x="5391150" y="3550890"/>
            <a:ext cx="1304925"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2563EB"/>
                </a:solidFill>
                <a:latin typeface="Inter"/>
                <a:ea typeface="Inter"/>
                <a:cs typeface="Inter"/>
              </a:rPr>
              <a:t>+11.4% Margin</a:t>
            </a:r>
          </a:p>
        </p:txBody>
      </p:sp>
      <p:sp>
        <p:nvSpPr>
          <p:cNvPr id="29" name="TextBox 28">
            <a:extLst xmlns:a="http://schemas.openxmlformats.org/drawingml/2006/main">
              <a:ext uri="{FF2B5EF4-FFF2-40B4-BE49-F238E27FC236}">
                <a16:creationId xmlns:a16="http://schemas.microsoft.com/office/drawing/2014/main" id="{3A9E1655-B2CE-4443-904E-FAECA57BC5A6}"/>
              </a:ext>
            </a:extLst>
          </p:cNvPr>
          <p:cNvSpPr>
            <a:spLocks xmlns:a="http://schemas.openxmlformats.org/drawingml/2006/main" noGrp="1"/>
          </p:cNvSpPr>
          <p:nvPr/>
        </p:nvSpPr>
        <p:spPr>
          <a:xfrm xmlns:a="http://schemas.openxmlformats.org/drawingml/2006/main">
            <a:off x="809625" y="4093815"/>
            <a:ext cx="2214562"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Buy One Get One (BOGO)</a:t>
            </a:r>
          </a:p>
        </p:txBody>
      </p:sp>
      <p:sp>
        <p:nvSpPr>
          <p:cNvPr id="30" name="TextBox 29">
            <a:extLst xmlns:a="http://schemas.openxmlformats.org/drawingml/2006/main">
              <a:ext uri="{FF2B5EF4-FFF2-40B4-BE49-F238E27FC236}">
                <a16:creationId xmlns:a16="http://schemas.microsoft.com/office/drawing/2014/main" id="{C19CBB6C-DC0C-4576-959C-2ECC67E8B78C}"/>
              </a:ext>
            </a:extLst>
          </p:cNvPr>
          <p:cNvSpPr>
            <a:spLocks xmlns:a="http://schemas.openxmlformats.org/drawingml/2006/main" noGrp="1"/>
          </p:cNvSpPr>
          <p:nvPr/>
        </p:nvSpPr>
        <p:spPr>
          <a:xfrm xmlns:a="http://schemas.openxmlformats.org/drawingml/2006/main">
            <a:off x="5353050" y="4093815"/>
            <a:ext cx="1343025"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DC2626"/>
                </a:solidFill>
                <a:latin typeface="Inter"/>
                <a:ea typeface="Inter"/>
                <a:cs typeface="Inter"/>
              </a:rPr>
              <a:t>−16.4% Margin</a:t>
            </a:r>
          </a:p>
        </p:txBody>
      </p:sp>
      <p:sp>
        <p:nvSpPr>
          <p:cNvPr id="31" name="TextBox 30">
            <a:extLst xmlns:a="http://schemas.openxmlformats.org/drawingml/2006/main">
              <a:ext uri="{FF2B5EF4-FFF2-40B4-BE49-F238E27FC236}">
                <a16:creationId xmlns:a16="http://schemas.microsoft.com/office/drawing/2014/main" id="{68CF039D-FCD0-484B-84FA-1E772F9CBEEF}"/>
              </a:ext>
            </a:extLst>
          </p:cNvPr>
          <p:cNvSpPr>
            <a:spLocks xmlns:a="http://schemas.openxmlformats.org/drawingml/2006/main" noGrp="1"/>
          </p:cNvSpPr>
          <p:nvPr/>
        </p:nvSpPr>
        <p:spPr>
          <a:xfrm xmlns:a="http://schemas.openxmlformats.org/drawingml/2006/main">
            <a:off x="809625" y="4636740"/>
            <a:ext cx="1000125"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Clearance</a:t>
            </a:r>
          </a:p>
        </p:txBody>
      </p:sp>
      <p:sp>
        <p:nvSpPr>
          <p:cNvPr id="32" name="TextBox 31">
            <a:extLst xmlns:a="http://schemas.openxmlformats.org/drawingml/2006/main">
              <a:ext uri="{FF2B5EF4-FFF2-40B4-BE49-F238E27FC236}">
                <a16:creationId xmlns:a16="http://schemas.microsoft.com/office/drawing/2014/main" id="{D1A5D007-4808-4592-BE53-2AD477D4D3BF}"/>
              </a:ext>
            </a:extLst>
          </p:cNvPr>
          <p:cNvSpPr>
            <a:spLocks xmlns:a="http://schemas.openxmlformats.org/drawingml/2006/main" noGrp="1"/>
          </p:cNvSpPr>
          <p:nvPr/>
        </p:nvSpPr>
        <p:spPr>
          <a:xfrm xmlns:a="http://schemas.openxmlformats.org/drawingml/2006/main">
            <a:off x="5324475" y="4636740"/>
            <a:ext cx="1371600"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DC2626"/>
                </a:solidFill>
                <a:latin typeface="Inter"/>
                <a:ea typeface="Inter"/>
                <a:cs typeface="Inter"/>
              </a:rPr>
              <a:t>−35.6% Margin</a:t>
            </a:r>
          </a:p>
        </p:txBody>
      </p:sp>
    </p:spTree>
    <p:extLst>
      <p:ext uri="{BB962C8B-B14F-4D97-AF65-F5344CB8AC3E}">
        <p14:creationId xmlns:p14="http://schemas.microsoft.com/office/powerpoint/2010/main" val="102504066"/>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BA0CDF13-78D3-46EA-B212-6D8CCD8D640D}"/>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1612D480-69CF-4B61-838E-71E6A61E3EC1}"/>
              </a:ext>
            </a:extLst>
          </p:cNvPr>
          <p:cNvSpPr>
            <a:spLocks xmlns:a="http://schemas.openxmlformats.org/drawingml/2006/main" noGrp="1"/>
          </p:cNvSpPr>
          <p:nvPr/>
        </p:nvSpPr>
        <p:spPr>
          <a:xfrm xmlns:a="http://schemas.openxmlformats.org/drawingml/2006/main">
            <a:off x="533400" y="1960215"/>
            <a:ext cx="5467350" cy="1771650"/>
          </a:xfrm>
          <a:prstGeom xmlns:a="http://schemas.openxmlformats.org/drawingml/2006/main" prst="roundRect">
            <a:avLst>
              <a:gd name="adj" fmla="val 5376"/>
            </a:avLst>
          </a:prstGeom>
          <a:solidFill xmlns:a="http://schemas.openxmlformats.org/drawingml/2006/main">
            <a:srgbClr val="FFFFFF"/>
          </a:solidFill>
          <a:ln xmlns:a="http://schemas.openxmlformats.org/drawingml/2006/main" w="19050">
            <a:solidFill>
              <a:srgbClr val="DC262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72F06979-3C18-4D5D-9690-3E9D38CB7EE4}"/>
              </a:ext>
            </a:extLst>
          </p:cNvPr>
          <p:cNvSpPr>
            <a:spLocks xmlns:a="http://schemas.openxmlformats.org/drawingml/2006/main" noGrp="1"/>
          </p:cNvSpPr>
          <p:nvPr/>
        </p:nvSpPr>
        <p:spPr>
          <a:xfrm xmlns:a="http://schemas.openxmlformats.org/drawingml/2006/main">
            <a:off x="6191250" y="1960215"/>
            <a:ext cx="5467350" cy="1771650"/>
          </a:xfrm>
          <a:prstGeom xmlns:a="http://schemas.openxmlformats.org/drawingml/2006/main" prst="roundRect">
            <a:avLst>
              <a:gd name="adj" fmla="val 5376"/>
            </a:avLst>
          </a:prstGeom>
          <a:solidFill xmlns:a="http://schemas.openxmlformats.org/drawingml/2006/main">
            <a:srgbClr val="FFFFFF"/>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55763DCE-FE06-4FDA-A494-8934812A7ACB}"/>
              </a:ext>
            </a:extLst>
          </p:cNvPr>
          <p:cNvSpPr>
            <a:spLocks xmlns:a="http://schemas.openxmlformats.org/drawingml/2006/main" noGrp="1"/>
          </p:cNvSpPr>
          <p:nvPr/>
        </p:nvSpPr>
        <p:spPr>
          <a:xfrm xmlns:a="http://schemas.openxmlformats.org/drawingml/2006/main">
            <a:off x="533400" y="3922365"/>
            <a:ext cx="5467350" cy="1752600"/>
          </a:xfrm>
          <a:prstGeom xmlns:a="http://schemas.openxmlformats.org/drawingml/2006/main" prst="roundRect">
            <a:avLst>
              <a:gd name="adj" fmla="val 5434"/>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6D836CF3-10D8-4FCF-818B-396AA0433FDB}"/>
              </a:ext>
            </a:extLst>
          </p:cNvPr>
          <p:cNvSpPr>
            <a:spLocks xmlns:a="http://schemas.openxmlformats.org/drawingml/2006/main" noGrp="1"/>
          </p:cNvSpPr>
          <p:nvPr/>
        </p:nvSpPr>
        <p:spPr>
          <a:xfrm xmlns:a="http://schemas.openxmlformats.org/drawingml/2006/main">
            <a:off x="6191250" y="3922365"/>
            <a:ext cx="5467350" cy="1752600"/>
          </a:xfrm>
          <a:prstGeom xmlns:a="http://schemas.openxmlformats.org/drawingml/2006/main" prst="roundRect">
            <a:avLst>
              <a:gd name="adj" fmla="val 5434"/>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54EF7891-1B7D-44E2-8E3B-F1D3F5ACA7D3}"/>
              </a:ext>
            </a:extLst>
          </p:cNvPr>
          <p:cNvSpPr>
            <a:spLocks xmlns:a="http://schemas.openxmlformats.org/drawingml/2006/main" noGrp="1"/>
          </p:cNvSpPr>
          <p:nvPr/>
        </p:nvSpPr>
        <p:spPr>
          <a:xfrm xmlns:a="http://schemas.openxmlformats.org/drawingml/2006/main">
            <a:off x="781050" y="3103215"/>
            <a:ext cx="4972050" cy="381000"/>
          </a:xfrm>
          <a:prstGeom xmlns:a="http://schemas.openxmlformats.org/drawingml/2006/main" prst="roundRect">
            <a:avLst>
              <a:gd name="adj" fmla="val 15000"/>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B692A2B8-9C1C-4042-9E17-2A6D6AF9B570}"/>
              </a:ext>
            </a:extLst>
          </p:cNvPr>
          <p:cNvSpPr>
            <a:spLocks xmlns:a="http://schemas.openxmlformats.org/drawingml/2006/main" noGrp="1"/>
          </p:cNvSpPr>
          <p:nvPr/>
        </p:nvSpPr>
        <p:spPr>
          <a:xfrm xmlns:a="http://schemas.openxmlformats.org/drawingml/2006/main">
            <a:off x="6429375" y="3112740"/>
            <a:ext cx="4991100" cy="381000"/>
          </a:xfrm>
          <a:prstGeom xmlns:a="http://schemas.openxmlformats.org/drawingml/2006/main" prst="roundRect">
            <a:avLst>
              <a:gd name="adj" fmla="val 15000"/>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ounded Rectangle 8">
            <a:extLst xmlns:a="http://schemas.openxmlformats.org/drawingml/2006/main">
              <a:ext uri="{FF2B5EF4-FFF2-40B4-BE49-F238E27FC236}">
                <a16:creationId xmlns:a16="http://schemas.microsoft.com/office/drawing/2014/main" id="{FBD4AD54-80E9-42CD-917B-347E5935D2D5}"/>
              </a:ext>
            </a:extLst>
          </p:cNvPr>
          <p:cNvSpPr>
            <a:spLocks xmlns:a="http://schemas.openxmlformats.org/drawingml/2006/main" noGrp="1"/>
          </p:cNvSpPr>
          <p:nvPr/>
        </p:nvSpPr>
        <p:spPr>
          <a:xfrm xmlns:a="http://schemas.openxmlformats.org/drawingml/2006/main">
            <a:off x="771525" y="5055840"/>
            <a:ext cx="4991100" cy="381000"/>
          </a:xfrm>
          <a:prstGeom xmlns:a="http://schemas.openxmlformats.org/drawingml/2006/main" prst="roundRect">
            <a:avLst>
              <a:gd name="adj" fmla="val 15000"/>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ounded Rectangle 9">
            <a:extLst xmlns:a="http://schemas.openxmlformats.org/drawingml/2006/main">
              <a:ext uri="{FF2B5EF4-FFF2-40B4-BE49-F238E27FC236}">
                <a16:creationId xmlns:a16="http://schemas.microsoft.com/office/drawing/2014/main" id="{506266D7-44CF-4408-B7F3-9419787CF691}"/>
              </a:ext>
            </a:extLst>
          </p:cNvPr>
          <p:cNvSpPr>
            <a:spLocks xmlns:a="http://schemas.openxmlformats.org/drawingml/2006/main" noGrp="1"/>
          </p:cNvSpPr>
          <p:nvPr/>
        </p:nvSpPr>
        <p:spPr>
          <a:xfrm xmlns:a="http://schemas.openxmlformats.org/drawingml/2006/main">
            <a:off x="6429375" y="5055840"/>
            <a:ext cx="4991100" cy="381000"/>
          </a:xfrm>
          <a:prstGeom xmlns:a="http://schemas.openxmlformats.org/drawingml/2006/main" prst="roundRect">
            <a:avLst>
              <a:gd name="adj" fmla="val 15000"/>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ounded Rectangle 10">
            <a:extLst xmlns:a="http://schemas.openxmlformats.org/drawingml/2006/main">
              <a:ext uri="{FF2B5EF4-FFF2-40B4-BE49-F238E27FC236}">
                <a16:creationId xmlns:a16="http://schemas.microsoft.com/office/drawing/2014/main" id="{9BE524C6-3EBA-474E-936C-ED9D36F44EF8}"/>
              </a:ext>
            </a:extLst>
          </p:cNvPr>
          <p:cNvSpPr>
            <a:spLocks xmlns:a="http://schemas.openxmlformats.org/drawingml/2006/main" noGrp="1"/>
          </p:cNvSpPr>
          <p:nvPr/>
        </p:nvSpPr>
        <p:spPr>
          <a:xfrm xmlns:a="http://schemas.openxmlformats.org/drawingml/2006/main">
            <a:off x="781050" y="2207865"/>
            <a:ext cx="1847850" cy="228600"/>
          </a:xfrm>
          <a:prstGeom xmlns:a="http://schemas.openxmlformats.org/drawingml/2006/main" prst="roundRect">
            <a:avLst>
              <a:gd name="adj" fmla="val 16666"/>
            </a:avLst>
          </a:prstGeom>
          <a:solidFill xmlns:a="http://schemas.openxmlformats.org/drawingml/2006/main">
            <a:srgbClr val="FEF2F2"/>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ounded Rectangle 11">
            <a:extLst xmlns:a="http://schemas.openxmlformats.org/drawingml/2006/main">
              <a:ext uri="{FF2B5EF4-FFF2-40B4-BE49-F238E27FC236}">
                <a16:creationId xmlns:a16="http://schemas.microsoft.com/office/drawing/2014/main" id="{7C002D15-3DF1-42ED-9AFA-F53838BDD84C}"/>
              </a:ext>
            </a:extLst>
          </p:cNvPr>
          <p:cNvSpPr>
            <a:spLocks xmlns:a="http://schemas.openxmlformats.org/drawingml/2006/main" noGrp="1"/>
          </p:cNvSpPr>
          <p:nvPr/>
        </p:nvSpPr>
        <p:spPr>
          <a:xfrm xmlns:a="http://schemas.openxmlformats.org/drawingml/2006/main">
            <a:off x="6429375" y="2198340"/>
            <a:ext cx="1933575" cy="228600"/>
          </a:xfrm>
          <a:prstGeom xmlns:a="http://schemas.openxmlformats.org/drawingml/2006/main" prst="roundRect">
            <a:avLst>
              <a:gd name="adj" fmla="val 16666"/>
            </a:avLst>
          </a:prstGeom>
          <a:solidFill xmlns:a="http://schemas.openxmlformats.org/drawingml/2006/main">
            <a:srgbClr val="DCFCE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Rounded Rectangle 12">
            <a:extLst xmlns:a="http://schemas.openxmlformats.org/drawingml/2006/main">
              <a:ext uri="{FF2B5EF4-FFF2-40B4-BE49-F238E27FC236}">
                <a16:creationId xmlns:a16="http://schemas.microsoft.com/office/drawing/2014/main" id="{B61C9E71-F3CE-48CF-987D-3F613BEEFD06}"/>
              </a:ext>
            </a:extLst>
          </p:cNvPr>
          <p:cNvSpPr>
            <a:spLocks xmlns:a="http://schemas.openxmlformats.org/drawingml/2006/main" noGrp="1"/>
          </p:cNvSpPr>
          <p:nvPr/>
        </p:nvSpPr>
        <p:spPr>
          <a:xfrm xmlns:a="http://schemas.openxmlformats.org/drawingml/2006/main">
            <a:off x="771525" y="4160490"/>
            <a:ext cx="1543050" cy="228600"/>
          </a:xfrm>
          <a:prstGeom xmlns:a="http://schemas.openxmlformats.org/drawingml/2006/main" prst="roundRect">
            <a:avLst>
              <a:gd name="adj" fmla="val 16666"/>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Rounded Rectangle 13">
            <a:extLst xmlns:a="http://schemas.openxmlformats.org/drawingml/2006/main">
              <a:ext uri="{FF2B5EF4-FFF2-40B4-BE49-F238E27FC236}">
                <a16:creationId xmlns:a16="http://schemas.microsoft.com/office/drawing/2014/main" id="{48F27FC2-DE0D-4F63-94E8-0B0817332EC0}"/>
              </a:ext>
            </a:extLst>
          </p:cNvPr>
          <p:cNvSpPr>
            <a:spLocks xmlns:a="http://schemas.openxmlformats.org/drawingml/2006/main" noGrp="1"/>
          </p:cNvSpPr>
          <p:nvPr/>
        </p:nvSpPr>
        <p:spPr>
          <a:xfrm xmlns:a="http://schemas.openxmlformats.org/drawingml/2006/main">
            <a:off x="6429375" y="4160490"/>
            <a:ext cx="2000250" cy="228600"/>
          </a:xfrm>
          <a:prstGeom xmlns:a="http://schemas.openxmlformats.org/drawingml/2006/main" prst="roundRect">
            <a:avLst>
              <a:gd name="adj" fmla="val 16666"/>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TextBox 14">
            <a:extLst xmlns:a="http://schemas.openxmlformats.org/drawingml/2006/main">
              <a:ext uri="{FF2B5EF4-FFF2-40B4-BE49-F238E27FC236}">
                <a16:creationId xmlns:a16="http://schemas.microsoft.com/office/drawing/2014/main" id="{577822D7-A86C-4C52-BBD2-09CBEEADD79C}"/>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16" name="TextBox 15">
            <a:extLst xmlns:a="http://schemas.openxmlformats.org/drawingml/2006/main">
              <a:ext uri="{FF2B5EF4-FFF2-40B4-BE49-F238E27FC236}">
                <a16:creationId xmlns:a16="http://schemas.microsoft.com/office/drawing/2014/main" id="{2BBD8700-BD0E-4BC1-8FEE-BB3E235DCD22}"/>
              </a:ext>
            </a:extLst>
          </p:cNvPr>
          <p:cNvSpPr>
            <a:spLocks xmlns:a="http://schemas.openxmlformats.org/drawingml/2006/main" noGrp="1"/>
          </p:cNvSpPr>
          <p:nvPr/>
        </p:nvSpPr>
        <p:spPr>
          <a:xfrm xmlns:a="http://schemas.openxmlformats.org/drawingml/2006/main">
            <a:off x="533400" y="381000"/>
            <a:ext cx="10179843"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CUSTOMER ANALYTICS</a:t>
            </a:r>
          </a:p>
        </p:txBody>
      </p:sp>
      <p:sp>
        <p:nvSpPr>
          <p:cNvPr id="17" name="TextBox 16">
            <a:extLst xmlns:a="http://schemas.openxmlformats.org/drawingml/2006/main">
              <a:ext uri="{FF2B5EF4-FFF2-40B4-BE49-F238E27FC236}">
                <a16:creationId xmlns:a16="http://schemas.microsoft.com/office/drawing/2014/main" id="{1D9B1C16-A341-4187-8E84-AB27E137069C}"/>
              </a:ext>
            </a:extLst>
          </p:cNvPr>
          <p:cNvSpPr>
            <a:spLocks xmlns:a="http://schemas.openxmlformats.org/drawingml/2006/main" noGrp="1"/>
          </p:cNvSpPr>
          <p:nvPr/>
        </p:nvSpPr>
        <p:spPr>
          <a:xfrm xmlns:a="http://schemas.openxmlformats.org/drawingml/2006/main">
            <a:off x="533400" y="609600"/>
            <a:ext cx="10688835"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The Dashboard Identifies 1,408 Customers to Protect First</a:t>
            </a:r>
          </a:p>
        </p:txBody>
      </p:sp>
      <p:sp>
        <p:nvSpPr>
          <p:cNvPr id="18" name="TextBox 17">
            <a:extLst xmlns:a="http://schemas.openxmlformats.org/drawingml/2006/main">
              <a:ext uri="{FF2B5EF4-FFF2-40B4-BE49-F238E27FC236}">
                <a16:creationId xmlns:a16="http://schemas.microsoft.com/office/drawing/2014/main" id="{33D1C07E-B291-46B3-A21A-AFE0ABCF6A5E}"/>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19" name="TextBox 18">
            <a:extLst xmlns:a="http://schemas.openxmlformats.org/drawingml/2006/main">
              <a:ext uri="{FF2B5EF4-FFF2-40B4-BE49-F238E27FC236}">
                <a16:creationId xmlns:a16="http://schemas.microsoft.com/office/drawing/2014/main" id="{BEE2A163-C3E6-4D09-8D44-29072EFB72CA}"/>
              </a:ext>
            </a:extLst>
          </p:cNvPr>
          <p:cNvSpPr>
            <a:spLocks xmlns:a="http://schemas.openxmlformats.org/drawingml/2006/main" noGrp="1"/>
          </p:cNvSpPr>
          <p:nvPr/>
        </p:nvSpPr>
        <p:spPr>
          <a:xfrm xmlns:a="http://schemas.openxmlformats.org/drawingml/2006/main">
            <a:off x="895350" y="3217515"/>
            <a:ext cx="48387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991B1B"/>
                </a:solidFill>
                <a:latin typeface="Inter"/>
                <a:ea typeface="Inter"/>
                <a:cs typeface="Inter"/>
              </a:rPr>
              <a:t>Action: Targeted 10% offer + 15% untreated holdout gate</a:t>
            </a:r>
          </a:p>
        </p:txBody>
      </p:sp>
      <p:sp>
        <p:nvSpPr>
          <p:cNvPr id="20" name="TextBox 19">
            <a:extLst xmlns:a="http://schemas.openxmlformats.org/drawingml/2006/main">
              <a:ext uri="{FF2B5EF4-FFF2-40B4-BE49-F238E27FC236}">
                <a16:creationId xmlns:a16="http://schemas.microsoft.com/office/drawing/2014/main" id="{9A1C2B90-4C20-44A8-B0C8-ADC792D76F82}"/>
              </a:ext>
            </a:extLst>
          </p:cNvPr>
          <p:cNvSpPr>
            <a:spLocks xmlns:a="http://schemas.openxmlformats.org/drawingml/2006/main" noGrp="1"/>
          </p:cNvSpPr>
          <p:nvPr/>
        </p:nvSpPr>
        <p:spPr>
          <a:xfrm xmlns:a="http://schemas.openxmlformats.org/drawingml/2006/main">
            <a:off x="6543675" y="3227040"/>
            <a:ext cx="485775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166534"/>
                </a:solidFill>
                <a:latin typeface="Inter"/>
                <a:ea typeface="Inter"/>
                <a:cs typeface="Inter"/>
              </a:rPr>
              <a:t>Action: VIP service perks &amp; personalized category triggers</a:t>
            </a:r>
          </a:p>
        </p:txBody>
      </p:sp>
      <p:sp>
        <p:nvSpPr>
          <p:cNvPr id="21" name="TextBox 20">
            <a:extLst xmlns:a="http://schemas.openxmlformats.org/drawingml/2006/main">
              <a:ext uri="{FF2B5EF4-FFF2-40B4-BE49-F238E27FC236}">
                <a16:creationId xmlns:a16="http://schemas.microsoft.com/office/drawing/2014/main" id="{27C8B683-98B6-4F59-8893-86200672AF03}"/>
              </a:ext>
            </a:extLst>
          </p:cNvPr>
          <p:cNvSpPr>
            <a:spLocks xmlns:a="http://schemas.openxmlformats.org/drawingml/2006/main" noGrp="1"/>
          </p:cNvSpPr>
          <p:nvPr/>
        </p:nvSpPr>
        <p:spPr>
          <a:xfrm xmlns:a="http://schemas.openxmlformats.org/drawingml/2006/main">
            <a:off x="885825" y="5170140"/>
            <a:ext cx="485775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334155"/>
                </a:solidFill>
                <a:latin typeface="Inter"/>
                <a:ea typeface="Inter"/>
                <a:cs typeface="Inter"/>
              </a:rPr>
              <a:t>Action: Automated email touchpoints; no direct discounting</a:t>
            </a:r>
          </a:p>
        </p:txBody>
      </p:sp>
      <p:sp>
        <p:nvSpPr>
          <p:cNvPr id="22" name="TextBox 21">
            <a:extLst xmlns:a="http://schemas.openxmlformats.org/drawingml/2006/main">
              <a:ext uri="{FF2B5EF4-FFF2-40B4-BE49-F238E27FC236}">
                <a16:creationId xmlns:a16="http://schemas.microsoft.com/office/drawing/2014/main" id="{9F71B0FC-7699-4ABE-85B4-44574619D5C3}"/>
              </a:ext>
            </a:extLst>
          </p:cNvPr>
          <p:cNvSpPr>
            <a:spLocks xmlns:a="http://schemas.openxmlformats.org/drawingml/2006/main" noGrp="1"/>
          </p:cNvSpPr>
          <p:nvPr/>
        </p:nvSpPr>
        <p:spPr>
          <a:xfrm xmlns:a="http://schemas.openxmlformats.org/drawingml/2006/main">
            <a:off x="6543675" y="5170140"/>
            <a:ext cx="485775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334155"/>
                </a:solidFill>
                <a:latin typeface="Inter"/>
                <a:ea typeface="Inter"/>
                <a:cs typeface="Inter"/>
              </a:rPr>
              <a:t>Action: Strict incentive caps; low-cost digital retargeting</a:t>
            </a:r>
          </a:p>
        </p:txBody>
      </p:sp>
      <p:sp>
        <p:nvSpPr>
          <p:cNvPr id="23" name="TextBox 22">
            <a:extLst xmlns:a="http://schemas.openxmlformats.org/drawingml/2006/main">
              <a:ext uri="{FF2B5EF4-FFF2-40B4-BE49-F238E27FC236}">
                <a16:creationId xmlns:a16="http://schemas.microsoft.com/office/drawing/2014/main" id="{F8E7B4D6-D27E-4BAD-91C4-1F5ACA3DC2F6}"/>
              </a:ext>
            </a:extLst>
          </p:cNvPr>
          <p:cNvSpPr>
            <a:spLocks xmlns:a="http://schemas.openxmlformats.org/drawingml/2006/main" noGrp="1"/>
          </p:cNvSpPr>
          <p:nvPr/>
        </p:nvSpPr>
        <p:spPr>
          <a:xfrm xmlns:a="http://schemas.openxmlformats.org/drawingml/2006/main">
            <a:off x="781050" y="2550765"/>
            <a:ext cx="6215062"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0F172A"/>
                </a:solidFill>
                <a:latin typeface="Inter"/>
                <a:ea typeface="Inter"/>
                <a:cs typeface="Inter"/>
              </a:rPr>
              <a:t>$5,616 Average CLV | 61.7% Churn Risk</a:t>
            </a:r>
          </a:p>
        </p:txBody>
      </p:sp>
      <p:sp>
        <p:nvSpPr>
          <p:cNvPr id="24" name="TextBox 23">
            <a:extLst xmlns:a="http://schemas.openxmlformats.org/drawingml/2006/main">
              <a:ext uri="{FF2B5EF4-FFF2-40B4-BE49-F238E27FC236}">
                <a16:creationId xmlns:a16="http://schemas.microsoft.com/office/drawing/2014/main" id="{EEBA9B52-5ADA-41E2-9228-02911EFE71BD}"/>
              </a:ext>
            </a:extLst>
          </p:cNvPr>
          <p:cNvSpPr>
            <a:spLocks xmlns:a="http://schemas.openxmlformats.org/drawingml/2006/main" noGrp="1"/>
          </p:cNvSpPr>
          <p:nvPr/>
        </p:nvSpPr>
        <p:spPr>
          <a:xfrm xmlns:a="http://schemas.openxmlformats.org/drawingml/2006/main">
            <a:off x="781050" y="2788890"/>
            <a:ext cx="6215062"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High value with urgent churn probability.</a:t>
            </a:r>
          </a:p>
        </p:txBody>
      </p:sp>
      <p:sp>
        <p:nvSpPr>
          <p:cNvPr id="25" name="TextBox 24">
            <a:extLst xmlns:a="http://schemas.openxmlformats.org/drawingml/2006/main">
              <a:ext uri="{FF2B5EF4-FFF2-40B4-BE49-F238E27FC236}">
                <a16:creationId xmlns:a16="http://schemas.microsoft.com/office/drawing/2014/main" id="{628BEE09-4837-45D7-9778-A69D80F2C410}"/>
              </a:ext>
            </a:extLst>
          </p:cNvPr>
          <p:cNvSpPr>
            <a:spLocks xmlns:a="http://schemas.openxmlformats.org/drawingml/2006/main" noGrp="1"/>
          </p:cNvSpPr>
          <p:nvPr/>
        </p:nvSpPr>
        <p:spPr>
          <a:xfrm xmlns:a="http://schemas.openxmlformats.org/drawingml/2006/main">
            <a:off x="6429375" y="2541240"/>
            <a:ext cx="5762625"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0F172A"/>
                </a:solidFill>
                <a:latin typeface="Inter"/>
                <a:ea typeface="Inter"/>
                <a:cs typeface="Inter"/>
              </a:rPr>
              <a:t>$8,421 Average CLV | 39.4% Churn Risk</a:t>
            </a:r>
          </a:p>
        </p:txBody>
      </p:sp>
      <p:sp>
        <p:nvSpPr>
          <p:cNvPr id="26" name="TextBox 25">
            <a:extLst xmlns:a="http://schemas.openxmlformats.org/drawingml/2006/main">
              <a:ext uri="{FF2B5EF4-FFF2-40B4-BE49-F238E27FC236}">
                <a16:creationId xmlns:a16="http://schemas.microsoft.com/office/drawing/2014/main" id="{51FD6FE7-5F69-4165-8134-5CE6AE2E1B15}"/>
              </a:ext>
            </a:extLst>
          </p:cNvPr>
          <p:cNvSpPr>
            <a:spLocks xmlns:a="http://schemas.openxmlformats.org/drawingml/2006/main" noGrp="1"/>
          </p:cNvSpPr>
          <p:nvPr/>
        </p:nvSpPr>
        <p:spPr>
          <a:xfrm xmlns:a="http://schemas.openxmlformats.org/drawingml/2006/main">
            <a:off x="6429375" y="2779365"/>
            <a:ext cx="5762625"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Core profit driver. Stable purchasing behavior.</a:t>
            </a:r>
          </a:p>
        </p:txBody>
      </p:sp>
      <p:sp>
        <p:nvSpPr>
          <p:cNvPr id="27" name="TextBox 26">
            <a:extLst xmlns:a="http://schemas.openxmlformats.org/drawingml/2006/main">
              <a:ext uri="{FF2B5EF4-FFF2-40B4-BE49-F238E27FC236}">
                <a16:creationId xmlns:a16="http://schemas.microsoft.com/office/drawing/2014/main" id="{C9E3D970-026B-4373-9611-F37A4603752F}"/>
              </a:ext>
            </a:extLst>
          </p:cNvPr>
          <p:cNvSpPr>
            <a:spLocks xmlns:a="http://schemas.openxmlformats.org/drawingml/2006/main" noGrp="1"/>
          </p:cNvSpPr>
          <p:nvPr/>
        </p:nvSpPr>
        <p:spPr>
          <a:xfrm xmlns:a="http://schemas.openxmlformats.org/drawingml/2006/main">
            <a:off x="771525" y="4503390"/>
            <a:ext cx="6238875"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0F172A"/>
                </a:solidFill>
                <a:latin typeface="Inter"/>
                <a:ea typeface="Inter"/>
                <a:cs typeface="Inter"/>
              </a:rPr>
              <a:t>$2,203 Average CLV | 45.4% Churn Risk</a:t>
            </a:r>
          </a:p>
        </p:txBody>
      </p:sp>
      <p:sp>
        <p:nvSpPr>
          <p:cNvPr id="28" name="TextBox 27">
            <a:extLst xmlns:a="http://schemas.openxmlformats.org/drawingml/2006/main">
              <a:ext uri="{FF2B5EF4-FFF2-40B4-BE49-F238E27FC236}">
                <a16:creationId xmlns:a16="http://schemas.microsoft.com/office/drawing/2014/main" id="{8E7FEF89-F3AD-4D38-90AF-92F760053FD3}"/>
              </a:ext>
            </a:extLst>
          </p:cNvPr>
          <p:cNvSpPr>
            <a:spLocks xmlns:a="http://schemas.openxmlformats.org/drawingml/2006/main" noGrp="1"/>
          </p:cNvSpPr>
          <p:nvPr/>
        </p:nvSpPr>
        <p:spPr>
          <a:xfrm xmlns:a="http://schemas.openxmlformats.org/drawingml/2006/main">
            <a:off x="771525" y="4741515"/>
            <a:ext cx="6238875"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Lower order value; consistent engagement opportunity.</a:t>
            </a:r>
          </a:p>
        </p:txBody>
      </p:sp>
      <p:sp>
        <p:nvSpPr>
          <p:cNvPr id="29" name="TextBox 28">
            <a:extLst xmlns:a="http://schemas.openxmlformats.org/drawingml/2006/main">
              <a:ext uri="{FF2B5EF4-FFF2-40B4-BE49-F238E27FC236}">
                <a16:creationId xmlns:a16="http://schemas.microsoft.com/office/drawing/2014/main" id="{B7C3905C-54AD-4A25-BD82-24E321C8708B}"/>
              </a:ext>
            </a:extLst>
          </p:cNvPr>
          <p:cNvSpPr>
            <a:spLocks xmlns:a="http://schemas.openxmlformats.org/drawingml/2006/main" noGrp="1"/>
          </p:cNvSpPr>
          <p:nvPr/>
        </p:nvSpPr>
        <p:spPr>
          <a:xfrm xmlns:a="http://schemas.openxmlformats.org/drawingml/2006/main">
            <a:off x="6429375" y="4503390"/>
            <a:ext cx="5762625"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0F172A"/>
                </a:solidFill>
                <a:latin typeface="Inter"/>
                <a:ea typeface="Inter"/>
                <a:cs typeface="Inter"/>
              </a:rPr>
              <a:t>$2,023 Average CLV | 63.4% Churn Risk</a:t>
            </a:r>
          </a:p>
        </p:txBody>
      </p:sp>
      <p:sp>
        <p:nvSpPr>
          <p:cNvPr id="30" name="TextBox 29">
            <a:extLst xmlns:a="http://schemas.openxmlformats.org/drawingml/2006/main">
              <a:ext uri="{FF2B5EF4-FFF2-40B4-BE49-F238E27FC236}">
                <a16:creationId xmlns:a16="http://schemas.microsoft.com/office/drawing/2014/main" id="{8B640DF0-F55A-4468-9ED6-04F59BB6D871}"/>
              </a:ext>
            </a:extLst>
          </p:cNvPr>
          <p:cNvSpPr>
            <a:spLocks xmlns:a="http://schemas.openxmlformats.org/drawingml/2006/main" noGrp="1"/>
          </p:cNvSpPr>
          <p:nvPr/>
        </p:nvSpPr>
        <p:spPr>
          <a:xfrm xmlns:a="http://schemas.openxmlformats.org/drawingml/2006/main">
            <a:off x="6429375" y="4741515"/>
            <a:ext cx="5762625"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High churn risk with low lifetime value yield.</a:t>
            </a:r>
          </a:p>
        </p:txBody>
      </p:sp>
      <p:sp>
        <p:nvSpPr>
          <p:cNvPr id="31" name="TextBox 30">
            <a:extLst xmlns:a="http://schemas.openxmlformats.org/drawingml/2006/main">
              <a:ext uri="{FF2B5EF4-FFF2-40B4-BE49-F238E27FC236}">
                <a16:creationId xmlns:a16="http://schemas.microsoft.com/office/drawing/2014/main" id="{71CBD395-BAC8-4BE8-AC30-9A7CE94B609E}"/>
              </a:ext>
            </a:extLst>
          </p:cNvPr>
          <p:cNvSpPr>
            <a:spLocks xmlns:a="http://schemas.openxmlformats.org/drawingml/2006/main" noGrp="1"/>
          </p:cNvSpPr>
          <p:nvPr/>
        </p:nvSpPr>
        <p:spPr>
          <a:xfrm xmlns:a="http://schemas.openxmlformats.org/drawingml/2006/main">
            <a:off x="857250" y="2245965"/>
            <a:ext cx="17907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DC2626"/>
                </a:solidFill>
                <a:latin typeface="Inter"/>
                <a:ea typeface="Inter"/>
                <a:cs typeface="Inter"/>
              </a:rPr>
              <a:t>PRIORITY 1: PROTECT NOW</a:t>
            </a:r>
          </a:p>
        </p:txBody>
      </p:sp>
      <p:sp>
        <p:nvSpPr>
          <p:cNvPr id="32" name="TextBox 31">
            <a:extLst xmlns:a="http://schemas.openxmlformats.org/drawingml/2006/main">
              <a:ext uri="{FF2B5EF4-FFF2-40B4-BE49-F238E27FC236}">
                <a16:creationId xmlns:a16="http://schemas.microsoft.com/office/drawing/2014/main" id="{46B1E92D-5FD1-4E05-BCF9-1A4B18D51C87}"/>
              </a:ext>
            </a:extLst>
          </p:cNvPr>
          <p:cNvSpPr>
            <a:spLocks xmlns:a="http://schemas.openxmlformats.org/drawingml/2006/main" noGrp="1"/>
          </p:cNvSpPr>
          <p:nvPr/>
        </p:nvSpPr>
        <p:spPr>
          <a:xfrm xmlns:a="http://schemas.openxmlformats.org/drawingml/2006/main">
            <a:off x="4286250" y="2241202"/>
            <a:ext cx="1833562"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0F172A"/>
                </a:solidFill>
                <a:latin typeface="Inter"/>
                <a:ea typeface="Inter"/>
                <a:cs typeface="Inter"/>
              </a:rPr>
              <a:t>1,408 Accounts (7.8%)</a:t>
            </a:r>
          </a:p>
        </p:txBody>
      </p:sp>
      <p:sp>
        <p:nvSpPr>
          <p:cNvPr id="33" name="TextBox 32">
            <a:extLst xmlns:a="http://schemas.openxmlformats.org/drawingml/2006/main">
              <a:ext uri="{FF2B5EF4-FFF2-40B4-BE49-F238E27FC236}">
                <a16:creationId xmlns:a16="http://schemas.microsoft.com/office/drawing/2014/main" id="{DAD2A0A8-9535-4223-B1F8-8C240A34234D}"/>
              </a:ext>
            </a:extLst>
          </p:cNvPr>
          <p:cNvSpPr>
            <a:spLocks xmlns:a="http://schemas.openxmlformats.org/drawingml/2006/main" noGrp="1"/>
          </p:cNvSpPr>
          <p:nvPr/>
        </p:nvSpPr>
        <p:spPr>
          <a:xfrm xmlns:a="http://schemas.openxmlformats.org/drawingml/2006/main">
            <a:off x="6505575" y="2236440"/>
            <a:ext cx="1876425"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15803D"/>
                </a:solidFill>
                <a:latin typeface="Inter"/>
                <a:ea typeface="Inter"/>
                <a:cs typeface="Inter"/>
              </a:rPr>
              <a:t>PRIORITY 2: GROW &amp; RETAIN</a:t>
            </a:r>
          </a:p>
        </p:txBody>
      </p:sp>
      <p:sp>
        <p:nvSpPr>
          <p:cNvPr id="34" name="TextBox 33">
            <a:extLst xmlns:a="http://schemas.openxmlformats.org/drawingml/2006/main">
              <a:ext uri="{FF2B5EF4-FFF2-40B4-BE49-F238E27FC236}">
                <a16:creationId xmlns:a16="http://schemas.microsoft.com/office/drawing/2014/main" id="{9B69C00F-DBFE-4DCB-BE27-EE999055885E}"/>
              </a:ext>
            </a:extLst>
          </p:cNvPr>
          <p:cNvSpPr>
            <a:spLocks xmlns:a="http://schemas.openxmlformats.org/drawingml/2006/main" noGrp="1"/>
          </p:cNvSpPr>
          <p:nvPr/>
        </p:nvSpPr>
        <p:spPr>
          <a:xfrm xmlns:a="http://schemas.openxmlformats.org/drawingml/2006/main">
            <a:off x="9839325" y="2231677"/>
            <a:ext cx="1976437"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0F172A"/>
                </a:solidFill>
                <a:latin typeface="Inter"/>
                <a:ea typeface="Inter"/>
                <a:cs typeface="Inter"/>
              </a:rPr>
              <a:t>7,592 Accounts (42.2%)</a:t>
            </a:r>
          </a:p>
        </p:txBody>
      </p:sp>
      <p:sp>
        <p:nvSpPr>
          <p:cNvPr id="35" name="TextBox 34">
            <a:extLst xmlns:a="http://schemas.openxmlformats.org/drawingml/2006/main">
              <a:ext uri="{FF2B5EF4-FFF2-40B4-BE49-F238E27FC236}">
                <a16:creationId xmlns:a16="http://schemas.microsoft.com/office/drawing/2014/main" id="{A54E5780-425A-4B5C-9156-DBD2DC0DC85E}"/>
              </a:ext>
            </a:extLst>
          </p:cNvPr>
          <p:cNvSpPr>
            <a:spLocks xmlns:a="http://schemas.openxmlformats.org/drawingml/2006/main" noGrp="1"/>
          </p:cNvSpPr>
          <p:nvPr/>
        </p:nvSpPr>
        <p:spPr>
          <a:xfrm xmlns:a="http://schemas.openxmlformats.org/drawingml/2006/main">
            <a:off x="847725" y="4198590"/>
            <a:ext cx="14859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475569"/>
                </a:solidFill>
                <a:latin typeface="Inter"/>
                <a:ea typeface="Inter"/>
                <a:cs typeface="Inter"/>
              </a:rPr>
              <a:t>PRIORITY 3: NURTURE</a:t>
            </a:r>
          </a:p>
        </p:txBody>
      </p:sp>
      <p:sp>
        <p:nvSpPr>
          <p:cNvPr id="36" name="TextBox 35">
            <a:extLst xmlns:a="http://schemas.openxmlformats.org/drawingml/2006/main">
              <a:ext uri="{FF2B5EF4-FFF2-40B4-BE49-F238E27FC236}">
                <a16:creationId xmlns:a16="http://schemas.microsoft.com/office/drawing/2014/main" id="{36771FD2-FD0F-4FCF-B8AD-20A995827F16}"/>
              </a:ext>
            </a:extLst>
          </p:cNvPr>
          <p:cNvSpPr>
            <a:spLocks xmlns:a="http://schemas.openxmlformats.org/drawingml/2006/main" noGrp="1"/>
          </p:cNvSpPr>
          <p:nvPr/>
        </p:nvSpPr>
        <p:spPr>
          <a:xfrm xmlns:a="http://schemas.openxmlformats.org/drawingml/2006/main">
            <a:off x="4152900" y="4193827"/>
            <a:ext cx="2012156"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0F172A"/>
                </a:solidFill>
                <a:latin typeface="Inter"/>
                <a:ea typeface="Inter"/>
                <a:cs typeface="Inter"/>
              </a:rPr>
              <a:t>5,908 Accounts (32.8%)</a:t>
            </a:r>
          </a:p>
        </p:txBody>
      </p:sp>
      <p:sp>
        <p:nvSpPr>
          <p:cNvPr id="37" name="TextBox 36">
            <a:extLst xmlns:a="http://schemas.openxmlformats.org/drawingml/2006/main">
              <a:ext uri="{FF2B5EF4-FFF2-40B4-BE49-F238E27FC236}">
                <a16:creationId xmlns:a16="http://schemas.microsoft.com/office/drawing/2014/main" id="{BE885523-B1D9-4901-B8AD-E0B273912544}"/>
              </a:ext>
            </a:extLst>
          </p:cNvPr>
          <p:cNvSpPr>
            <a:spLocks xmlns:a="http://schemas.openxmlformats.org/drawingml/2006/main" noGrp="1"/>
          </p:cNvSpPr>
          <p:nvPr/>
        </p:nvSpPr>
        <p:spPr>
          <a:xfrm xmlns:a="http://schemas.openxmlformats.org/drawingml/2006/main">
            <a:off x="6505575" y="4198590"/>
            <a:ext cx="19431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475569"/>
                </a:solidFill>
                <a:latin typeface="Inter"/>
                <a:ea typeface="Inter"/>
                <a:cs typeface="Inter"/>
              </a:rPr>
              <a:t>PRIORITY 4: LOW-COST SAVE</a:t>
            </a:r>
          </a:p>
        </p:txBody>
      </p:sp>
      <p:sp>
        <p:nvSpPr>
          <p:cNvPr id="38" name="TextBox 37">
            <a:extLst xmlns:a="http://schemas.openxmlformats.org/drawingml/2006/main">
              <a:ext uri="{FF2B5EF4-FFF2-40B4-BE49-F238E27FC236}">
                <a16:creationId xmlns:a16="http://schemas.microsoft.com/office/drawing/2014/main" id="{FEE27A97-D24B-49B3-9035-327BEC8BC904}"/>
              </a:ext>
            </a:extLst>
          </p:cNvPr>
          <p:cNvSpPr>
            <a:spLocks xmlns:a="http://schemas.openxmlformats.org/drawingml/2006/main" noGrp="1"/>
          </p:cNvSpPr>
          <p:nvPr/>
        </p:nvSpPr>
        <p:spPr>
          <a:xfrm xmlns:a="http://schemas.openxmlformats.org/drawingml/2006/main">
            <a:off x="9867900" y="4193827"/>
            <a:ext cx="1940718"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0F172A"/>
                </a:solidFill>
                <a:latin typeface="Inter"/>
                <a:ea typeface="Inter"/>
                <a:cs typeface="Inter"/>
              </a:rPr>
              <a:t>3,092 Accounts (17.2%)</a:t>
            </a:r>
          </a:p>
        </p:txBody>
      </p:sp>
    </p:spTree>
    <p:extLst>
      <p:ext uri="{BB962C8B-B14F-4D97-AF65-F5344CB8AC3E}">
        <p14:creationId xmlns:p14="http://schemas.microsoft.com/office/powerpoint/2010/main" val="1312425740"/>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48269939-A0BE-4E12-B35B-74AACF3F25AC}"/>
              </a:ext>
            </a:extLst>
          </p:cNvPr>
          <p:cNvSpPr>
            <a:spLocks xmlns:a="http://schemas.openxmlformats.org/drawingml/2006/main" noGrp="1"/>
          </p:cNvSpPr>
          <p:nvPr/>
        </p:nvSpPr>
        <p:spPr>
          <a:xfrm xmlns:a="http://schemas.openxmlformats.org/drawingml/2006/main">
            <a:off x="533400" y="4393852"/>
            <a:ext cx="11125200" cy="771525"/>
          </a:xfrm>
          <a:prstGeom xmlns:a="http://schemas.openxmlformats.org/drawingml/2006/main" prst="roundRect">
            <a:avLst>
              <a:gd name="adj" fmla="val 12345"/>
            </a:avLst>
          </a:prstGeom>
          <a:solidFill xmlns:a="http://schemas.openxmlformats.org/drawingml/2006/main">
            <a:srgbClr val="FFFFFF"/>
          </a:solidFill>
          <a:ln xmlns:a="http://schemas.openxmlformats.org/drawingml/2006/main" w="9525">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B658E980-5A2F-4C06-A2C9-9931D65C05E2}"/>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D72F6340-4B8B-4BD7-97C2-21F381E6F886}"/>
              </a:ext>
            </a:extLst>
          </p:cNvPr>
          <p:cNvSpPr>
            <a:spLocks xmlns:a="http://schemas.openxmlformats.org/drawingml/2006/main" noGrp="1"/>
          </p:cNvSpPr>
          <p:nvPr/>
        </p:nvSpPr>
        <p:spPr>
          <a:xfrm xmlns:a="http://schemas.openxmlformats.org/drawingml/2006/main">
            <a:off x="533400" y="2469802"/>
            <a:ext cx="3381375" cy="1695450"/>
          </a:xfrm>
          <a:prstGeom xmlns:a="http://schemas.openxmlformats.org/drawingml/2006/main" prst="roundRect">
            <a:avLst>
              <a:gd name="adj" fmla="val 5617"/>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5593F5F4-D09A-469E-8D70-002B658ED92B}"/>
              </a:ext>
            </a:extLst>
          </p:cNvPr>
          <p:cNvSpPr>
            <a:spLocks xmlns:a="http://schemas.openxmlformats.org/drawingml/2006/main" noGrp="1"/>
          </p:cNvSpPr>
          <p:nvPr/>
        </p:nvSpPr>
        <p:spPr>
          <a:xfrm xmlns:a="http://schemas.openxmlformats.org/drawingml/2006/main">
            <a:off x="4105275" y="2469802"/>
            <a:ext cx="3981450" cy="1695450"/>
          </a:xfrm>
          <a:prstGeom xmlns:a="http://schemas.openxmlformats.org/drawingml/2006/main" prst="roundRect">
            <a:avLst>
              <a:gd name="adj" fmla="val 5617"/>
            </a:avLst>
          </a:prstGeom>
          <a:solidFill xmlns:a="http://schemas.openxmlformats.org/drawingml/2006/main">
            <a:srgbClr val="FFFFFF"/>
          </a:solidFill>
          <a:ln xmlns:a="http://schemas.openxmlformats.org/drawingml/2006/main" w="19050">
            <a:solidFill>
              <a:srgbClr val="EA580C"/>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34A36AB3-3420-43F7-BE35-C9422827B799}"/>
              </a:ext>
            </a:extLst>
          </p:cNvPr>
          <p:cNvSpPr>
            <a:spLocks xmlns:a="http://schemas.openxmlformats.org/drawingml/2006/main" noGrp="1"/>
          </p:cNvSpPr>
          <p:nvPr/>
        </p:nvSpPr>
        <p:spPr>
          <a:xfrm xmlns:a="http://schemas.openxmlformats.org/drawingml/2006/main">
            <a:off x="8277225" y="2469802"/>
            <a:ext cx="3381375" cy="1695450"/>
          </a:xfrm>
          <a:prstGeom xmlns:a="http://schemas.openxmlformats.org/drawingml/2006/main" prst="roundRect">
            <a:avLst>
              <a:gd name="adj" fmla="val 5617"/>
            </a:avLst>
          </a:prstGeom>
          <a:solidFill xmlns:a="http://schemas.openxmlformats.org/drawingml/2006/main">
            <a:srgbClr val="FFFFFF"/>
          </a:solidFill>
          <a:ln xmlns:a="http://schemas.openxmlformats.org/drawingml/2006/main" w="9525">
            <a:solidFill>
              <a:srgbClr val="E2E8F0"/>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F16DE92F-9A72-4B42-9002-0331357AE167}"/>
              </a:ext>
            </a:extLst>
          </p:cNvPr>
          <p:cNvSpPr>
            <a:spLocks xmlns:a="http://schemas.openxmlformats.org/drawingml/2006/main" noGrp="1"/>
          </p:cNvSpPr>
          <p:nvPr/>
        </p:nvSpPr>
        <p:spPr>
          <a:xfrm xmlns:a="http://schemas.openxmlformats.org/drawingml/2006/main">
            <a:off x="9696450" y="4627215"/>
            <a:ext cx="1762125" cy="304800"/>
          </a:xfrm>
          <a:prstGeom xmlns:a="http://schemas.openxmlformats.org/drawingml/2006/main" prst="roundRect">
            <a:avLst>
              <a:gd name="adj" fmla="val 18750"/>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CF9DD1D4-030C-41AF-A274-0529D4A76263}"/>
              </a:ext>
            </a:extLst>
          </p:cNvPr>
          <p:cNvSpPr>
            <a:spLocks xmlns:a="http://schemas.openxmlformats.org/drawingml/2006/main" noGrp="1"/>
          </p:cNvSpPr>
          <p:nvPr/>
        </p:nvSpPr>
        <p:spPr>
          <a:xfrm xmlns:a="http://schemas.openxmlformats.org/drawingml/2006/main">
            <a:off x="6943725" y="2717452"/>
            <a:ext cx="895350" cy="171450"/>
          </a:xfrm>
          <a:prstGeom xmlns:a="http://schemas.openxmlformats.org/drawingml/2006/main" prst="roundRect">
            <a:avLst>
              <a:gd name="adj" fmla="val 22222"/>
            </a:avLst>
          </a:prstGeom>
          <a:solidFill xmlns:a="http://schemas.openxmlformats.org/drawingml/2006/main">
            <a:srgbClr val="FEF3C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TextBox 8">
            <a:extLst xmlns:a="http://schemas.openxmlformats.org/drawingml/2006/main">
              <a:ext uri="{FF2B5EF4-FFF2-40B4-BE49-F238E27FC236}">
                <a16:creationId xmlns:a16="http://schemas.microsoft.com/office/drawing/2014/main" id="{9712168B-46EC-489A-9B61-4E00302CC7C9}"/>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10" name="TextBox 9">
            <a:extLst xmlns:a="http://schemas.openxmlformats.org/drawingml/2006/main">
              <a:ext uri="{FF2B5EF4-FFF2-40B4-BE49-F238E27FC236}">
                <a16:creationId xmlns:a16="http://schemas.microsoft.com/office/drawing/2014/main" id="{02BF3826-4126-4F7F-8A8E-FD0C25431936}"/>
              </a:ext>
            </a:extLst>
          </p:cNvPr>
          <p:cNvSpPr>
            <a:spLocks xmlns:a="http://schemas.openxmlformats.org/drawingml/2006/main" noGrp="1"/>
          </p:cNvSpPr>
          <p:nvPr/>
        </p:nvSpPr>
        <p:spPr>
          <a:xfrm xmlns:a="http://schemas.openxmlformats.org/drawingml/2006/main">
            <a:off x="533400" y="381000"/>
            <a:ext cx="8774906"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PROFIT AND MARGIN SCENARIOS</a:t>
            </a:r>
          </a:p>
        </p:txBody>
      </p:sp>
      <p:sp>
        <p:nvSpPr>
          <p:cNvPr id="11" name="TextBox 10">
            <a:extLst xmlns:a="http://schemas.openxmlformats.org/drawingml/2006/main">
              <a:ext uri="{FF2B5EF4-FFF2-40B4-BE49-F238E27FC236}">
                <a16:creationId xmlns:a16="http://schemas.microsoft.com/office/drawing/2014/main" id="{21031DBB-8D00-487C-A617-39D52A6C5541}"/>
              </a:ext>
            </a:extLst>
          </p:cNvPr>
          <p:cNvSpPr>
            <a:spLocks xmlns:a="http://schemas.openxmlformats.org/drawingml/2006/main" noGrp="1"/>
          </p:cNvSpPr>
          <p:nvPr/>
        </p:nvSpPr>
        <p:spPr>
          <a:xfrm xmlns:a="http://schemas.openxmlformats.org/drawingml/2006/main">
            <a:off x="533400" y="609600"/>
            <a:ext cx="9213651"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Base Case: +$12.0M Net Annual Profit</a:t>
            </a:r>
          </a:p>
        </p:txBody>
      </p:sp>
      <p:sp>
        <p:nvSpPr>
          <p:cNvPr id="12" name="TextBox 11">
            <a:extLst xmlns:a="http://schemas.openxmlformats.org/drawingml/2006/main">
              <a:ext uri="{FF2B5EF4-FFF2-40B4-BE49-F238E27FC236}">
                <a16:creationId xmlns:a16="http://schemas.microsoft.com/office/drawing/2014/main" id="{B2E255ED-1711-4E1C-8BBA-D05DE71C1348}"/>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13" name="TextBox 12">
            <a:extLst xmlns:a="http://schemas.openxmlformats.org/drawingml/2006/main">
              <a:ext uri="{FF2B5EF4-FFF2-40B4-BE49-F238E27FC236}">
                <a16:creationId xmlns:a16="http://schemas.microsoft.com/office/drawing/2014/main" id="{3A073B27-2E95-4830-B7BE-B0042E345A85}"/>
              </a:ext>
            </a:extLst>
          </p:cNvPr>
          <p:cNvSpPr>
            <a:spLocks xmlns:a="http://schemas.openxmlformats.org/drawingml/2006/main" noGrp="1"/>
          </p:cNvSpPr>
          <p:nvPr/>
        </p:nvSpPr>
        <p:spPr>
          <a:xfrm xmlns:a="http://schemas.openxmlformats.org/drawingml/2006/main">
            <a:off x="9829800" y="4703415"/>
            <a:ext cx="1590675"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75" b="1" i="0" u="none">
                <a:solidFill>
                  <a:srgbClr val="0F172A"/>
                </a:solidFill>
                <a:latin typeface="Inter"/>
                <a:ea typeface="Inter"/>
                <a:cs typeface="Inter"/>
              </a:rPr>
              <a:t>Governance Gate Ready</a:t>
            </a:r>
          </a:p>
        </p:txBody>
      </p:sp>
      <p:sp>
        <p:nvSpPr>
          <p:cNvPr id="14" name="TextBox 13">
            <a:extLst xmlns:a="http://schemas.openxmlformats.org/drawingml/2006/main">
              <a:ext uri="{FF2B5EF4-FFF2-40B4-BE49-F238E27FC236}">
                <a16:creationId xmlns:a16="http://schemas.microsoft.com/office/drawing/2014/main" id="{C5A69F71-BA1C-4D5F-9948-987C0DA82177}"/>
              </a:ext>
            </a:extLst>
          </p:cNvPr>
          <p:cNvSpPr>
            <a:spLocks xmlns:a="http://schemas.openxmlformats.org/drawingml/2006/main" noGrp="1"/>
          </p:cNvSpPr>
          <p:nvPr/>
        </p:nvSpPr>
        <p:spPr>
          <a:xfrm xmlns:a="http://schemas.openxmlformats.org/drawingml/2006/main">
            <a:off x="771525" y="2707927"/>
            <a:ext cx="3631406"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1" i="0" u="none">
                <a:solidFill>
                  <a:srgbClr val="64748B"/>
                </a:solidFill>
                <a:latin typeface="Inter"/>
                <a:ea typeface="Inter"/>
                <a:cs typeface="Inter"/>
              </a:rPr>
              <a:t>DOWNSIDE CASE</a:t>
            </a:r>
          </a:p>
        </p:txBody>
      </p:sp>
      <p:sp>
        <p:nvSpPr>
          <p:cNvPr id="15" name="TextBox 14">
            <a:extLst xmlns:a="http://schemas.openxmlformats.org/drawingml/2006/main">
              <a:ext uri="{FF2B5EF4-FFF2-40B4-BE49-F238E27FC236}">
                <a16:creationId xmlns:a16="http://schemas.microsoft.com/office/drawing/2014/main" id="{F4B88715-56ED-4C56-B0CD-FF5F8BE4948A}"/>
              </a:ext>
            </a:extLst>
          </p:cNvPr>
          <p:cNvSpPr>
            <a:spLocks xmlns:a="http://schemas.openxmlformats.org/drawingml/2006/main" noGrp="1"/>
          </p:cNvSpPr>
          <p:nvPr/>
        </p:nvSpPr>
        <p:spPr>
          <a:xfrm xmlns:a="http://schemas.openxmlformats.org/drawingml/2006/main">
            <a:off x="771525" y="2917477"/>
            <a:ext cx="3631406" cy="4286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700" b="1" i="0" u="none">
                <a:solidFill>
                  <a:srgbClr val="0F172A"/>
                </a:solidFill>
                <a:latin typeface="Plus Jakarta Sans"/>
                <a:ea typeface="Plus Jakarta Sans"/>
                <a:cs typeface="Plus Jakarta Sans"/>
              </a:rPr>
              <a:t>+$5.5M</a:t>
            </a:r>
          </a:p>
        </p:txBody>
      </p:sp>
      <p:sp>
        <p:nvSpPr>
          <p:cNvPr id="16" name="TextBox 15">
            <a:extLst xmlns:a="http://schemas.openxmlformats.org/drawingml/2006/main">
              <a:ext uri="{FF2B5EF4-FFF2-40B4-BE49-F238E27FC236}">
                <a16:creationId xmlns:a16="http://schemas.microsoft.com/office/drawing/2014/main" id="{33BBDE1B-5951-4072-9CAF-B3BA6543808D}"/>
              </a:ext>
            </a:extLst>
          </p:cNvPr>
          <p:cNvSpPr>
            <a:spLocks xmlns:a="http://schemas.openxmlformats.org/drawingml/2006/main" noGrp="1"/>
          </p:cNvSpPr>
          <p:nvPr/>
        </p:nvSpPr>
        <p:spPr>
          <a:xfrm xmlns:a="http://schemas.openxmlformats.org/drawingml/2006/main">
            <a:off x="771525" y="3403252"/>
            <a:ext cx="3631406"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Net Uplift | 11.3% Margin</a:t>
            </a:r>
          </a:p>
        </p:txBody>
      </p:sp>
      <p:sp>
        <p:nvSpPr>
          <p:cNvPr id="17" name="TextBox 16">
            <a:extLst xmlns:a="http://schemas.openxmlformats.org/drawingml/2006/main">
              <a:ext uri="{FF2B5EF4-FFF2-40B4-BE49-F238E27FC236}">
                <a16:creationId xmlns:a16="http://schemas.microsoft.com/office/drawing/2014/main" id="{BB78AFBD-F586-4FE0-9EF3-10FDFD1D55B7}"/>
              </a:ext>
            </a:extLst>
          </p:cNvPr>
          <p:cNvSpPr>
            <a:spLocks xmlns:a="http://schemas.openxmlformats.org/drawingml/2006/main" noGrp="1"/>
          </p:cNvSpPr>
          <p:nvPr/>
        </p:nvSpPr>
        <p:spPr>
          <a:xfrm xmlns:a="http://schemas.openxmlformats.org/drawingml/2006/main">
            <a:off x="771525" y="3641377"/>
            <a:ext cx="3631406"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0" i="0" u="none">
                <a:solidFill>
                  <a:srgbClr val="64748B"/>
                </a:solidFill>
                <a:latin typeface="Inter"/>
                <a:ea typeface="Inter"/>
                <a:cs typeface="Inter"/>
              </a:rPr>
              <a:t>85% ROI | 6.5-mo Payback</a:t>
            </a:r>
          </a:p>
        </p:txBody>
      </p:sp>
      <p:sp>
        <p:nvSpPr>
          <p:cNvPr id="18" name="TextBox 17">
            <a:extLst xmlns:a="http://schemas.openxmlformats.org/drawingml/2006/main">
              <a:ext uri="{FF2B5EF4-FFF2-40B4-BE49-F238E27FC236}">
                <a16:creationId xmlns:a16="http://schemas.microsoft.com/office/drawing/2014/main" id="{A5D247EA-A2A6-4879-A457-F1F2D79E997C}"/>
              </a:ext>
            </a:extLst>
          </p:cNvPr>
          <p:cNvSpPr>
            <a:spLocks xmlns:a="http://schemas.openxmlformats.org/drawingml/2006/main" noGrp="1"/>
          </p:cNvSpPr>
          <p:nvPr/>
        </p:nvSpPr>
        <p:spPr>
          <a:xfrm xmlns:a="http://schemas.openxmlformats.org/drawingml/2006/main">
            <a:off x="4352925" y="2946052"/>
            <a:ext cx="4357687" cy="5048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3150" b="1" i="0" u="none">
                <a:solidFill>
                  <a:srgbClr val="16A34A"/>
                </a:solidFill>
                <a:latin typeface="Plus Jakarta Sans"/>
                <a:ea typeface="Plus Jakarta Sans"/>
                <a:cs typeface="Plus Jakarta Sans"/>
              </a:rPr>
              <a:t>+$12.0M</a:t>
            </a:r>
          </a:p>
        </p:txBody>
      </p:sp>
      <p:sp>
        <p:nvSpPr>
          <p:cNvPr id="19" name="TextBox 18">
            <a:extLst xmlns:a="http://schemas.openxmlformats.org/drawingml/2006/main">
              <a:ext uri="{FF2B5EF4-FFF2-40B4-BE49-F238E27FC236}">
                <a16:creationId xmlns:a16="http://schemas.microsoft.com/office/drawing/2014/main" id="{39A1EFE1-939E-4837-A9E0-32FBA83724F6}"/>
              </a:ext>
            </a:extLst>
          </p:cNvPr>
          <p:cNvSpPr>
            <a:spLocks xmlns:a="http://schemas.openxmlformats.org/drawingml/2006/main" noGrp="1"/>
          </p:cNvSpPr>
          <p:nvPr/>
        </p:nvSpPr>
        <p:spPr>
          <a:xfrm xmlns:a="http://schemas.openxmlformats.org/drawingml/2006/main">
            <a:off x="4352925" y="3508027"/>
            <a:ext cx="4357687"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0F172A"/>
                </a:solidFill>
                <a:latin typeface="Inter"/>
                <a:ea typeface="Inter"/>
                <a:cs typeface="Inter"/>
              </a:rPr>
              <a:t>Net Uplift | 13.0% Margin</a:t>
            </a:r>
          </a:p>
        </p:txBody>
      </p:sp>
      <p:sp>
        <p:nvSpPr>
          <p:cNvPr id="20" name="TextBox 19">
            <a:extLst xmlns:a="http://schemas.openxmlformats.org/drawingml/2006/main">
              <a:ext uri="{FF2B5EF4-FFF2-40B4-BE49-F238E27FC236}">
                <a16:creationId xmlns:a16="http://schemas.microsoft.com/office/drawing/2014/main" id="{DB44906E-958C-4411-A207-584DB1F01E1B}"/>
              </a:ext>
            </a:extLst>
          </p:cNvPr>
          <p:cNvSpPr>
            <a:spLocks xmlns:a="http://schemas.openxmlformats.org/drawingml/2006/main" noGrp="1"/>
          </p:cNvSpPr>
          <p:nvPr/>
        </p:nvSpPr>
        <p:spPr>
          <a:xfrm xmlns:a="http://schemas.openxmlformats.org/drawingml/2006/main">
            <a:off x="4352925" y="3765202"/>
            <a:ext cx="4357687"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0" i="0" u="none">
                <a:solidFill>
                  <a:srgbClr val="475569"/>
                </a:solidFill>
                <a:latin typeface="Inter"/>
                <a:ea typeface="Inter"/>
                <a:cs typeface="Inter"/>
              </a:rPr>
              <a:t>200% ROI | 4.0-mo Payback | $6.0M Cost</a:t>
            </a:r>
          </a:p>
        </p:txBody>
      </p:sp>
      <p:sp>
        <p:nvSpPr>
          <p:cNvPr id="21" name="TextBox 20">
            <a:extLst xmlns:a="http://schemas.openxmlformats.org/drawingml/2006/main">
              <a:ext uri="{FF2B5EF4-FFF2-40B4-BE49-F238E27FC236}">
                <a16:creationId xmlns:a16="http://schemas.microsoft.com/office/drawing/2014/main" id="{E8D00077-B77B-4320-9C95-F1500A717225}"/>
              </a:ext>
            </a:extLst>
          </p:cNvPr>
          <p:cNvSpPr>
            <a:spLocks xmlns:a="http://schemas.openxmlformats.org/drawingml/2006/main" noGrp="1"/>
          </p:cNvSpPr>
          <p:nvPr/>
        </p:nvSpPr>
        <p:spPr>
          <a:xfrm xmlns:a="http://schemas.openxmlformats.org/drawingml/2006/main">
            <a:off x="8515350" y="2707927"/>
            <a:ext cx="3631406"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1" i="0" u="none">
                <a:solidFill>
                  <a:srgbClr val="64748B"/>
                </a:solidFill>
                <a:latin typeface="Inter"/>
                <a:ea typeface="Inter"/>
                <a:cs typeface="Inter"/>
              </a:rPr>
              <a:t>UPSIDE CASE</a:t>
            </a:r>
          </a:p>
        </p:txBody>
      </p:sp>
      <p:sp>
        <p:nvSpPr>
          <p:cNvPr id="22" name="TextBox 21">
            <a:extLst xmlns:a="http://schemas.openxmlformats.org/drawingml/2006/main">
              <a:ext uri="{FF2B5EF4-FFF2-40B4-BE49-F238E27FC236}">
                <a16:creationId xmlns:a16="http://schemas.microsoft.com/office/drawing/2014/main" id="{F95B2F47-12F3-4DD2-90FE-B4DA9CDCF606}"/>
              </a:ext>
            </a:extLst>
          </p:cNvPr>
          <p:cNvSpPr>
            <a:spLocks xmlns:a="http://schemas.openxmlformats.org/drawingml/2006/main" noGrp="1"/>
          </p:cNvSpPr>
          <p:nvPr/>
        </p:nvSpPr>
        <p:spPr>
          <a:xfrm xmlns:a="http://schemas.openxmlformats.org/drawingml/2006/main">
            <a:off x="8515350" y="2917477"/>
            <a:ext cx="3631406" cy="4286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700" b="1" i="0" u="none">
                <a:solidFill>
                  <a:srgbClr val="0F172A"/>
                </a:solidFill>
                <a:latin typeface="Plus Jakarta Sans"/>
                <a:ea typeface="Plus Jakarta Sans"/>
                <a:cs typeface="Plus Jakarta Sans"/>
              </a:rPr>
              <a:t>+$17.0M</a:t>
            </a:r>
          </a:p>
        </p:txBody>
      </p:sp>
      <p:sp>
        <p:nvSpPr>
          <p:cNvPr id="23" name="TextBox 22">
            <a:extLst xmlns:a="http://schemas.openxmlformats.org/drawingml/2006/main">
              <a:ext uri="{FF2B5EF4-FFF2-40B4-BE49-F238E27FC236}">
                <a16:creationId xmlns:a16="http://schemas.microsoft.com/office/drawing/2014/main" id="{0CE3326E-0B01-462E-ACF2-5783DBFCD2EB}"/>
              </a:ext>
            </a:extLst>
          </p:cNvPr>
          <p:cNvSpPr>
            <a:spLocks xmlns:a="http://schemas.openxmlformats.org/drawingml/2006/main" noGrp="1"/>
          </p:cNvSpPr>
          <p:nvPr/>
        </p:nvSpPr>
        <p:spPr>
          <a:xfrm xmlns:a="http://schemas.openxmlformats.org/drawingml/2006/main">
            <a:off x="8515350" y="3403252"/>
            <a:ext cx="3631406"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Net Uplift | 14.3% Margin</a:t>
            </a:r>
          </a:p>
        </p:txBody>
      </p:sp>
      <p:sp>
        <p:nvSpPr>
          <p:cNvPr id="24" name="TextBox 23">
            <a:extLst xmlns:a="http://schemas.openxmlformats.org/drawingml/2006/main">
              <a:ext uri="{FF2B5EF4-FFF2-40B4-BE49-F238E27FC236}">
                <a16:creationId xmlns:a16="http://schemas.microsoft.com/office/drawing/2014/main" id="{491DB641-E998-4029-B0FA-8FE654A6E03A}"/>
              </a:ext>
            </a:extLst>
          </p:cNvPr>
          <p:cNvSpPr>
            <a:spLocks xmlns:a="http://schemas.openxmlformats.org/drawingml/2006/main" noGrp="1"/>
          </p:cNvSpPr>
          <p:nvPr/>
        </p:nvSpPr>
        <p:spPr>
          <a:xfrm xmlns:a="http://schemas.openxmlformats.org/drawingml/2006/main">
            <a:off x="8515350" y="3641377"/>
            <a:ext cx="3631406"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0" i="0" u="none">
                <a:solidFill>
                  <a:srgbClr val="64748B"/>
                </a:solidFill>
                <a:latin typeface="Inter"/>
                <a:ea typeface="Inter"/>
                <a:cs typeface="Inter"/>
              </a:rPr>
              <a:t>213% ROI | 3.8-mo Payback</a:t>
            </a:r>
          </a:p>
        </p:txBody>
      </p:sp>
      <p:sp>
        <p:nvSpPr>
          <p:cNvPr id="25" name="TextBox 24">
            <a:extLst xmlns:a="http://schemas.openxmlformats.org/drawingml/2006/main">
              <a:ext uri="{FF2B5EF4-FFF2-40B4-BE49-F238E27FC236}">
                <a16:creationId xmlns:a16="http://schemas.microsoft.com/office/drawing/2014/main" id="{C2D771D6-1129-48CF-AACF-DD82836D5D3B}"/>
              </a:ext>
            </a:extLst>
          </p:cNvPr>
          <p:cNvSpPr>
            <a:spLocks xmlns:a="http://schemas.openxmlformats.org/drawingml/2006/main" noGrp="1"/>
          </p:cNvSpPr>
          <p:nvPr/>
        </p:nvSpPr>
        <p:spPr>
          <a:xfrm xmlns:a="http://schemas.openxmlformats.org/drawingml/2006/main">
            <a:off x="733425" y="4593877"/>
            <a:ext cx="8376046"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i="0" u="none">
                <a:solidFill>
                  <a:srgbClr val="0F172A"/>
                </a:solidFill>
                <a:latin typeface="Inter"/>
                <a:ea typeface="Inter"/>
                <a:cs typeface="Inter"/>
              </a:rPr>
              <a:t>Finance verification rule</a:t>
            </a:r>
          </a:p>
        </p:txBody>
      </p:sp>
      <p:sp>
        <p:nvSpPr>
          <p:cNvPr id="26" name="TextBox 25">
            <a:extLst xmlns:a="http://schemas.openxmlformats.org/drawingml/2006/main">
              <a:ext uri="{FF2B5EF4-FFF2-40B4-BE49-F238E27FC236}">
                <a16:creationId xmlns:a16="http://schemas.microsoft.com/office/drawing/2014/main" id="{47EB8DC8-5E7A-4854-932D-EB7972F4B55A}"/>
              </a:ext>
            </a:extLst>
          </p:cNvPr>
          <p:cNvSpPr>
            <a:spLocks xmlns:a="http://schemas.openxmlformats.org/drawingml/2006/main" noGrp="1"/>
          </p:cNvSpPr>
          <p:nvPr/>
        </p:nvSpPr>
        <p:spPr>
          <a:xfrm xmlns:a="http://schemas.openxmlformats.org/drawingml/2006/main">
            <a:off x="733425" y="4803427"/>
            <a:ext cx="7977187"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0" i="0" u="none">
                <a:solidFill>
                  <a:srgbClr val="475569"/>
                </a:solidFill>
                <a:latin typeface="Inter"/>
                <a:ea typeface="Inter"/>
                <a:cs typeface="Inter"/>
              </a:rPr>
              <a:t>Book value after a reconciled baseline, a valid comparison, and two positive reads.</a:t>
            </a:r>
          </a:p>
        </p:txBody>
      </p:sp>
      <p:sp>
        <p:nvSpPr>
          <p:cNvPr id="27" name="TextBox 26">
            <a:extLst xmlns:a="http://schemas.openxmlformats.org/drawingml/2006/main">
              <a:ext uri="{FF2B5EF4-FFF2-40B4-BE49-F238E27FC236}">
                <a16:creationId xmlns:a16="http://schemas.microsoft.com/office/drawing/2014/main" id="{E8D828F1-5AD7-441F-9AFB-0A7ACEEBD755}"/>
              </a:ext>
            </a:extLst>
          </p:cNvPr>
          <p:cNvSpPr>
            <a:spLocks xmlns:a="http://schemas.openxmlformats.org/drawingml/2006/main" noGrp="1"/>
          </p:cNvSpPr>
          <p:nvPr/>
        </p:nvSpPr>
        <p:spPr>
          <a:xfrm xmlns:a="http://schemas.openxmlformats.org/drawingml/2006/main">
            <a:off x="4352925" y="2726977"/>
            <a:ext cx="1583531" cy="1524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75" b="1" i="0" u="none">
                <a:solidFill>
                  <a:srgbClr val="EA580C"/>
                </a:solidFill>
                <a:latin typeface="Inter"/>
                <a:ea typeface="Inter"/>
                <a:cs typeface="Inter"/>
              </a:rPr>
              <a:t>BASE CASE TARGET</a:t>
            </a:r>
          </a:p>
        </p:txBody>
      </p:sp>
      <p:sp>
        <p:nvSpPr>
          <p:cNvPr id="28" name="TextBox 27">
            <a:extLst xmlns:a="http://schemas.openxmlformats.org/drawingml/2006/main">
              <a:ext uri="{FF2B5EF4-FFF2-40B4-BE49-F238E27FC236}">
                <a16:creationId xmlns:a16="http://schemas.microsoft.com/office/drawing/2014/main" id="{B993EE9C-4A2A-4244-8956-EEE8ED424FB1}"/>
              </a:ext>
            </a:extLst>
          </p:cNvPr>
          <p:cNvSpPr>
            <a:spLocks xmlns:a="http://schemas.openxmlformats.org/drawingml/2006/main" noGrp="1"/>
          </p:cNvSpPr>
          <p:nvPr/>
        </p:nvSpPr>
        <p:spPr>
          <a:xfrm xmlns:a="http://schemas.openxmlformats.org/drawingml/2006/main">
            <a:off x="7000875" y="2736502"/>
            <a:ext cx="876300" cy="13335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825" b="1" i="0" u="none">
                <a:solidFill>
                  <a:srgbClr val="B45309"/>
                </a:solidFill>
                <a:latin typeface="Inter"/>
                <a:ea typeface="Inter"/>
                <a:cs typeface="Inter"/>
              </a:rPr>
              <a:t>Recommended</a:t>
            </a:r>
          </a:p>
        </p:txBody>
      </p:sp>
    </p:spTree>
    <p:extLst>
      <p:ext uri="{BB962C8B-B14F-4D97-AF65-F5344CB8AC3E}">
        <p14:creationId xmlns:p14="http://schemas.microsoft.com/office/powerpoint/2010/main" val="387202238"/>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Rounded Rectangle 1">
            <a:extLst xmlns:a="http://schemas.openxmlformats.org/drawingml/2006/main">
              <a:ext uri="{FF2B5EF4-FFF2-40B4-BE49-F238E27FC236}">
                <a16:creationId xmlns:a16="http://schemas.microsoft.com/office/drawing/2014/main" id="{48CC8F9C-7774-4DC8-ABEF-B31D7FA84EE5}"/>
              </a:ext>
            </a:extLst>
          </p:cNvPr>
          <p:cNvSpPr>
            <a:spLocks xmlns:a="http://schemas.openxmlformats.org/drawingml/2006/main" noGrp="1"/>
          </p:cNvSpPr>
          <p:nvPr/>
        </p:nvSpPr>
        <p:spPr>
          <a:xfrm xmlns:a="http://schemas.openxmlformats.org/drawingml/2006/main">
            <a:off x="533400" y="4462313"/>
            <a:ext cx="11125200" cy="504825"/>
          </a:xfrm>
          <a:prstGeom xmlns:a="http://schemas.openxmlformats.org/drawingml/2006/main" prst="roundRect">
            <a:avLst>
              <a:gd name="adj" fmla="val 15094"/>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ounded Rectangle 2">
            <a:extLst xmlns:a="http://schemas.openxmlformats.org/drawingml/2006/main">
              <a:ext uri="{FF2B5EF4-FFF2-40B4-BE49-F238E27FC236}">
                <a16:creationId xmlns:a16="http://schemas.microsoft.com/office/drawing/2014/main" id="{9D3736CD-71CA-4CB5-BD75-3641A4A42453}"/>
              </a:ext>
            </a:extLst>
          </p:cNvPr>
          <p:cNvSpPr>
            <a:spLocks xmlns:a="http://schemas.openxmlformats.org/drawingml/2006/main" noGrp="1"/>
          </p:cNvSpPr>
          <p:nvPr/>
        </p:nvSpPr>
        <p:spPr>
          <a:xfrm xmlns:a="http://schemas.openxmlformats.org/drawingml/2006/main">
            <a:off x="9658350" y="710505"/>
            <a:ext cx="304800" cy="219075"/>
          </a:xfrm>
          <a:prstGeom xmlns:a="http://schemas.openxmlformats.org/drawingml/2006/main" prst="roundRect">
            <a:avLst>
              <a:gd name="adj" fmla="val 1739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8123BD79-7C72-4172-BC9F-D3EFA509831A}"/>
              </a:ext>
            </a:extLst>
          </p:cNvPr>
          <p:cNvSpPr>
            <a:spLocks xmlns:a="http://schemas.openxmlformats.org/drawingml/2006/main" noGrp="1"/>
          </p:cNvSpPr>
          <p:nvPr/>
        </p:nvSpPr>
        <p:spPr>
          <a:xfrm xmlns:a="http://schemas.openxmlformats.org/drawingml/2006/main">
            <a:off x="533400" y="2668041"/>
            <a:ext cx="2667000" cy="1565671"/>
          </a:xfrm>
          <a:prstGeom xmlns:a="http://schemas.openxmlformats.org/drawingml/2006/main" prst="roundRect">
            <a:avLst>
              <a:gd name="adj" fmla="val 4866"/>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C40B80B9-31D0-4327-921C-01E28BED707B}"/>
              </a:ext>
            </a:extLst>
          </p:cNvPr>
          <p:cNvSpPr>
            <a:spLocks xmlns:a="http://schemas.openxmlformats.org/drawingml/2006/main" noGrp="1"/>
          </p:cNvSpPr>
          <p:nvPr/>
        </p:nvSpPr>
        <p:spPr>
          <a:xfrm xmlns:a="http://schemas.openxmlformats.org/drawingml/2006/main">
            <a:off x="3352800" y="2668041"/>
            <a:ext cx="2667000" cy="1565671"/>
          </a:xfrm>
          <a:prstGeom xmlns:a="http://schemas.openxmlformats.org/drawingml/2006/main" prst="roundRect">
            <a:avLst>
              <a:gd name="adj" fmla="val 4866"/>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C6B71BA8-8E79-4573-AD92-2F0761E14D02}"/>
              </a:ext>
            </a:extLst>
          </p:cNvPr>
          <p:cNvSpPr>
            <a:spLocks xmlns:a="http://schemas.openxmlformats.org/drawingml/2006/main" noGrp="1"/>
          </p:cNvSpPr>
          <p:nvPr/>
        </p:nvSpPr>
        <p:spPr>
          <a:xfrm xmlns:a="http://schemas.openxmlformats.org/drawingml/2006/main">
            <a:off x="6172200" y="2668041"/>
            <a:ext cx="2667000" cy="1565671"/>
          </a:xfrm>
          <a:prstGeom xmlns:a="http://schemas.openxmlformats.org/drawingml/2006/main" prst="roundRect">
            <a:avLst>
              <a:gd name="adj" fmla="val 4866"/>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F94A3BFC-64E6-4A11-8158-D07840934DCF}"/>
              </a:ext>
            </a:extLst>
          </p:cNvPr>
          <p:cNvSpPr>
            <a:spLocks xmlns:a="http://schemas.openxmlformats.org/drawingml/2006/main" noGrp="1"/>
          </p:cNvSpPr>
          <p:nvPr/>
        </p:nvSpPr>
        <p:spPr>
          <a:xfrm xmlns:a="http://schemas.openxmlformats.org/drawingml/2006/main">
            <a:off x="8991600" y="2668041"/>
            <a:ext cx="2667000" cy="1565671"/>
          </a:xfrm>
          <a:prstGeom xmlns:a="http://schemas.openxmlformats.org/drawingml/2006/main" prst="roundRect">
            <a:avLst>
              <a:gd name="adj" fmla="val 4866"/>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ectangle 7">
            <a:extLst xmlns:a="http://schemas.openxmlformats.org/drawingml/2006/main">
              <a:ext uri="{FF2B5EF4-FFF2-40B4-BE49-F238E27FC236}">
                <a16:creationId xmlns:a16="http://schemas.microsoft.com/office/drawing/2014/main" id="{727AA87B-92D8-4110-92A0-D7E3DA62FE64}"/>
              </a:ext>
            </a:extLst>
          </p:cNvPr>
          <p:cNvSpPr>
            <a:spLocks xmlns:a="http://schemas.openxmlformats.org/drawingml/2006/main" noGrp="1"/>
          </p:cNvSpPr>
          <p:nvPr/>
        </p:nvSpPr>
        <p:spPr>
          <a:xfrm xmlns:a="http://schemas.openxmlformats.org/drawingml/2006/main">
            <a:off x="533400" y="4224188"/>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ectangle 8">
            <a:extLst xmlns:a="http://schemas.openxmlformats.org/drawingml/2006/main">
              <a:ext uri="{FF2B5EF4-FFF2-40B4-BE49-F238E27FC236}">
                <a16:creationId xmlns:a16="http://schemas.microsoft.com/office/drawing/2014/main" id="{93A1A74F-B919-44C2-AAA5-A25645105EF6}"/>
              </a:ext>
            </a:extLst>
          </p:cNvPr>
          <p:cNvSpPr>
            <a:spLocks xmlns:a="http://schemas.openxmlformats.org/drawingml/2006/main" noGrp="1"/>
          </p:cNvSpPr>
          <p:nvPr/>
        </p:nvSpPr>
        <p:spPr>
          <a:xfrm xmlns:a="http://schemas.openxmlformats.org/drawingml/2006/main">
            <a:off x="533400" y="2668041"/>
            <a:ext cx="2667000" cy="38100"/>
          </a:xfrm>
          <a:prstGeom xmlns:a="http://schemas.openxmlformats.org/drawingml/2006/main" prst="rect">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ectangle 9">
            <a:extLst xmlns:a="http://schemas.openxmlformats.org/drawingml/2006/main">
              <a:ext uri="{FF2B5EF4-FFF2-40B4-BE49-F238E27FC236}">
                <a16:creationId xmlns:a16="http://schemas.microsoft.com/office/drawing/2014/main" id="{A3370CB7-5E6C-4BD5-904F-3791B55D4F29}"/>
              </a:ext>
            </a:extLst>
          </p:cNvPr>
          <p:cNvSpPr>
            <a:spLocks xmlns:a="http://schemas.openxmlformats.org/drawingml/2006/main" noGrp="1"/>
          </p:cNvSpPr>
          <p:nvPr/>
        </p:nvSpPr>
        <p:spPr>
          <a:xfrm xmlns:a="http://schemas.openxmlformats.org/drawingml/2006/main">
            <a:off x="533400"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ectangle 10">
            <a:extLst xmlns:a="http://schemas.openxmlformats.org/drawingml/2006/main">
              <a:ext uri="{FF2B5EF4-FFF2-40B4-BE49-F238E27FC236}">
                <a16:creationId xmlns:a16="http://schemas.microsoft.com/office/drawing/2014/main" id="{8ADEBA59-6179-4A48-A5F1-62708537124E}"/>
              </a:ext>
            </a:extLst>
          </p:cNvPr>
          <p:cNvSpPr>
            <a:spLocks xmlns:a="http://schemas.openxmlformats.org/drawingml/2006/main" noGrp="1"/>
          </p:cNvSpPr>
          <p:nvPr/>
        </p:nvSpPr>
        <p:spPr>
          <a:xfrm xmlns:a="http://schemas.openxmlformats.org/drawingml/2006/main">
            <a:off x="3190875"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Rectangle 11">
            <a:extLst xmlns:a="http://schemas.openxmlformats.org/drawingml/2006/main">
              <a:ext uri="{FF2B5EF4-FFF2-40B4-BE49-F238E27FC236}">
                <a16:creationId xmlns:a16="http://schemas.microsoft.com/office/drawing/2014/main" id="{B2B19FBD-6D00-4263-BB2F-ACF24ADCBFC9}"/>
              </a:ext>
            </a:extLst>
          </p:cNvPr>
          <p:cNvSpPr>
            <a:spLocks xmlns:a="http://schemas.openxmlformats.org/drawingml/2006/main" noGrp="1"/>
          </p:cNvSpPr>
          <p:nvPr/>
        </p:nvSpPr>
        <p:spPr>
          <a:xfrm xmlns:a="http://schemas.openxmlformats.org/drawingml/2006/main">
            <a:off x="733425" y="3805088"/>
            <a:ext cx="22669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Rectangle 12">
            <a:extLst xmlns:a="http://schemas.openxmlformats.org/drawingml/2006/main">
              <a:ext uri="{FF2B5EF4-FFF2-40B4-BE49-F238E27FC236}">
                <a16:creationId xmlns:a16="http://schemas.microsoft.com/office/drawing/2014/main" id="{28AF24B1-2E72-4403-9D6D-0AA9A2F8F604}"/>
              </a:ext>
            </a:extLst>
          </p:cNvPr>
          <p:cNvSpPr>
            <a:spLocks xmlns:a="http://schemas.openxmlformats.org/drawingml/2006/main" noGrp="1"/>
          </p:cNvSpPr>
          <p:nvPr/>
        </p:nvSpPr>
        <p:spPr>
          <a:xfrm xmlns:a="http://schemas.openxmlformats.org/drawingml/2006/main">
            <a:off x="3352800" y="4224188"/>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4" name="Rectangle 13">
            <a:extLst xmlns:a="http://schemas.openxmlformats.org/drawingml/2006/main">
              <a:ext uri="{FF2B5EF4-FFF2-40B4-BE49-F238E27FC236}">
                <a16:creationId xmlns:a16="http://schemas.microsoft.com/office/drawing/2014/main" id="{44152156-862C-494C-9267-B78B3D4F40F7}"/>
              </a:ext>
            </a:extLst>
          </p:cNvPr>
          <p:cNvSpPr>
            <a:spLocks xmlns:a="http://schemas.openxmlformats.org/drawingml/2006/main" noGrp="1"/>
          </p:cNvSpPr>
          <p:nvPr/>
        </p:nvSpPr>
        <p:spPr>
          <a:xfrm xmlns:a="http://schemas.openxmlformats.org/drawingml/2006/main">
            <a:off x="3352800" y="2668041"/>
            <a:ext cx="2667000" cy="38100"/>
          </a:xfrm>
          <a:prstGeom xmlns:a="http://schemas.openxmlformats.org/drawingml/2006/main" prst="rect">
            <a:avLst/>
          </a:prstGeom>
          <a:solidFill xmlns:a="http://schemas.openxmlformats.org/drawingml/2006/main">
            <a:srgbClr val="2563E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5" name="Rectangle 14">
            <a:extLst xmlns:a="http://schemas.openxmlformats.org/drawingml/2006/main">
              <a:ext uri="{FF2B5EF4-FFF2-40B4-BE49-F238E27FC236}">
                <a16:creationId xmlns:a16="http://schemas.microsoft.com/office/drawing/2014/main" id="{740A53C4-F9DA-4E27-A329-69647403C67F}"/>
              </a:ext>
            </a:extLst>
          </p:cNvPr>
          <p:cNvSpPr>
            <a:spLocks xmlns:a="http://schemas.openxmlformats.org/drawingml/2006/main" noGrp="1"/>
          </p:cNvSpPr>
          <p:nvPr/>
        </p:nvSpPr>
        <p:spPr>
          <a:xfrm xmlns:a="http://schemas.openxmlformats.org/drawingml/2006/main">
            <a:off x="3352800"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6" name="Rectangle 15">
            <a:extLst xmlns:a="http://schemas.openxmlformats.org/drawingml/2006/main">
              <a:ext uri="{FF2B5EF4-FFF2-40B4-BE49-F238E27FC236}">
                <a16:creationId xmlns:a16="http://schemas.microsoft.com/office/drawing/2014/main" id="{EE428264-046E-47D3-BF37-A497DBB4478A}"/>
              </a:ext>
            </a:extLst>
          </p:cNvPr>
          <p:cNvSpPr>
            <a:spLocks xmlns:a="http://schemas.openxmlformats.org/drawingml/2006/main" noGrp="1"/>
          </p:cNvSpPr>
          <p:nvPr/>
        </p:nvSpPr>
        <p:spPr>
          <a:xfrm xmlns:a="http://schemas.openxmlformats.org/drawingml/2006/main">
            <a:off x="6010275"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7" name="Rectangle 16">
            <a:extLst xmlns:a="http://schemas.openxmlformats.org/drawingml/2006/main">
              <a:ext uri="{FF2B5EF4-FFF2-40B4-BE49-F238E27FC236}">
                <a16:creationId xmlns:a16="http://schemas.microsoft.com/office/drawing/2014/main" id="{632A61A1-DBC1-43A4-93F3-EF8F73EFFAB0}"/>
              </a:ext>
            </a:extLst>
          </p:cNvPr>
          <p:cNvSpPr>
            <a:spLocks xmlns:a="http://schemas.openxmlformats.org/drawingml/2006/main" noGrp="1"/>
          </p:cNvSpPr>
          <p:nvPr/>
        </p:nvSpPr>
        <p:spPr>
          <a:xfrm xmlns:a="http://schemas.openxmlformats.org/drawingml/2006/main">
            <a:off x="3552825" y="3805088"/>
            <a:ext cx="22669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8" name="Rectangle 17">
            <a:extLst xmlns:a="http://schemas.openxmlformats.org/drawingml/2006/main">
              <a:ext uri="{FF2B5EF4-FFF2-40B4-BE49-F238E27FC236}">
                <a16:creationId xmlns:a16="http://schemas.microsoft.com/office/drawing/2014/main" id="{F39BBCBC-AED5-4BF9-91A8-BC61B6AFC306}"/>
              </a:ext>
            </a:extLst>
          </p:cNvPr>
          <p:cNvSpPr>
            <a:spLocks xmlns:a="http://schemas.openxmlformats.org/drawingml/2006/main" noGrp="1"/>
          </p:cNvSpPr>
          <p:nvPr/>
        </p:nvSpPr>
        <p:spPr>
          <a:xfrm xmlns:a="http://schemas.openxmlformats.org/drawingml/2006/main">
            <a:off x="6172200" y="4224188"/>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9" name="Rectangle 18">
            <a:extLst xmlns:a="http://schemas.openxmlformats.org/drawingml/2006/main">
              <a:ext uri="{FF2B5EF4-FFF2-40B4-BE49-F238E27FC236}">
                <a16:creationId xmlns:a16="http://schemas.microsoft.com/office/drawing/2014/main" id="{649DF910-A008-40FC-8784-0C032A2147F7}"/>
              </a:ext>
            </a:extLst>
          </p:cNvPr>
          <p:cNvSpPr>
            <a:spLocks xmlns:a="http://schemas.openxmlformats.org/drawingml/2006/main" noGrp="1"/>
          </p:cNvSpPr>
          <p:nvPr/>
        </p:nvSpPr>
        <p:spPr>
          <a:xfrm xmlns:a="http://schemas.openxmlformats.org/drawingml/2006/main">
            <a:off x="6172200" y="2668041"/>
            <a:ext cx="2667000" cy="38100"/>
          </a:xfrm>
          <a:prstGeom xmlns:a="http://schemas.openxmlformats.org/drawingml/2006/main" prst="rect">
            <a:avLst/>
          </a:prstGeom>
          <a:solidFill xmlns:a="http://schemas.openxmlformats.org/drawingml/2006/main">
            <a:srgbClr val="16A34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0" name="Rectangle 19">
            <a:extLst xmlns:a="http://schemas.openxmlformats.org/drawingml/2006/main">
              <a:ext uri="{FF2B5EF4-FFF2-40B4-BE49-F238E27FC236}">
                <a16:creationId xmlns:a16="http://schemas.microsoft.com/office/drawing/2014/main" id="{BE9D7E0E-175E-4E35-B218-49ECD95E3CD2}"/>
              </a:ext>
            </a:extLst>
          </p:cNvPr>
          <p:cNvSpPr>
            <a:spLocks xmlns:a="http://schemas.openxmlformats.org/drawingml/2006/main" noGrp="1"/>
          </p:cNvSpPr>
          <p:nvPr/>
        </p:nvSpPr>
        <p:spPr>
          <a:xfrm xmlns:a="http://schemas.openxmlformats.org/drawingml/2006/main">
            <a:off x="6172200"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Rectangle 20">
            <a:extLst xmlns:a="http://schemas.openxmlformats.org/drawingml/2006/main">
              <a:ext uri="{FF2B5EF4-FFF2-40B4-BE49-F238E27FC236}">
                <a16:creationId xmlns:a16="http://schemas.microsoft.com/office/drawing/2014/main" id="{B970FFA4-A289-456D-8D69-9C3F5D2F354B}"/>
              </a:ext>
            </a:extLst>
          </p:cNvPr>
          <p:cNvSpPr>
            <a:spLocks xmlns:a="http://schemas.openxmlformats.org/drawingml/2006/main" noGrp="1"/>
          </p:cNvSpPr>
          <p:nvPr/>
        </p:nvSpPr>
        <p:spPr>
          <a:xfrm xmlns:a="http://schemas.openxmlformats.org/drawingml/2006/main">
            <a:off x="8829675"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2" name="Rectangle 21">
            <a:extLst xmlns:a="http://schemas.openxmlformats.org/drawingml/2006/main">
              <a:ext uri="{FF2B5EF4-FFF2-40B4-BE49-F238E27FC236}">
                <a16:creationId xmlns:a16="http://schemas.microsoft.com/office/drawing/2014/main" id="{8F36F51B-827F-4B0B-8A4C-A1E28353F5C5}"/>
              </a:ext>
            </a:extLst>
          </p:cNvPr>
          <p:cNvSpPr>
            <a:spLocks xmlns:a="http://schemas.openxmlformats.org/drawingml/2006/main" noGrp="1"/>
          </p:cNvSpPr>
          <p:nvPr/>
        </p:nvSpPr>
        <p:spPr>
          <a:xfrm xmlns:a="http://schemas.openxmlformats.org/drawingml/2006/main">
            <a:off x="6372225" y="3805088"/>
            <a:ext cx="22669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3" name="Rectangle 22">
            <a:extLst xmlns:a="http://schemas.openxmlformats.org/drawingml/2006/main">
              <a:ext uri="{FF2B5EF4-FFF2-40B4-BE49-F238E27FC236}">
                <a16:creationId xmlns:a16="http://schemas.microsoft.com/office/drawing/2014/main" id="{6EA31516-19F5-4544-9961-F743DCB0E6FB}"/>
              </a:ext>
            </a:extLst>
          </p:cNvPr>
          <p:cNvSpPr>
            <a:spLocks xmlns:a="http://schemas.openxmlformats.org/drawingml/2006/main" noGrp="1"/>
          </p:cNvSpPr>
          <p:nvPr/>
        </p:nvSpPr>
        <p:spPr>
          <a:xfrm xmlns:a="http://schemas.openxmlformats.org/drawingml/2006/main">
            <a:off x="8991600" y="4224188"/>
            <a:ext cx="2667000" cy="9525"/>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4" name="Rectangle 23">
            <a:extLst xmlns:a="http://schemas.openxmlformats.org/drawingml/2006/main">
              <a:ext uri="{FF2B5EF4-FFF2-40B4-BE49-F238E27FC236}">
                <a16:creationId xmlns:a16="http://schemas.microsoft.com/office/drawing/2014/main" id="{371CB187-A3A5-4CBC-B853-F6A890F69ED4}"/>
              </a:ext>
            </a:extLst>
          </p:cNvPr>
          <p:cNvSpPr>
            <a:spLocks xmlns:a="http://schemas.openxmlformats.org/drawingml/2006/main" noGrp="1"/>
          </p:cNvSpPr>
          <p:nvPr/>
        </p:nvSpPr>
        <p:spPr>
          <a:xfrm xmlns:a="http://schemas.openxmlformats.org/drawingml/2006/main">
            <a:off x="8991600" y="2668041"/>
            <a:ext cx="2667000" cy="381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Rectangle 24">
            <a:extLst xmlns:a="http://schemas.openxmlformats.org/drawingml/2006/main">
              <a:ext uri="{FF2B5EF4-FFF2-40B4-BE49-F238E27FC236}">
                <a16:creationId xmlns:a16="http://schemas.microsoft.com/office/drawing/2014/main" id="{4389B341-44C2-449C-BB16-7BE85F35AB23}"/>
              </a:ext>
            </a:extLst>
          </p:cNvPr>
          <p:cNvSpPr>
            <a:spLocks xmlns:a="http://schemas.openxmlformats.org/drawingml/2006/main" noGrp="1"/>
          </p:cNvSpPr>
          <p:nvPr/>
        </p:nvSpPr>
        <p:spPr>
          <a:xfrm xmlns:a="http://schemas.openxmlformats.org/drawingml/2006/main">
            <a:off x="8991600"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6" name="Rectangle 25">
            <a:extLst xmlns:a="http://schemas.openxmlformats.org/drawingml/2006/main">
              <a:ext uri="{FF2B5EF4-FFF2-40B4-BE49-F238E27FC236}">
                <a16:creationId xmlns:a16="http://schemas.microsoft.com/office/drawing/2014/main" id="{0A7AB550-9F53-4510-8C44-3CF1F3A5072E}"/>
              </a:ext>
            </a:extLst>
          </p:cNvPr>
          <p:cNvSpPr>
            <a:spLocks xmlns:a="http://schemas.openxmlformats.org/drawingml/2006/main" noGrp="1"/>
          </p:cNvSpPr>
          <p:nvPr/>
        </p:nvSpPr>
        <p:spPr>
          <a:xfrm xmlns:a="http://schemas.openxmlformats.org/drawingml/2006/main">
            <a:off x="11649075" y="2668041"/>
            <a:ext cx="9525" cy="1565671"/>
          </a:xfrm>
          <a:prstGeom xmlns:a="http://schemas.openxmlformats.org/drawingml/2006/main" prst="rect">
            <a:avLst/>
          </a:prstGeom>
          <a:solidFill xmlns:a="http://schemas.openxmlformats.org/drawingml/2006/main">
            <a:srgbClr val="E2E8F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7" name="Rectangle 26">
            <a:extLst xmlns:a="http://schemas.openxmlformats.org/drawingml/2006/main">
              <a:ext uri="{FF2B5EF4-FFF2-40B4-BE49-F238E27FC236}">
                <a16:creationId xmlns:a16="http://schemas.microsoft.com/office/drawing/2014/main" id="{C5887665-A07D-430A-955A-7DFB7F2BAA6F}"/>
              </a:ext>
            </a:extLst>
          </p:cNvPr>
          <p:cNvSpPr>
            <a:spLocks xmlns:a="http://schemas.openxmlformats.org/drawingml/2006/main" noGrp="1"/>
          </p:cNvSpPr>
          <p:nvPr/>
        </p:nvSpPr>
        <p:spPr>
          <a:xfrm xmlns:a="http://schemas.openxmlformats.org/drawingml/2006/main">
            <a:off x="9191625" y="3805088"/>
            <a:ext cx="2266950" cy="9525"/>
          </a:xfrm>
          <a:prstGeom xmlns:a="http://schemas.openxmlformats.org/drawingml/2006/main" prst="rect">
            <a:avLst/>
          </a:prstGeom>
          <a:solidFill xmlns:a="http://schemas.openxmlformats.org/drawingml/2006/main">
            <a:srgbClr val="F1F5F9"/>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8" name="TextBox 27">
            <a:extLst xmlns:a="http://schemas.openxmlformats.org/drawingml/2006/main">
              <a:ext uri="{FF2B5EF4-FFF2-40B4-BE49-F238E27FC236}">
                <a16:creationId xmlns:a16="http://schemas.microsoft.com/office/drawing/2014/main" id="{A229F3B1-DC38-4142-A008-5D3C0D050F1F}"/>
              </a:ext>
            </a:extLst>
          </p:cNvPr>
          <p:cNvSpPr>
            <a:spLocks xmlns:a="http://schemas.openxmlformats.org/drawingml/2006/main" noGrp="1"/>
          </p:cNvSpPr>
          <p:nvPr/>
        </p:nvSpPr>
        <p:spPr>
          <a:xfrm xmlns:a="http://schemas.openxmlformats.org/drawingml/2006/main">
            <a:off x="9658350" y="710505"/>
            <a:ext cx="20955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975" b="1" i="0" u="none">
                <a:solidFill>
                  <a:srgbClr val="64748B"/>
                </a:solidFill>
                <a:latin typeface="Plus Jakarta Sans"/>
                <a:ea typeface="Plus Jakarta Sans"/>
                <a:cs typeface="Plus Jakarta Sans"/>
              </a:rPr>
              <a:t>TWO TWO CONSULTING</a:t>
            </a:r>
          </a:p>
        </p:txBody>
      </p:sp>
      <p:sp>
        <p:nvSpPr>
          <p:cNvPr id="29" name="TextBox 28">
            <a:extLst xmlns:a="http://schemas.openxmlformats.org/drawingml/2006/main">
              <a:ext uri="{FF2B5EF4-FFF2-40B4-BE49-F238E27FC236}">
                <a16:creationId xmlns:a16="http://schemas.microsoft.com/office/drawing/2014/main" id="{FFC10CD0-702F-48C3-A805-DA51E3A1B532}"/>
              </a:ext>
            </a:extLst>
          </p:cNvPr>
          <p:cNvSpPr>
            <a:spLocks xmlns:a="http://schemas.openxmlformats.org/drawingml/2006/main" noGrp="1"/>
          </p:cNvSpPr>
          <p:nvPr/>
        </p:nvSpPr>
        <p:spPr>
          <a:xfrm xmlns:a="http://schemas.openxmlformats.org/drawingml/2006/main">
            <a:off x="533400" y="381000"/>
            <a:ext cx="9263062"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180-DAY ACTION PLAN</a:t>
            </a:r>
          </a:p>
        </p:txBody>
      </p:sp>
      <p:sp>
        <p:nvSpPr>
          <p:cNvPr id="30" name="TextBox 29">
            <a:extLst xmlns:a="http://schemas.openxmlformats.org/drawingml/2006/main">
              <a:ext uri="{FF2B5EF4-FFF2-40B4-BE49-F238E27FC236}">
                <a16:creationId xmlns:a16="http://schemas.microsoft.com/office/drawing/2014/main" id="{63051516-290D-4E28-8C77-704AD5548F37}"/>
              </a:ext>
            </a:extLst>
          </p:cNvPr>
          <p:cNvSpPr>
            <a:spLocks xmlns:a="http://schemas.openxmlformats.org/drawingml/2006/main" noGrp="1"/>
          </p:cNvSpPr>
          <p:nvPr/>
        </p:nvSpPr>
        <p:spPr>
          <a:xfrm xmlns:a="http://schemas.openxmlformats.org/drawingml/2006/main">
            <a:off x="533400" y="609600"/>
            <a:ext cx="9726215" cy="3200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lnSpc>
                <a:spcPts val="2520"/>
              </a:lnSpc>
              <a:buNone/>
            </a:pPr>
            <a:r>
              <a:rPr sz="2100" b="1" i="0" u="none">
                <a:solidFill>
                  <a:srgbClr val="0F172A"/>
                </a:solidFill>
                <a:latin typeface="Plus Jakarta Sans"/>
                <a:ea typeface="Plus Jakarta Sans"/>
                <a:cs typeface="Plus Jakarta Sans"/>
              </a:rPr>
              <a:t>Every Phase Ends With a Stop or Scale Decision</a:t>
            </a:r>
          </a:p>
        </p:txBody>
      </p:sp>
      <p:sp>
        <p:nvSpPr>
          <p:cNvPr id="31" name="TextBox 30">
            <a:extLst xmlns:a="http://schemas.openxmlformats.org/drawingml/2006/main">
              <a:ext uri="{FF2B5EF4-FFF2-40B4-BE49-F238E27FC236}">
                <a16:creationId xmlns:a16="http://schemas.microsoft.com/office/drawing/2014/main" id="{28165830-8569-4163-A69B-2860773E0CC0}"/>
              </a:ext>
            </a:extLst>
          </p:cNvPr>
          <p:cNvSpPr>
            <a:spLocks xmlns:a="http://schemas.openxmlformats.org/drawingml/2006/main" noGrp="1"/>
          </p:cNvSpPr>
          <p:nvPr/>
        </p:nvSpPr>
        <p:spPr>
          <a:xfrm xmlns:a="http://schemas.openxmlformats.org/drawingml/2006/main">
            <a:off x="9734550" y="748605"/>
            <a:ext cx="247650" cy="1428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FFFFFF"/>
                </a:solidFill>
                <a:latin typeface="Plus Jakarta Sans"/>
                <a:ea typeface="Plus Jakarta Sans"/>
                <a:cs typeface="Plus Jakarta Sans"/>
              </a:rPr>
              <a:t>22</a:t>
            </a:r>
          </a:p>
        </p:txBody>
      </p:sp>
      <p:sp>
        <p:nvSpPr>
          <p:cNvPr id="32" name="TextBox 31">
            <a:extLst xmlns:a="http://schemas.openxmlformats.org/drawingml/2006/main">
              <a:ext uri="{FF2B5EF4-FFF2-40B4-BE49-F238E27FC236}">
                <a16:creationId xmlns:a16="http://schemas.microsoft.com/office/drawing/2014/main" id="{6F1D6F52-CF73-46F5-811A-7AC5F85BB77A}"/>
              </a:ext>
            </a:extLst>
          </p:cNvPr>
          <p:cNvSpPr>
            <a:spLocks xmlns:a="http://schemas.openxmlformats.org/drawingml/2006/main" noGrp="1"/>
          </p:cNvSpPr>
          <p:nvPr/>
        </p:nvSpPr>
        <p:spPr>
          <a:xfrm xmlns:a="http://schemas.openxmlformats.org/drawingml/2006/main">
            <a:off x="762000" y="4633763"/>
            <a:ext cx="6584156"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0F172A"/>
                </a:solidFill>
                <a:latin typeface="Inter"/>
                <a:ea typeface="Inter"/>
                <a:cs typeface="Inter"/>
              </a:rPr>
              <a:t>Ownership: Single Executive Value Owner across Pricing, CRM, &amp; Merchandising</a:t>
            </a:r>
          </a:p>
        </p:txBody>
      </p:sp>
      <p:sp>
        <p:nvSpPr>
          <p:cNvPr id="33" name="TextBox 32">
            <a:extLst xmlns:a="http://schemas.openxmlformats.org/drawingml/2006/main">
              <a:ext uri="{FF2B5EF4-FFF2-40B4-BE49-F238E27FC236}">
                <a16:creationId xmlns:a16="http://schemas.microsoft.com/office/drawing/2014/main" id="{E5DC99EE-FD09-4395-A1D4-55A547C8ECF8}"/>
              </a:ext>
            </a:extLst>
          </p:cNvPr>
          <p:cNvSpPr>
            <a:spLocks xmlns:a="http://schemas.openxmlformats.org/drawingml/2006/main" noGrp="1"/>
          </p:cNvSpPr>
          <p:nvPr/>
        </p:nvSpPr>
        <p:spPr>
          <a:xfrm xmlns:a="http://schemas.openxmlformats.org/drawingml/2006/main">
            <a:off x="7543800" y="4633763"/>
            <a:ext cx="4648200" cy="1619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Inter"/>
                <a:ea typeface="Inter"/>
                <a:cs typeface="Inter"/>
              </a:rPr>
              <a:t>Stop Rule: Pause any test failing 50% ROI gate after 2 cycles</a:t>
            </a:r>
          </a:p>
        </p:txBody>
      </p:sp>
      <p:sp>
        <p:nvSpPr>
          <p:cNvPr id="34" name="TextBox 33">
            <a:extLst xmlns:a="http://schemas.openxmlformats.org/drawingml/2006/main">
              <a:ext uri="{FF2B5EF4-FFF2-40B4-BE49-F238E27FC236}">
                <a16:creationId xmlns:a16="http://schemas.microsoft.com/office/drawing/2014/main" id="{30C8193A-427E-45BE-89C0-3B67DB53122F}"/>
              </a:ext>
            </a:extLst>
          </p:cNvPr>
          <p:cNvSpPr>
            <a:spLocks xmlns:a="http://schemas.openxmlformats.org/drawingml/2006/main" noGrp="1"/>
          </p:cNvSpPr>
          <p:nvPr/>
        </p:nvSpPr>
        <p:spPr>
          <a:xfrm xmlns:a="http://schemas.openxmlformats.org/drawingml/2006/main">
            <a:off x="733425" y="2896641"/>
            <a:ext cx="2833687" cy="1428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00" b="1" i="0" u="none">
                <a:solidFill>
                  <a:srgbClr val="EA580C"/>
                </a:solidFill>
                <a:latin typeface="Inter"/>
                <a:ea typeface="Inter"/>
                <a:cs typeface="Inter"/>
              </a:rPr>
              <a:t>DAYS 0–30</a:t>
            </a:r>
          </a:p>
        </p:txBody>
      </p:sp>
      <p:sp>
        <p:nvSpPr>
          <p:cNvPr id="35" name="TextBox 34">
            <a:extLst xmlns:a="http://schemas.openxmlformats.org/drawingml/2006/main">
              <a:ext uri="{FF2B5EF4-FFF2-40B4-BE49-F238E27FC236}">
                <a16:creationId xmlns:a16="http://schemas.microsoft.com/office/drawing/2014/main" id="{7A100ECB-471C-4980-9258-EE59AAAEC316}"/>
              </a:ext>
            </a:extLst>
          </p:cNvPr>
          <p:cNvSpPr>
            <a:spLocks xmlns:a="http://schemas.openxmlformats.org/drawingml/2006/main" noGrp="1"/>
          </p:cNvSpPr>
          <p:nvPr/>
        </p:nvSpPr>
        <p:spPr>
          <a:xfrm xmlns:a="http://schemas.openxmlformats.org/drawingml/2006/main">
            <a:off x="733425" y="3096666"/>
            <a:ext cx="2975371"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1. CONTROL</a:t>
            </a:r>
          </a:p>
        </p:txBody>
      </p:sp>
      <p:sp>
        <p:nvSpPr>
          <p:cNvPr id="36" name="TextBox 35">
            <a:extLst xmlns:a="http://schemas.openxmlformats.org/drawingml/2006/main">
              <a:ext uri="{FF2B5EF4-FFF2-40B4-BE49-F238E27FC236}">
                <a16:creationId xmlns:a16="http://schemas.microsoft.com/office/drawing/2014/main" id="{47FBF741-62AA-4479-B4B6-9F1B0E1F8E1F}"/>
              </a:ext>
            </a:extLst>
          </p:cNvPr>
          <p:cNvSpPr>
            <a:spLocks xmlns:a="http://schemas.openxmlformats.org/drawingml/2006/main" noGrp="1"/>
          </p:cNvSpPr>
          <p:nvPr/>
        </p:nvSpPr>
        <p:spPr>
          <a:xfrm xmlns:a="http://schemas.openxmlformats.org/drawingml/2006/main">
            <a:off x="733425" y="3344316"/>
            <a:ext cx="2362200" cy="34647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364"/>
              </a:lnSpc>
              <a:buNone/>
            </a:pPr>
            <a:r>
              <a:rPr sz="975" b="0" i="0" u="none">
                <a:solidFill>
                  <a:srgbClr val="475569"/>
                </a:solidFill>
                <a:latin typeface="Inter"/>
                <a:ea typeface="Inter"/>
                <a:cs typeface="Inter"/>
              </a:rPr>
              <a:t>Freeze unapproved deep offers. Publish the top-50 loss pockets.</a:t>
            </a:r>
          </a:p>
        </p:txBody>
      </p:sp>
      <p:sp>
        <p:nvSpPr>
          <p:cNvPr id="37" name="TextBox 36">
            <a:extLst xmlns:a="http://schemas.openxmlformats.org/drawingml/2006/main">
              <a:ext uri="{FF2B5EF4-FFF2-40B4-BE49-F238E27FC236}">
                <a16:creationId xmlns:a16="http://schemas.microsoft.com/office/drawing/2014/main" id="{87C70CAB-DCE6-44D6-9219-3618041112AF}"/>
              </a:ext>
            </a:extLst>
          </p:cNvPr>
          <p:cNvSpPr>
            <a:spLocks xmlns:a="http://schemas.openxmlformats.org/drawingml/2006/main" noGrp="1"/>
          </p:cNvSpPr>
          <p:nvPr/>
        </p:nvSpPr>
        <p:spPr>
          <a:xfrm xmlns:a="http://schemas.openxmlformats.org/drawingml/2006/main">
            <a:off x="733425" y="3881288"/>
            <a:ext cx="23622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0F172A"/>
                </a:solidFill>
                <a:latin typeface="Inter"/>
                <a:ea typeface="Inter"/>
                <a:cs typeface="Inter"/>
              </a:rPr>
              <a:t>Gate: Zero unapproved deep promos</a:t>
            </a:r>
          </a:p>
        </p:txBody>
      </p:sp>
      <p:sp>
        <p:nvSpPr>
          <p:cNvPr id="38" name="TextBox 37">
            <a:extLst xmlns:a="http://schemas.openxmlformats.org/drawingml/2006/main">
              <a:ext uri="{FF2B5EF4-FFF2-40B4-BE49-F238E27FC236}">
                <a16:creationId xmlns:a16="http://schemas.microsoft.com/office/drawing/2014/main" id="{5CF8E6DD-057E-495B-9480-E35F44D08DCD}"/>
              </a:ext>
            </a:extLst>
          </p:cNvPr>
          <p:cNvSpPr>
            <a:spLocks xmlns:a="http://schemas.openxmlformats.org/drawingml/2006/main" noGrp="1"/>
          </p:cNvSpPr>
          <p:nvPr/>
        </p:nvSpPr>
        <p:spPr>
          <a:xfrm xmlns:a="http://schemas.openxmlformats.org/drawingml/2006/main">
            <a:off x="3552825" y="2896641"/>
            <a:ext cx="2833687" cy="1428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00" b="1" i="0" u="none">
                <a:solidFill>
                  <a:srgbClr val="2563EB"/>
                </a:solidFill>
                <a:latin typeface="Inter"/>
                <a:ea typeface="Inter"/>
                <a:cs typeface="Inter"/>
              </a:rPr>
              <a:t>DAYS 31–60</a:t>
            </a:r>
          </a:p>
        </p:txBody>
      </p:sp>
      <p:sp>
        <p:nvSpPr>
          <p:cNvPr id="39" name="TextBox 38">
            <a:extLst xmlns:a="http://schemas.openxmlformats.org/drawingml/2006/main">
              <a:ext uri="{FF2B5EF4-FFF2-40B4-BE49-F238E27FC236}">
                <a16:creationId xmlns:a16="http://schemas.microsoft.com/office/drawing/2014/main" id="{BA2EC309-5E6E-4BAB-AFA8-B5C0F39D3699}"/>
              </a:ext>
            </a:extLst>
          </p:cNvPr>
          <p:cNvSpPr>
            <a:spLocks xmlns:a="http://schemas.openxmlformats.org/drawingml/2006/main" noGrp="1"/>
          </p:cNvSpPr>
          <p:nvPr/>
        </p:nvSpPr>
        <p:spPr>
          <a:xfrm xmlns:a="http://schemas.openxmlformats.org/drawingml/2006/main">
            <a:off x="3552825" y="3096666"/>
            <a:ext cx="2975371"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2. PILOT</a:t>
            </a:r>
          </a:p>
        </p:txBody>
      </p:sp>
      <p:sp>
        <p:nvSpPr>
          <p:cNvPr id="40" name="TextBox 39">
            <a:extLst xmlns:a="http://schemas.openxmlformats.org/drawingml/2006/main">
              <a:ext uri="{FF2B5EF4-FFF2-40B4-BE49-F238E27FC236}">
                <a16:creationId xmlns:a16="http://schemas.microsoft.com/office/drawing/2014/main" id="{DA4E365D-6737-4F91-B135-D8B756E9D97C}"/>
              </a:ext>
            </a:extLst>
          </p:cNvPr>
          <p:cNvSpPr>
            <a:spLocks xmlns:a="http://schemas.openxmlformats.org/drawingml/2006/main" noGrp="1"/>
          </p:cNvSpPr>
          <p:nvPr/>
        </p:nvSpPr>
        <p:spPr>
          <a:xfrm xmlns:a="http://schemas.openxmlformats.org/drawingml/2006/main">
            <a:off x="3552825" y="3344316"/>
            <a:ext cx="2362200" cy="34647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364"/>
              </a:lnSpc>
              <a:buNone/>
            </a:pPr>
            <a:r>
              <a:rPr sz="975" b="0" i="0" u="none">
                <a:solidFill>
                  <a:srgbClr val="475569"/>
                </a:solidFill>
                <a:latin typeface="Inter"/>
                <a:ea typeface="Inter"/>
                <a:cs typeface="Inter"/>
              </a:rPr>
              <a:t>Run the West retention and Southeast offer-depth tests.</a:t>
            </a:r>
          </a:p>
        </p:txBody>
      </p:sp>
      <p:sp>
        <p:nvSpPr>
          <p:cNvPr id="41" name="TextBox 40">
            <a:extLst xmlns:a="http://schemas.openxmlformats.org/drawingml/2006/main">
              <a:ext uri="{FF2B5EF4-FFF2-40B4-BE49-F238E27FC236}">
                <a16:creationId xmlns:a16="http://schemas.microsoft.com/office/drawing/2014/main" id="{D05A9B48-6C51-489E-AD3D-DA7164C4D39F}"/>
              </a:ext>
            </a:extLst>
          </p:cNvPr>
          <p:cNvSpPr>
            <a:spLocks xmlns:a="http://schemas.openxmlformats.org/drawingml/2006/main" noGrp="1"/>
          </p:cNvSpPr>
          <p:nvPr/>
        </p:nvSpPr>
        <p:spPr>
          <a:xfrm xmlns:a="http://schemas.openxmlformats.org/drawingml/2006/main">
            <a:off x="3552825" y="3881288"/>
            <a:ext cx="23622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0F172A"/>
                </a:solidFill>
                <a:latin typeface="Inter"/>
                <a:ea typeface="Inter"/>
                <a:cs typeface="Inter"/>
              </a:rPr>
              <a:t>Gate: ≥50% campaign ROI verified</a:t>
            </a:r>
          </a:p>
        </p:txBody>
      </p:sp>
      <p:sp>
        <p:nvSpPr>
          <p:cNvPr id="42" name="TextBox 41">
            <a:extLst xmlns:a="http://schemas.openxmlformats.org/drawingml/2006/main">
              <a:ext uri="{FF2B5EF4-FFF2-40B4-BE49-F238E27FC236}">
                <a16:creationId xmlns:a16="http://schemas.microsoft.com/office/drawing/2014/main" id="{2337418D-5231-47CF-A5D2-251D61D58B28}"/>
              </a:ext>
            </a:extLst>
          </p:cNvPr>
          <p:cNvSpPr>
            <a:spLocks xmlns:a="http://schemas.openxmlformats.org/drawingml/2006/main" noGrp="1"/>
          </p:cNvSpPr>
          <p:nvPr/>
        </p:nvSpPr>
        <p:spPr>
          <a:xfrm xmlns:a="http://schemas.openxmlformats.org/drawingml/2006/main">
            <a:off x="6372225" y="2896641"/>
            <a:ext cx="2833687" cy="1428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00" b="1" i="0" u="none">
                <a:solidFill>
                  <a:srgbClr val="16A34A"/>
                </a:solidFill>
                <a:latin typeface="Inter"/>
                <a:ea typeface="Inter"/>
                <a:cs typeface="Inter"/>
              </a:rPr>
              <a:t>DAYS 61–120</a:t>
            </a:r>
          </a:p>
        </p:txBody>
      </p:sp>
      <p:sp>
        <p:nvSpPr>
          <p:cNvPr id="43" name="TextBox 42">
            <a:extLst xmlns:a="http://schemas.openxmlformats.org/drawingml/2006/main">
              <a:ext uri="{FF2B5EF4-FFF2-40B4-BE49-F238E27FC236}">
                <a16:creationId xmlns:a16="http://schemas.microsoft.com/office/drawing/2014/main" id="{5B631999-1800-4497-94EF-6B62386EF879}"/>
              </a:ext>
            </a:extLst>
          </p:cNvPr>
          <p:cNvSpPr>
            <a:spLocks xmlns:a="http://schemas.openxmlformats.org/drawingml/2006/main" noGrp="1"/>
          </p:cNvSpPr>
          <p:nvPr/>
        </p:nvSpPr>
        <p:spPr>
          <a:xfrm xmlns:a="http://schemas.openxmlformats.org/drawingml/2006/main">
            <a:off x="6372225" y="3096666"/>
            <a:ext cx="2975371"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3. PROVE</a:t>
            </a:r>
          </a:p>
        </p:txBody>
      </p:sp>
      <p:sp>
        <p:nvSpPr>
          <p:cNvPr id="44" name="TextBox 43">
            <a:extLst xmlns:a="http://schemas.openxmlformats.org/drawingml/2006/main">
              <a:ext uri="{FF2B5EF4-FFF2-40B4-BE49-F238E27FC236}">
                <a16:creationId xmlns:a16="http://schemas.microsoft.com/office/drawing/2014/main" id="{B3C00206-CF64-4FAB-9F4D-6F783349DC96}"/>
              </a:ext>
            </a:extLst>
          </p:cNvPr>
          <p:cNvSpPr>
            <a:spLocks xmlns:a="http://schemas.openxmlformats.org/drawingml/2006/main" noGrp="1"/>
          </p:cNvSpPr>
          <p:nvPr/>
        </p:nvSpPr>
        <p:spPr>
          <a:xfrm xmlns:a="http://schemas.openxmlformats.org/drawingml/2006/main">
            <a:off x="6372225" y="3344316"/>
            <a:ext cx="2362200" cy="34647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364"/>
              </a:lnSpc>
              <a:buNone/>
            </a:pPr>
            <a:r>
              <a:rPr sz="975" b="0" i="0" u="none">
                <a:solidFill>
                  <a:srgbClr val="475569"/>
                </a:solidFill>
                <a:latin typeface="Inter"/>
                <a:ea typeface="Inter"/>
                <a:cs typeface="Inter"/>
              </a:rPr>
              <a:t>Compare holdouts, close 20 loss pockets, and stop weak tests.</a:t>
            </a:r>
          </a:p>
        </p:txBody>
      </p:sp>
      <p:sp>
        <p:nvSpPr>
          <p:cNvPr id="45" name="TextBox 44">
            <a:extLst xmlns:a="http://schemas.openxmlformats.org/drawingml/2006/main">
              <a:ext uri="{FF2B5EF4-FFF2-40B4-BE49-F238E27FC236}">
                <a16:creationId xmlns:a16="http://schemas.microsoft.com/office/drawing/2014/main" id="{7D909CF8-0A9D-4DFE-B137-657B7F3B77D2}"/>
              </a:ext>
            </a:extLst>
          </p:cNvPr>
          <p:cNvSpPr>
            <a:spLocks xmlns:a="http://schemas.openxmlformats.org/drawingml/2006/main" noGrp="1"/>
          </p:cNvSpPr>
          <p:nvPr/>
        </p:nvSpPr>
        <p:spPr>
          <a:xfrm xmlns:a="http://schemas.openxmlformats.org/drawingml/2006/main">
            <a:off x="6372225" y="3881288"/>
            <a:ext cx="23622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0F172A"/>
                </a:solidFill>
                <a:latin typeface="Inter"/>
                <a:ea typeface="Inter"/>
                <a:cs typeface="Inter"/>
              </a:rPr>
              <a:t>Gate: &gt;$9.0M run-rate verified</a:t>
            </a:r>
          </a:p>
        </p:txBody>
      </p:sp>
      <p:sp>
        <p:nvSpPr>
          <p:cNvPr id="46" name="TextBox 45">
            <a:extLst xmlns:a="http://schemas.openxmlformats.org/drawingml/2006/main">
              <a:ext uri="{FF2B5EF4-FFF2-40B4-BE49-F238E27FC236}">
                <a16:creationId xmlns:a16="http://schemas.microsoft.com/office/drawing/2014/main" id="{7CD9B36A-62AC-4791-9530-A88E99C0A75B}"/>
              </a:ext>
            </a:extLst>
          </p:cNvPr>
          <p:cNvSpPr>
            <a:spLocks xmlns:a="http://schemas.openxmlformats.org/drawingml/2006/main" noGrp="1"/>
          </p:cNvSpPr>
          <p:nvPr/>
        </p:nvSpPr>
        <p:spPr>
          <a:xfrm xmlns:a="http://schemas.openxmlformats.org/drawingml/2006/main">
            <a:off x="9191625" y="2896641"/>
            <a:ext cx="2833687" cy="1428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900" b="1" i="0" u="none">
                <a:solidFill>
                  <a:srgbClr val="0F172A"/>
                </a:solidFill>
                <a:latin typeface="Inter"/>
                <a:ea typeface="Inter"/>
                <a:cs typeface="Inter"/>
              </a:rPr>
              <a:t>DAYS 121–180</a:t>
            </a:r>
          </a:p>
        </p:txBody>
      </p:sp>
      <p:sp>
        <p:nvSpPr>
          <p:cNvPr id="47" name="TextBox 46">
            <a:extLst xmlns:a="http://schemas.openxmlformats.org/drawingml/2006/main">
              <a:ext uri="{FF2B5EF4-FFF2-40B4-BE49-F238E27FC236}">
                <a16:creationId xmlns:a16="http://schemas.microsoft.com/office/drawing/2014/main" id="{1C683694-7AB5-4A4E-9FF4-F3D6C53F588F}"/>
              </a:ext>
            </a:extLst>
          </p:cNvPr>
          <p:cNvSpPr>
            <a:spLocks xmlns:a="http://schemas.openxmlformats.org/drawingml/2006/main" noGrp="1"/>
          </p:cNvSpPr>
          <p:nvPr/>
        </p:nvSpPr>
        <p:spPr>
          <a:xfrm xmlns:a="http://schemas.openxmlformats.org/drawingml/2006/main">
            <a:off x="9191625" y="3096666"/>
            <a:ext cx="2975371" cy="19050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75" b="1" i="0" u="none">
                <a:solidFill>
                  <a:srgbClr val="0F172A"/>
                </a:solidFill>
                <a:latin typeface="Inter"/>
                <a:ea typeface="Inter"/>
                <a:cs typeface="Inter"/>
              </a:rPr>
              <a:t>4. SCALE</a:t>
            </a:r>
          </a:p>
        </p:txBody>
      </p:sp>
      <p:sp>
        <p:nvSpPr>
          <p:cNvPr id="48" name="TextBox 47">
            <a:extLst xmlns:a="http://schemas.openxmlformats.org/drawingml/2006/main">
              <a:ext uri="{FF2B5EF4-FFF2-40B4-BE49-F238E27FC236}">
                <a16:creationId xmlns:a16="http://schemas.microsoft.com/office/drawing/2014/main" id="{85496632-D895-4381-9A22-D8BAEBA5038C}"/>
              </a:ext>
            </a:extLst>
          </p:cNvPr>
          <p:cNvSpPr>
            <a:spLocks xmlns:a="http://schemas.openxmlformats.org/drawingml/2006/main" noGrp="1"/>
          </p:cNvSpPr>
          <p:nvPr/>
        </p:nvSpPr>
        <p:spPr>
          <a:xfrm xmlns:a="http://schemas.openxmlformats.org/drawingml/2006/main">
            <a:off x="9191625" y="3344316"/>
            <a:ext cx="2362200" cy="346471"/>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364"/>
              </a:lnSpc>
              <a:buNone/>
            </a:pPr>
            <a:r>
              <a:rPr sz="975" b="0" i="0" u="none">
                <a:solidFill>
                  <a:srgbClr val="475569"/>
                </a:solidFill>
                <a:latin typeface="Inter"/>
                <a:ea typeface="Inter"/>
                <a:cs typeface="Inter"/>
              </a:rPr>
              <a:t>Automate winning rules. Open the Q3 supply chain and logistics workstream.</a:t>
            </a:r>
          </a:p>
        </p:txBody>
      </p:sp>
      <p:sp>
        <p:nvSpPr>
          <p:cNvPr id="49" name="TextBox 48">
            <a:extLst xmlns:a="http://schemas.openxmlformats.org/drawingml/2006/main">
              <a:ext uri="{FF2B5EF4-FFF2-40B4-BE49-F238E27FC236}">
                <a16:creationId xmlns:a16="http://schemas.microsoft.com/office/drawing/2014/main" id="{4EAE06CA-95F4-4F29-B207-62CF56EE5F8A}"/>
              </a:ext>
            </a:extLst>
          </p:cNvPr>
          <p:cNvSpPr>
            <a:spLocks xmlns:a="http://schemas.openxmlformats.org/drawingml/2006/main" noGrp="1"/>
          </p:cNvSpPr>
          <p:nvPr/>
        </p:nvSpPr>
        <p:spPr>
          <a:xfrm xmlns:a="http://schemas.openxmlformats.org/drawingml/2006/main">
            <a:off x="9191625" y="3881288"/>
            <a:ext cx="2362200" cy="152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900" b="1" i="0" u="none">
                <a:solidFill>
                  <a:srgbClr val="0F172A"/>
                </a:solidFill>
                <a:latin typeface="Inter"/>
                <a:ea typeface="Inter"/>
                <a:cs typeface="Inter"/>
              </a:rPr>
              <a:t>Gate: +$12.0M verified annual uplift</a:t>
            </a:r>
          </a:p>
        </p:txBody>
      </p:sp>
    </p:spTree>
    <p:extLst>
      <p:ext uri="{BB962C8B-B14F-4D97-AF65-F5344CB8AC3E}">
        <p14:creationId xmlns:p14="http://schemas.microsoft.com/office/powerpoint/2010/main" val="1901851728"/>
      </p:ext>
    </p:extLst>
  </p:cSld>
</p:sld>
</file>

<file path=ppt/slides/slide1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25E2BEC-5FB7-47E8-B89D-F491594830AF}"/>
              </a:ext>
            </a:extLst>
          </p:cNvPr>
          <p:cNvSpPr>
            <a:spLocks xmlns:a="http://schemas.openxmlformats.org/drawingml/2006/main" noGrp="1"/>
          </p:cNvSpPr>
          <p:nvPr/>
        </p:nvSpPr>
        <p:spPr>
          <a:xfrm xmlns:a="http://schemas.openxmlformats.org/drawingml/2006/main">
            <a:off x="533400" y="5810250"/>
            <a:ext cx="11125200" cy="514350"/>
          </a:xfrm>
          <a:prstGeom xmlns:a="http://schemas.openxmlformats.org/drawingml/2006/main" prst="rect">
            <a:avLst/>
          </a:prstGeom>
          <a:noFill xmlns:a="http://schemas.openxmlformats.org/drawingml/2006/main"/>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 name="Rectangle 2">
            <a:extLst xmlns:a="http://schemas.openxmlformats.org/drawingml/2006/main">
              <a:ext uri="{FF2B5EF4-FFF2-40B4-BE49-F238E27FC236}">
                <a16:creationId xmlns:a16="http://schemas.microsoft.com/office/drawing/2014/main" id="{AA05ABBE-C56A-400D-9D42-00E2B56A2DD1}"/>
              </a:ext>
            </a:extLst>
          </p:cNvPr>
          <p:cNvSpPr>
            <a:spLocks xmlns:a="http://schemas.openxmlformats.org/drawingml/2006/main" noGrp="1"/>
          </p:cNvSpPr>
          <p:nvPr/>
        </p:nvSpPr>
        <p:spPr>
          <a:xfrm xmlns:a="http://schemas.openxmlformats.org/drawingml/2006/main">
            <a:off x="533400" y="5810250"/>
            <a:ext cx="11125200" cy="9525"/>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4" name="Rounded Rectangle 3">
            <a:extLst xmlns:a="http://schemas.openxmlformats.org/drawingml/2006/main">
              <a:ext uri="{FF2B5EF4-FFF2-40B4-BE49-F238E27FC236}">
                <a16:creationId xmlns:a16="http://schemas.microsoft.com/office/drawing/2014/main" id="{0BD17B41-D516-4B5E-9331-39E09951932F}"/>
              </a:ext>
            </a:extLst>
          </p:cNvPr>
          <p:cNvSpPr>
            <a:spLocks xmlns:a="http://schemas.openxmlformats.org/drawingml/2006/main" noGrp="1"/>
          </p:cNvSpPr>
          <p:nvPr/>
        </p:nvSpPr>
        <p:spPr>
          <a:xfrm xmlns:a="http://schemas.openxmlformats.org/drawingml/2006/main">
            <a:off x="9324975" y="6010275"/>
            <a:ext cx="2333625" cy="314325"/>
          </a:xfrm>
          <a:prstGeom xmlns:a="http://schemas.openxmlformats.org/drawingml/2006/main" prst="roundRect">
            <a:avLst>
              <a:gd name="adj" fmla="val 1818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5" name="Rounded Rectangle 4">
            <a:extLst xmlns:a="http://schemas.openxmlformats.org/drawingml/2006/main">
              <a:ext uri="{FF2B5EF4-FFF2-40B4-BE49-F238E27FC236}">
                <a16:creationId xmlns:a16="http://schemas.microsoft.com/office/drawing/2014/main" id="{C6DAB152-9907-4C51-9BEA-519E4F5C587B}"/>
              </a:ext>
            </a:extLst>
          </p:cNvPr>
          <p:cNvSpPr>
            <a:spLocks xmlns:a="http://schemas.openxmlformats.org/drawingml/2006/main" noGrp="1"/>
          </p:cNvSpPr>
          <p:nvPr/>
        </p:nvSpPr>
        <p:spPr>
          <a:xfrm xmlns:a="http://schemas.openxmlformats.org/drawingml/2006/main">
            <a:off x="533400" y="533400"/>
            <a:ext cx="438150" cy="333375"/>
          </a:xfrm>
          <a:prstGeom xmlns:a="http://schemas.openxmlformats.org/drawingml/2006/main" prst="roundRect">
            <a:avLst>
              <a:gd name="adj" fmla="val 17142"/>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6" name="Rounded Rectangle 5">
            <a:extLst xmlns:a="http://schemas.openxmlformats.org/drawingml/2006/main">
              <a:ext uri="{FF2B5EF4-FFF2-40B4-BE49-F238E27FC236}">
                <a16:creationId xmlns:a16="http://schemas.microsoft.com/office/drawing/2014/main" id="{B232940D-A0B2-4D27-8366-A250DAB00BAF}"/>
              </a:ext>
            </a:extLst>
          </p:cNvPr>
          <p:cNvSpPr>
            <a:spLocks xmlns:a="http://schemas.openxmlformats.org/drawingml/2006/main" noGrp="1"/>
          </p:cNvSpPr>
          <p:nvPr/>
        </p:nvSpPr>
        <p:spPr>
          <a:xfrm xmlns:a="http://schemas.openxmlformats.org/drawingml/2006/main">
            <a:off x="533400" y="2970907"/>
            <a:ext cx="3581400" cy="1468635"/>
          </a:xfrm>
          <a:prstGeom xmlns:a="http://schemas.openxmlformats.org/drawingml/2006/main" prst="roundRect">
            <a:avLst>
              <a:gd name="adj" fmla="val 6485"/>
            </a:avLst>
          </a:prstGeom>
          <a:solidFill xmlns:a="http://schemas.openxmlformats.org/drawingml/2006/main">
            <a:srgbClr val="1E293B"/>
          </a:solidFill>
          <a:ln xmlns:a="http://schemas.openxmlformats.org/drawingml/2006/main" w="9525">
            <a:solidFill>
              <a:srgbClr val="334155"/>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7" name="Rounded Rectangle 6">
            <a:extLst xmlns:a="http://schemas.openxmlformats.org/drawingml/2006/main">
              <a:ext uri="{FF2B5EF4-FFF2-40B4-BE49-F238E27FC236}">
                <a16:creationId xmlns:a16="http://schemas.microsoft.com/office/drawing/2014/main" id="{977E6DCA-12FE-459F-8F33-E102B3A1439E}"/>
              </a:ext>
            </a:extLst>
          </p:cNvPr>
          <p:cNvSpPr>
            <a:spLocks xmlns:a="http://schemas.openxmlformats.org/drawingml/2006/main" noGrp="1"/>
          </p:cNvSpPr>
          <p:nvPr/>
        </p:nvSpPr>
        <p:spPr>
          <a:xfrm xmlns:a="http://schemas.openxmlformats.org/drawingml/2006/main">
            <a:off x="4305300" y="2970907"/>
            <a:ext cx="3581400" cy="1468635"/>
          </a:xfrm>
          <a:prstGeom xmlns:a="http://schemas.openxmlformats.org/drawingml/2006/main" prst="roundRect">
            <a:avLst>
              <a:gd name="adj" fmla="val 6485"/>
            </a:avLst>
          </a:prstGeom>
          <a:solidFill xmlns:a="http://schemas.openxmlformats.org/drawingml/2006/main">
            <a:srgbClr val="1E293B"/>
          </a:solidFill>
          <a:ln xmlns:a="http://schemas.openxmlformats.org/drawingml/2006/main" w="9525">
            <a:solidFill>
              <a:srgbClr val="334155"/>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8" name="Rounded Rectangle 7">
            <a:extLst xmlns:a="http://schemas.openxmlformats.org/drawingml/2006/main">
              <a:ext uri="{FF2B5EF4-FFF2-40B4-BE49-F238E27FC236}">
                <a16:creationId xmlns:a16="http://schemas.microsoft.com/office/drawing/2014/main" id="{59A5CC41-F7A7-4172-94A2-C7F95CF00CDD}"/>
              </a:ext>
            </a:extLst>
          </p:cNvPr>
          <p:cNvSpPr>
            <a:spLocks xmlns:a="http://schemas.openxmlformats.org/drawingml/2006/main" noGrp="1"/>
          </p:cNvSpPr>
          <p:nvPr/>
        </p:nvSpPr>
        <p:spPr>
          <a:xfrm xmlns:a="http://schemas.openxmlformats.org/drawingml/2006/main">
            <a:off x="8077200" y="2970907"/>
            <a:ext cx="3581400" cy="1468635"/>
          </a:xfrm>
          <a:prstGeom xmlns:a="http://schemas.openxmlformats.org/drawingml/2006/main" prst="roundRect">
            <a:avLst>
              <a:gd name="adj" fmla="val 6485"/>
            </a:avLst>
          </a:prstGeom>
          <a:solidFill xmlns:a="http://schemas.openxmlformats.org/drawingml/2006/main">
            <a:srgbClr val="1E293B"/>
          </a:solidFill>
          <a:ln xmlns:a="http://schemas.openxmlformats.org/drawingml/2006/main" w="9525">
            <a:solidFill>
              <a:srgbClr val="334155"/>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9" name="Rounded Rectangle 8">
            <a:extLst xmlns:a="http://schemas.openxmlformats.org/drawingml/2006/main">
              <a:ext uri="{FF2B5EF4-FFF2-40B4-BE49-F238E27FC236}">
                <a16:creationId xmlns:a16="http://schemas.microsoft.com/office/drawing/2014/main" id="{C6911A07-D2C1-4C06-8213-5E2C522E85AE}"/>
              </a:ext>
            </a:extLst>
          </p:cNvPr>
          <p:cNvSpPr>
            <a:spLocks xmlns:a="http://schemas.openxmlformats.org/drawingml/2006/main" noGrp="1"/>
          </p:cNvSpPr>
          <p:nvPr/>
        </p:nvSpPr>
        <p:spPr>
          <a:xfrm xmlns:a="http://schemas.openxmlformats.org/drawingml/2006/main">
            <a:off x="771525" y="3189982"/>
            <a:ext cx="209550" cy="238125"/>
          </a:xfrm>
          <a:prstGeom xmlns:a="http://schemas.openxmlformats.org/drawingml/2006/main" prst="roundRect">
            <a:avLst>
              <a:gd name="adj" fmla="val 18181"/>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0" name="Rounded Rectangle 9">
            <a:extLst xmlns:a="http://schemas.openxmlformats.org/drawingml/2006/main">
              <a:ext uri="{FF2B5EF4-FFF2-40B4-BE49-F238E27FC236}">
                <a16:creationId xmlns:a16="http://schemas.microsoft.com/office/drawing/2014/main" id="{64FB0577-1302-4B75-8F93-58DD9BB5CF14}"/>
              </a:ext>
            </a:extLst>
          </p:cNvPr>
          <p:cNvSpPr>
            <a:spLocks xmlns:a="http://schemas.openxmlformats.org/drawingml/2006/main" noGrp="1"/>
          </p:cNvSpPr>
          <p:nvPr/>
        </p:nvSpPr>
        <p:spPr>
          <a:xfrm xmlns:a="http://schemas.openxmlformats.org/drawingml/2006/main">
            <a:off x="4543425" y="3189982"/>
            <a:ext cx="238125" cy="238125"/>
          </a:xfrm>
          <a:prstGeom xmlns:a="http://schemas.openxmlformats.org/drawingml/2006/main" prst="roundRect">
            <a:avLst>
              <a:gd name="adj" fmla="val 16000"/>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1" name="Rounded Rectangle 10">
            <a:extLst xmlns:a="http://schemas.openxmlformats.org/drawingml/2006/main">
              <a:ext uri="{FF2B5EF4-FFF2-40B4-BE49-F238E27FC236}">
                <a16:creationId xmlns:a16="http://schemas.microsoft.com/office/drawing/2014/main" id="{0964768D-E68F-4DA0-B4C1-63FD5FB706FC}"/>
              </a:ext>
            </a:extLst>
          </p:cNvPr>
          <p:cNvSpPr>
            <a:spLocks xmlns:a="http://schemas.openxmlformats.org/drawingml/2006/main" noGrp="1"/>
          </p:cNvSpPr>
          <p:nvPr/>
        </p:nvSpPr>
        <p:spPr>
          <a:xfrm xmlns:a="http://schemas.openxmlformats.org/drawingml/2006/main">
            <a:off x="8315325" y="3189982"/>
            <a:ext cx="238125" cy="238125"/>
          </a:xfrm>
          <a:prstGeom xmlns:a="http://schemas.openxmlformats.org/drawingml/2006/main" prst="roundRect">
            <a:avLst>
              <a:gd name="adj" fmla="val 16000"/>
            </a:avLst>
          </a:prstGeom>
          <a:solidFill xmlns:a="http://schemas.openxmlformats.org/drawingml/2006/main">
            <a:srgbClr val="EA580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Box 11">
            <a:extLst xmlns:a="http://schemas.openxmlformats.org/drawingml/2006/main">
              <a:ext uri="{FF2B5EF4-FFF2-40B4-BE49-F238E27FC236}">
                <a16:creationId xmlns:a16="http://schemas.microsoft.com/office/drawing/2014/main" id="{9E9C9618-82CE-4AFD-BFA5-18F2B5F4D94F}"/>
              </a:ext>
            </a:extLst>
          </p:cNvPr>
          <p:cNvSpPr>
            <a:spLocks xmlns:a="http://schemas.openxmlformats.org/drawingml/2006/main" noGrp="1"/>
          </p:cNvSpPr>
          <p:nvPr/>
        </p:nvSpPr>
        <p:spPr>
          <a:xfrm xmlns:a="http://schemas.openxmlformats.org/drawingml/2006/main">
            <a:off x="10086975" y="609600"/>
            <a:ext cx="1964531"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0" i="0" u="none">
                <a:solidFill>
                  <a:srgbClr val="94A3B8"/>
                </a:solidFill>
                <a:latin typeface="Inter"/>
                <a:ea typeface="Inter"/>
                <a:cs typeface="Inter"/>
              </a:rPr>
              <a:t>Action Required Today</a:t>
            </a:r>
          </a:p>
        </p:txBody>
      </p:sp>
      <p:sp>
        <p:nvSpPr>
          <p:cNvPr id="13" name="TextBox 12">
            <a:extLst xmlns:a="http://schemas.openxmlformats.org/drawingml/2006/main">
              <a:ext uri="{FF2B5EF4-FFF2-40B4-BE49-F238E27FC236}">
                <a16:creationId xmlns:a16="http://schemas.microsoft.com/office/drawing/2014/main" id="{0F2338F5-D297-4305-B93A-5B2417C14A0A}"/>
              </a:ext>
            </a:extLst>
          </p:cNvPr>
          <p:cNvSpPr>
            <a:spLocks xmlns:a="http://schemas.openxmlformats.org/drawingml/2006/main" noGrp="1"/>
          </p:cNvSpPr>
          <p:nvPr/>
        </p:nvSpPr>
        <p:spPr>
          <a:xfrm xmlns:a="http://schemas.openxmlformats.org/drawingml/2006/main">
            <a:off x="533400" y="1932682"/>
            <a:ext cx="11658600" cy="17145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050" b="1" i="0" u="none">
                <a:solidFill>
                  <a:srgbClr val="EA580C"/>
                </a:solidFill>
                <a:latin typeface="Plus Jakarta Sans"/>
                <a:ea typeface="Plus Jakarta Sans"/>
                <a:cs typeface="Plus Jakarta Sans"/>
              </a:rPr>
              <a:t>BOARD DECISION</a:t>
            </a:r>
          </a:p>
        </p:txBody>
      </p:sp>
      <p:sp>
        <p:nvSpPr>
          <p:cNvPr id="14" name="TextBox 13">
            <a:extLst xmlns:a="http://schemas.openxmlformats.org/drawingml/2006/main">
              <a:ext uri="{FF2B5EF4-FFF2-40B4-BE49-F238E27FC236}">
                <a16:creationId xmlns:a16="http://schemas.microsoft.com/office/drawing/2014/main" id="{4F11EFEE-E9EC-4CCC-9C95-E1ADB41919B2}"/>
              </a:ext>
            </a:extLst>
          </p:cNvPr>
          <p:cNvSpPr>
            <a:spLocks xmlns:a="http://schemas.openxmlformats.org/drawingml/2006/main" noGrp="1"/>
          </p:cNvSpPr>
          <p:nvPr/>
        </p:nvSpPr>
        <p:spPr>
          <a:xfrm xmlns:a="http://schemas.openxmlformats.org/drawingml/2006/main">
            <a:off x="533400" y="2218432"/>
            <a:ext cx="11658600" cy="4476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850" b="1" i="0" u="none">
                <a:solidFill>
                  <a:srgbClr val="FFFFFF"/>
                </a:solidFill>
                <a:latin typeface="Plus Jakarta Sans"/>
                <a:ea typeface="Plus Jakarta Sans"/>
                <a:cs typeface="Plus Jakarta Sans"/>
              </a:rPr>
              <a:t>Three Decisions Start the Q1–Q2 Plan</a:t>
            </a:r>
          </a:p>
        </p:txBody>
      </p:sp>
      <p:sp>
        <p:nvSpPr>
          <p:cNvPr id="15" name="TextBox 14">
            <a:extLst xmlns:a="http://schemas.openxmlformats.org/drawingml/2006/main">
              <a:ext uri="{FF2B5EF4-FFF2-40B4-BE49-F238E27FC236}">
                <a16:creationId xmlns:a16="http://schemas.microsoft.com/office/drawing/2014/main" id="{6D4ABC82-E820-4228-AC90-BC8C070C0704}"/>
              </a:ext>
            </a:extLst>
          </p:cNvPr>
          <p:cNvSpPr>
            <a:spLocks xmlns:a="http://schemas.openxmlformats.org/drawingml/2006/main" noGrp="1"/>
          </p:cNvSpPr>
          <p:nvPr/>
        </p:nvSpPr>
        <p:spPr>
          <a:xfrm xmlns:a="http://schemas.openxmlformats.org/drawingml/2006/main">
            <a:off x="533400" y="6076950"/>
            <a:ext cx="6060281" cy="18097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125" b="1" i="0" u="none">
                <a:solidFill>
                  <a:srgbClr val="94A3B8"/>
                </a:solidFill>
                <a:latin typeface="Inter"/>
                <a:ea typeface="Inter"/>
                <a:cs typeface="Inter"/>
              </a:rPr>
              <a:t>Target Profitability Baseline: $50.4M Net Profit (13.0% Margin Target)</a:t>
            </a:r>
          </a:p>
        </p:txBody>
      </p:sp>
      <p:sp>
        <p:nvSpPr>
          <p:cNvPr id="16" name="TextBox 15">
            <a:extLst xmlns:a="http://schemas.openxmlformats.org/drawingml/2006/main">
              <a:ext uri="{FF2B5EF4-FFF2-40B4-BE49-F238E27FC236}">
                <a16:creationId xmlns:a16="http://schemas.microsoft.com/office/drawing/2014/main" id="{3976F668-D6BC-4B3C-AD6D-88C60B043BE5}"/>
              </a:ext>
            </a:extLst>
          </p:cNvPr>
          <p:cNvSpPr>
            <a:spLocks xmlns:a="http://schemas.openxmlformats.org/drawingml/2006/main" noGrp="1"/>
          </p:cNvSpPr>
          <p:nvPr/>
        </p:nvSpPr>
        <p:spPr>
          <a:xfrm xmlns:a="http://schemas.openxmlformats.org/drawingml/2006/main">
            <a:off x="9477375" y="6086475"/>
            <a:ext cx="21240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FFFFFF"/>
                </a:solidFill>
                <a:latin typeface="Inter"/>
                <a:ea typeface="Inter"/>
                <a:cs typeface="Inter"/>
              </a:rPr>
              <a:t>Ready for a Q1 Decision</a:t>
            </a:r>
          </a:p>
        </p:txBody>
      </p:sp>
      <p:sp>
        <p:nvSpPr>
          <p:cNvPr id="17" name="TextBox 16">
            <a:extLst xmlns:a="http://schemas.openxmlformats.org/drawingml/2006/main">
              <a:ext uri="{FF2B5EF4-FFF2-40B4-BE49-F238E27FC236}">
                <a16:creationId xmlns:a16="http://schemas.microsoft.com/office/drawing/2014/main" id="{9B6B12DD-11CE-45D9-AAC0-69040352ADE8}"/>
              </a:ext>
            </a:extLst>
          </p:cNvPr>
          <p:cNvSpPr>
            <a:spLocks xmlns:a="http://schemas.openxmlformats.org/drawingml/2006/main" noGrp="1"/>
          </p:cNvSpPr>
          <p:nvPr/>
        </p:nvSpPr>
        <p:spPr>
          <a:xfrm xmlns:a="http://schemas.openxmlformats.org/drawingml/2006/main">
            <a:off x="647700" y="590550"/>
            <a:ext cx="304800" cy="21907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350" b="1" i="0" u="none">
                <a:solidFill>
                  <a:srgbClr val="FFFFFF"/>
                </a:solidFill>
                <a:latin typeface="Plus Jakarta Sans"/>
                <a:ea typeface="Plus Jakarta Sans"/>
                <a:cs typeface="Plus Jakarta Sans"/>
              </a:rPr>
              <a:t>22</a:t>
            </a:r>
          </a:p>
        </p:txBody>
      </p:sp>
      <p:sp>
        <p:nvSpPr>
          <p:cNvPr id="18" name="TextBox 17">
            <a:extLst xmlns:a="http://schemas.openxmlformats.org/drawingml/2006/main">
              <a:ext uri="{FF2B5EF4-FFF2-40B4-BE49-F238E27FC236}">
                <a16:creationId xmlns:a16="http://schemas.microsoft.com/office/drawing/2014/main" id="{D0688434-3170-44B4-A209-61E9DF7BD0B5}"/>
              </a:ext>
            </a:extLst>
          </p:cNvPr>
          <p:cNvSpPr>
            <a:spLocks xmlns:a="http://schemas.openxmlformats.org/drawingml/2006/main" noGrp="1"/>
          </p:cNvSpPr>
          <p:nvPr/>
        </p:nvSpPr>
        <p:spPr>
          <a:xfrm xmlns:a="http://schemas.openxmlformats.org/drawingml/2006/main">
            <a:off x="1085850" y="600075"/>
            <a:ext cx="2464593" cy="200025"/>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200" b="1" i="0" u="none">
                <a:solidFill>
                  <a:srgbClr val="FFFFFF"/>
                </a:solidFill>
                <a:latin typeface="Plus Jakarta Sans"/>
                <a:ea typeface="Plus Jakarta Sans"/>
                <a:cs typeface="Plus Jakarta Sans"/>
              </a:rPr>
              <a:t>TWO TWO CONSULTING</a:t>
            </a:r>
          </a:p>
        </p:txBody>
      </p:sp>
      <p:sp>
        <p:nvSpPr>
          <p:cNvPr id="19" name="TextBox 18">
            <a:extLst xmlns:a="http://schemas.openxmlformats.org/drawingml/2006/main">
              <a:ext uri="{FF2B5EF4-FFF2-40B4-BE49-F238E27FC236}">
                <a16:creationId xmlns:a16="http://schemas.microsoft.com/office/drawing/2014/main" id="{B2615E23-80EF-4F9A-89AD-ABB4DC66A6BD}"/>
              </a:ext>
            </a:extLst>
          </p:cNvPr>
          <p:cNvSpPr>
            <a:spLocks xmlns:a="http://schemas.openxmlformats.org/drawingml/2006/main" noGrp="1"/>
          </p:cNvSpPr>
          <p:nvPr/>
        </p:nvSpPr>
        <p:spPr>
          <a:xfrm xmlns:a="http://schemas.openxmlformats.org/drawingml/2006/main">
            <a:off x="847725" y="3228082"/>
            <a:ext cx="152400"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FFFFFF"/>
                </a:solidFill>
                <a:latin typeface="Inter"/>
                <a:ea typeface="Inter"/>
                <a:cs typeface="Inter"/>
              </a:rPr>
              <a:t>1</a:t>
            </a:r>
          </a:p>
        </p:txBody>
      </p:sp>
      <p:sp>
        <p:nvSpPr>
          <p:cNvPr id="20" name="TextBox 19">
            <a:extLst xmlns:a="http://schemas.openxmlformats.org/drawingml/2006/main">
              <a:ext uri="{FF2B5EF4-FFF2-40B4-BE49-F238E27FC236}">
                <a16:creationId xmlns:a16="http://schemas.microsoft.com/office/drawing/2014/main" id="{63B4C510-B802-4B09-88B0-DEA9848EEDCE}"/>
              </a:ext>
            </a:extLst>
          </p:cNvPr>
          <p:cNvSpPr>
            <a:spLocks xmlns:a="http://schemas.openxmlformats.org/drawingml/2006/main" noGrp="1"/>
          </p:cNvSpPr>
          <p:nvPr/>
        </p:nvSpPr>
        <p:spPr>
          <a:xfrm xmlns:a="http://schemas.openxmlformats.org/drawingml/2006/main">
            <a:off x="771525" y="3551932"/>
            <a:ext cx="4075509" cy="2057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FFFFFF"/>
                </a:solidFill>
                <a:latin typeface="Inter"/>
                <a:ea typeface="Inter"/>
                <a:cs typeface="Inter"/>
              </a:rPr>
              <a:t>Approve the Promotion Guardrails</a:t>
            </a:r>
          </a:p>
        </p:txBody>
      </p:sp>
      <p:sp>
        <p:nvSpPr>
          <p:cNvPr id="21" name="TextBox 20">
            <a:extLst xmlns:a="http://schemas.openxmlformats.org/drawingml/2006/main">
              <a:ext uri="{FF2B5EF4-FFF2-40B4-BE49-F238E27FC236}">
                <a16:creationId xmlns:a16="http://schemas.microsoft.com/office/drawing/2014/main" id="{AB136B1D-8DD0-41FB-940B-DA9ACAB22D3D}"/>
              </a:ext>
            </a:extLst>
          </p:cNvPr>
          <p:cNvSpPr>
            <a:spLocks xmlns:a="http://schemas.openxmlformats.org/drawingml/2006/main" noGrp="1"/>
          </p:cNvSpPr>
          <p:nvPr/>
        </p:nvSpPr>
        <p:spPr>
          <a:xfrm xmlns:a="http://schemas.openxmlformats.org/drawingml/2006/main">
            <a:off x="771525" y="3828157"/>
            <a:ext cx="3200400" cy="3733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470"/>
              </a:lnSpc>
              <a:buNone/>
            </a:pPr>
            <a:r>
              <a:rPr sz="1050" b="0" i="0" u="none">
                <a:solidFill>
                  <a:srgbClr val="94A3B8"/>
                </a:solidFill>
                <a:latin typeface="Inter"/>
                <a:ea typeface="Inter"/>
                <a:cs typeface="Inter"/>
              </a:rPr>
              <a:t>Freeze unapproved BOGO and Clearance. Require at least 5% margin and 50% ROI.</a:t>
            </a:r>
          </a:p>
        </p:txBody>
      </p:sp>
      <p:sp>
        <p:nvSpPr>
          <p:cNvPr id="22" name="TextBox 21">
            <a:extLst xmlns:a="http://schemas.openxmlformats.org/drawingml/2006/main">
              <a:ext uri="{FF2B5EF4-FFF2-40B4-BE49-F238E27FC236}">
                <a16:creationId xmlns:a16="http://schemas.microsoft.com/office/drawing/2014/main" id="{F9F56142-4B25-46C0-9CEC-7F884BE821C5}"/>
              </a:ext>
            </a:extLst>
          </p:cNvPr>
          <p:cNvSpPr>
            <a:spLocks xmlns:a="http://schemas.openxmlformats.org/drawingml/2006/main" noGrp="1"/>
          </p:cNvSpPr>
          <p:nvPr/>
        </p:nvSpPr>
        <p:spPr>
          <a:xfrm xmlns:a="http://schemas.openxmlformats.org/drawingml/2006/main">
            <a:off x="4619625" y="3228082"/>
            <a:ext cx="1809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FFFFFF"/>
                </a:solidFill>
                <a:latin typeface="Inter"/>
                <a:ea typeface="Inter"/>
                <a:cs typeface="Inter"/>
              </a:rPr>
              <a:t>2</a:t>
            </a:r>
          </a:p>
        </p:txBody>
      </p:sp>
      <p:sp>
        <p:nvSpPr>
          <p:cNvPr id="23" name="TextBox 22">
            <a:extLst xmlns:a="http://schemas.openxmlformats.org/drawingml/2006/main">
              <a:ext uri="{FF2B5EF4-FFF2-40B4-BE49-F238E27FC236}">
                <a16:creationId xmlns:a16="http://schemas.microsoft.com/office/drawing/2014/main" id="{EAF87F46-508D-4C48-887E-D3E43577396D}"/>
              </a:ext>
            </a:extLst>
          </p:cNvPr>
          <p:cNvSpPr>
            <a:spLocks xmlns:a="http://schemas.openxmlformats.org/drawingml/2006/main" noGrp="1"/>
          </p:cNvSpPr>
          <p:nvPr/>
        </p:nvSpPr>
        <p:spPr>
          <a:xfrm xmlns:a="http://schemas.openxmlformats.org/drawingml/2006/main">
            <a:off x="4543425" y="3551932"/>
            <a:ext cx="4075509" cy="2057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FFFFFF"/>
                </a:solidFill>
                <a:latin typeface="Inter"/>
                <a:ea typeface="Inter"/>
                <a:cs typeface="Inter"/>
              </a:rPr>
              <a:t>Name the Executive Value Owner</a:t>
            </a:r>
          </a:p>
        </p:txBody>
      </p:sp>
      <p:sp>
        <p:nvSpPr>
          <p:cNvPr id="24" name="TextBox 23">
            <a:extLst xmlns:a="http://schemas.openxmlformats.org/drawingml/2006/main">
              <a:ext uri="{FF2B5EF4-FFF2-40B4-BE49-F238E27FC236}">
                <a16:creationId xmlns:a16="http://schemas.microsoft.com/office/drawing/2014/main" id="{BD362D3B-3E15-459C-9322-6EE359DC204B}"/>
              </a:ext>
            </a:extLst>
          </p:cNvPr>
          <p:cNvSpPr>
            <a:spLocks xmlns:a="http://schemas.openxmlformats.org/drawingml/2006/main" noGrp="1"/>
          </p:cNvSpPr>
          <p:nvPr/>
        </p:nvSpPr>
        <p:spPr>
          <a:xfrm xmlns:a="http://schemas.openxmlformats.org/drawingml/2006/main">
            <a:off x="4543425" y="3828157"/>
            <a:ext cx="3200400" cy="3733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470"/>
              </a:lnSpc>
              <a:buNone/>
            </a:pPr>
            <a:r>
              <a:rPr sz="1050" b="0" i="0" u="none">
                <a:solidFill>
                  <a:srgbClr val="94A3B8"/>
                </a:solidFill>
                <a:latin typeface="Inter"/>
                <a:ea typeface="Inter"/>
                <a:cs typeface="Inter"/>
              </a:rPr>
              <a:t>Give one leader authority across pricing, CRM, merchandising, and FP&amp;A.</a:t>
            </a:r>
          </a:p>
        </p:txBody>
      </p:sp>
      <p:sp>
        <p:nvSpPr>
          <p:cNvPr id="25" name="TextBox 24">
            <a:extLst xmlns:a="http://schemas.openxmlformats.org/drawingml/2006/main">
              <a:ext uri="{FF2B5EF4-FFF2-40B4-BE49-F238E27FC236}">
                <a16:creationId xmlns:a16="http://schemas.microsoft.com/office/drawing/2014/main" id="{30224F7F-8B8D-410A-8BFE-B7E774DE3A86}"/>
              </a:ext>
            </a:extLst>
          </p:cNvPr>
          <p:cNvSpPr>
            <a:spLocks xmlns:a="http://schemas.openxmlformats.org/drawingml/2006/main" noGrp="1"/>
          </p:cNvSpPr>
          <p:nvPr/>
        </p:nvSpPr>
        <p:spPr>
          <a:xfrm xmlns:a="http://schemas.openxmlformats.org/drawingml/2006/main">
            <a:off x="8391525" y="3228082"/>
            <a:ext cx="180975" cy="1619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pPr>
            <a:r>
              <a:rPr sz="1050" b="1" i="0" u="none">
                <a:solidFill>
                  <a:srgbClr val="FFFFFF"/>
                </a:solidFill>
                <a:latin typeface="Inter"/>
                <a:ea typeface="Inter"/>
                <a:cs typeface="Inter"/>
              </a:rPr>
              <a:t>3</a:t>
            </a:r>
          </a:p>
        </p:txBody>
      </p:sp>
      <p:sp>
        <p:nvSpPr>
          <p:cNvPr id="26" name="TextBox 25">
            <a:extLst xmlns:a="http://schemas.openxmlformats.org/drawingml/2006/main">
              <a:ext uri="{FF2B5EF4-FFF2-40B4-BE49-F238E27FC236}">
                <a16:creationId xmlns:a16="http://schemas.microsoft.com/office/drawing/2014/main" id="{0106575B-BFF0-48C5-B7BF-59B0BDB94C5D}"/>
              </a:ext>
            </a:extLst>
          </p:cNvPr>
          <p:cNvSpPr>
            <a:spLocks xmlns:a="http://schemas.openxmlformats.org/drawingml/2006/main" noGrp="1"/>
          </p:cNvSpPr>
          <p:nvPr/>
        </p:nvSpPr>
        <p:spPr>
          <a:xfrm xmlns:a="http://schemas.openxmlformats.org/drawingml/2006/main">
            <a:off x="8315325" y="3551932"/>
            <a:ext cx="3876675" cy="20574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1350" b="1" i="0" u="none">
                <a:solidFill>
                  <a:srgbClr val="FFFFFF"/>
                </a:solidFill>
                <a:latin typeface="Inter"/>
                <a:ea typeface="Inter"/>
                <a:cs typeface="Inter"/>
              </a:rPr>
              <a:t>Fund the Dashboard and Two Pilots</a:t>
            </a:r>
          </a:p>
        </p:txBody>
      </p:sp>
      <p:sp>
        <p:nvSpPr>
          <p:cNvPr id="27" name="TextBox 26">
            <a:extLst xmlns:a="http://schemas.openxmlformats.org/drawingml/2006/main">
              <a:ext uri="{FF2B5EF4-FFF2-40B4-BE49-F238E27FC236}">
                <a16:creationId xmlns:a16="http://schemas.microsoft.com/office/drawing/2014/main" id="{6CBD5E52-DC3F-4FE5-BF06-4FA03F02F869}"/>
              </a:ext>
            </a:extLst>
          </p:cNvPr>
          <p:cNvSpPr>
            <a:spLocks xmlns:a="http://schemas.openxmlformats.org/drawingml/2006/main" noGrp="1"/>
          </p:cNvSpPr>
          <p:nvPr/>
        </p:nvSpPr>
        <p:spPr>
          <a:xfrm xmlns:a="http://schemas.openxmlformats.org/drawingml/2006/main">
            <a:off x="8315325" y="3828157"/>
            <a:ext cx="3200400" cy="3733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ts val="1470"/>
              </a:lnSpc>
              <a:buNone/>
            </a:pPr>
            <a:r>
              <a:rPr sz="1050" b="0" i="0" u="none">
                <a:solidFill>
                  <a:srgbClr val="94A3B8"/>
                </a:solidFill>
                <a:latin typeface="Inter"/>
                <a:ea typeface="Inter"/>
                <a:cs typeface="Inter"/>
              </a:rPr>
              <a:t>Use the $6.0M envelope for the dashboard, two controlled pilots, and Finance verification.</a:t>
            </a:r>
          </a:p>
        </p:txBody>
      </p:sp>
    </p:spTree>
    <p:extLst>
      <p:ext uri="{BB962C8B-B14F-4D97-AF65-F5344CB8AC3E}">
        <p14:creationId xmlns:p14="http://schemas.microsoft.com/office/powerpoint/2010/main" val="129928251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2026-09-19T20:57:23.7200000Z</dcterms:created>
  <dcterms:modified xsi:type="dcterms:W3CDTF">2026-09-19T20:57:23.7200000Z</dcterms:modified>
</coreProperties>
</file>